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F40FD6-2C8E-4A68-A27A-E702AE5B8B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it-IT" dirty="0"/>
              <a:t>La gestione della memoria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EF54A6C-21F5-4EC9-8836-63BD0976B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7490" y="3509963"/>
            <a:ext cx="8791575" cy="1655762"/>
          </a:xfrm>
        </p:spPr>
        <p:txBody>
          <a:bodyPr/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Calabrese Nicola 3I</a:t>
            </a:r>
          </a:p>
        </p:txBody>
      </p:sp>
    </p:spTree>
    <p:extLst>
      <p:ext uri="{BB962C8B-B14F-4D97-AF65-F5344CB8AC3E}">
        <p14:creationId xmlns:p14="http://schemas.microsoft.com/office/powerpoint/2010/main" val="3282655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E469ED-2372-4EDF-9F70-F74F7AA5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Sommario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A88F39-F679-400A-B3DA-548DCBD38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295246"/>
          </a:xfrm>
        </p:spPr>
        <p:txBody>
          <a:bodyPr/>
          <a:lstStyle/>
          <a:p>
            <a:r>
              <a:rPr lang="it-IT" dirty="0"/>
              <a:t>Introduzione </a:t>
            </a:r>
          </a:p>
          <a:p>
            <a:r>
              <a:rPr lang="it-IT" dirty="0"/>
              <a:t>Tipi di memoria </a:t>
            </a:r>
          </a:p>
          <a:p>
            <a:r>
              <a:rPr lang="it-IT" dirty="0"/>
              <a:t>Caricamento del programma</a:t>
            </a:r>
          </a:p>
          <a:p>
            <a:r>
              <a:rPr lang="it-IT" dirty="0" err="1"/>
              <a:t>Binding</a:t>
            </a:r>
            <a:r>
              <a:rPr lang="it-IT" dirty="0"/>
              <a:t> e linking  </a:t>
            </a:r>
          </a:p>
          <a:p>
            <a:r>
              <a:rPr lang="it-IT" dirty="0"/>
              <a:t>Loading</a:t>
            </a:r>
          </a:p>
          <a:p>
            <a:pPr lvl="1"/>
            <a:r>
              <a:rPr lang="it-IT" dirty="0"/>
              <a:t>Ottimizzo della memoria</a:t>
            </a:r>
          </a:p>
          <a:p>
            <a:r>
              <a:rPr lang="it-IT" dirty="0"/>
              <a:t>Tecniche di allocazione della memoria centrale </a:t>
            </a:r>
          </a:p>
        </p:txBody>
      </p:sp>
    </p:spTree>
    <p:extLst>
      <p:ext uri="{BB962C8B-B14F-4D97-AF65-F5344CB8AC3E}">
        <p14:creationId xmlns:p14="http://schemas.microsoft.com/office/powerpoint/2010/main" val="2064503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9ACC62-A8E9-4295-A140-45A9F5756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Memoria </a:t>
            </a:r>
            <a:r>
              <a:rPr lang="it-IT" dirty="0" err="1"/>
              <a:t>centrALE</a:t>
            </a:r>
            <a:r>
              <a:rPr lang="it-IT" dirty="0"/>
              <a:t> (RAM)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F2DE09-2CC5-4676-8D1D-13F8E2726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1077913"/>
          </a:xfrm>
        </p:spPr>
        <p:txBody>
          <a:bodyPr/>
          <a:lstStyle/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È una risorsa molto importante per i calcolatori moderni, è una risorsa limitata ma rispetto al passato oggi le sue dimensioni sono aumentate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206CC01-FC7F-480E-A640-85BB5991A230}"/>
              </a:ext>
            </a:extLst>
          </p:cNvPr>
          <p:cNvSpPr txBox="1"/>
          <p:nvPr/>
        </p:nvSpPr>
        <p:spPr>
          <a:xfrm>
            <a:off x="2667000" y="3818467"/>
            <a:ext cx="6544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Inizio anni Ottanta: 128kB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Inizio anni Novanta: 1MB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Inizio anni Duemila: 128MB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Attualmete</a:t>
            </a:r>
            <a:r>
              <a:rPr lang="it-IT" dirty="0"/>
              <a:t>: 4-16/64GB </a:t>
            </a:r>
          </a:p>
        </p:txBody>
      </p:sp>
    </p:spTree>
    <p:extLst>
      <p:ext uri="{BB962C8B-B14F-4D97-AF65-F5344CB8AC3E}">
        <p14:creationId xmlns:p14="http://schemas.microsoft.com/office/powerpoint/2010/main" val="2130798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777E37-79EF-4933-B51E-01B884DA3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TIPI DI MEMORIA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1DDEB7-0284-467A-9CD9-0C865D700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Nel calcolatore sono presenti diversi tipi di memoria: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Nastro: molto capiente 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Disco: capiente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Memoria principale: volatile 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Cache: volatile 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Registri: all’interno del processore </a:t>
            </a:r>
          </a:p>
          <a:p>
            <a:pPr marL="0" indent="0">
              <a:buNone/>
            </a:pP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420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AD9191-8CED-4159-862B-858F8E0D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CARICAMENTO DEL PROGRAMMA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0E3971-C346-4227-BB69-9078BEE1A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Rilocazione statica: </a:t>
            </a:r>
          </a:p>
          <a:p>
            <a:pPr marL="457200" lvl="1" indent="0">
              <a:buNone/>
            </a:pPr>
            <a:r>
              <a:rPr lang="it-IT" dirty="0"/>
              <a:t>All’atto del caricamento in memoria viene individuato l’indirizzo iniziale (indirizzo base) e questo viene sommato a tutti i riferimenti presenti nell’offset</a:t>
            </a:r>
          </a:p>
          <a:p>
            <a:r>
              <a:rPr lang="it-IT" dirty="0"/>
              <a:t>Rilocazione dinamica:</a:t>
            </a:r>
          </a:p>
          <a:p>
            <a:pPr marL="457200" lvl="1" indent="0">
              <a:buNone/>
            </a:pPr>
            <a:r>
              <a:rPr lang="it-IT" dirty="0"/>
              <a:t>Il programma viene caricato in una zona libera di memoria e in fase di esecuzione viene inserito in un registro base </a:t>
            </a:r>
          </a:p>
        </p:txBody>
      </p:sp>
    </p:spTree>
    <p:extLst>
      <p:ext uri="{BB962C8B-B14F-4D97-AF65-F5344CB8AC3E}">
        <p14:creationId xmlns:p14="http://schemas.microsoft.com/office/powerpoint/2010/main" val="4010773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7E6948-4C49-4300-B80C-8B2279F1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Binding</a:t>
            </a:r>
            <a:r>
              <a:rPr lang="it-IT" dirty="0"/>
              <a:t> e linking 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C9115C-57F8-49A8-BB72-F785938E1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Il calcolo degli indirizzi logici viene effettuato nella fase di linking, il passaggio dall’indirizzo logico a fisico avviene nella fase di </a:t>
            </a:r>
            <a:r>
              <a:rPr lang="it-IT" dirty="0" err="1"/>
              <a:t>binding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Compile time (indirizzamento assoluto)</a:t>
            </a:r>
          </a:p>
          <a:p>
            <a:pPr lvl="1"/>
            <a:r>
              <a:rPr lang="it-IT" dirty="0"/>
              <a:t>Load time (rilocazione statica)</a:t>
            </a:r>
          </a:p>
          <a:p>
            <a:pPr lvl="1"/>
            <a:r>
              <a:rPr lang="it-IT" dirty="0" err="1"/>
              <a:t>Execution</a:t>
            </a:r>
            <a:r>
              <a:rPr lang="it-IT" dirty="0"/>
              <a:t> time (rilocazione dinamica)</a:t>
            </a:r>
          </a:p>
        </p:txBody>
      </p:sp>
    </p:spTree>
    <p:extLst>
      <p:ext uri="{BB962C8B-B14F-4D97-AF65-F5344CB8AC3E}">
        <p14:creationId xmlns:p14="http://schemas.microsoft.com/office/powerpoint/2010/main" val="629850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2B0A53-1508-4945-89E8-2310AA098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LOADING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D9C4F4-CDD8-41C0-A2BB-F3235031B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Spazio contiguo</a:t>
            </a:r>
          </a:p>
          <a:p>
            <a:r>
              <a:rPr lang="it-IT" dirty="0" err="1"/>
              <a:t>Multiprogrammati</a:t>
            </a:r>
            <a:endParaRPr lang="it-IT" dirty="0"/>
          </a:p>
          <a:p>
            <a:pPr lvl="1"/>
            <a:r>
              <a:rPr lang="it-IT" dirty="0"/>
              <a:t>Frammentazione della memoria: creando regioni di dimensioni ridotte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69557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5EF39E-EE5E-43FD-B593-AF6213F4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Ottimizzazione della memoria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1A3D4A-C5F9-47AE-8815-F16C8F875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30400"/>
            <a:ext cx="9905999" cy="4309081"/>
          </a:xfrm>
        </p:spPr>
        <p:txBody>
          <a:bodyPr>
            <a:normAutofit lnSpcReduction="10000"/>
          </a:bodyPr>
          <a:lstStyle/>
          <a:p>
            <a:r>
              <a:rPr lang="it-IT" dirty="0"/>
              <a:t>Swapping</a:t>
            </a:r>
          </a:p>
          <a:p>
            <a:pPr lvl="1"/>
            <a:r>
              <a:rPr lang="it-IT" sz="1600" dirty="0"/>
              <a:t>Identificare i processi inattivi</a:t>
            </a:r>
          </a:p>
          <a:p>
            <a:pPr lvl="1"/>
            <a:r>
              <a:rPr lang="it-IT" sz="1600" dirty="0"/>
              <a:t>Salvare sulla memoria temporanea</a:t>
            </a:r>
          </a:p>
          <a:p>
            <a:pPr lvl="1"/>
            <a:r>
              <a:rPr lang="it-IT" sz="1600" dirty="0"/>
              <a:t>Scaricamento </a:t>
            </a:r>
          </a:p>
          <a:p>
            <a:pPr lvl="1"/>
            <a:r>
              <a:rPr lang="it-IT" sz="1600" dirty="0"/>
              <a:t>Caricamento</a:t>
            </a:r>
          </a:p>
          <a:p>
            <a:r>
              <a:rPr lang="it-IT" dirty="0"/>
              <a:t>Caricamento dinamico</a:t>
            </a:r>
          </a:p>
          <a:p>
            <a:r>
              <a:rPr lang="it-IT" dirty="0"/>
              <a:t>Overlay</a:t>
            </a:r>
          </a:p>
          <a:p>
            <a:pPr lvl="1"/>
            <a:r>
              <a:rPr lang="it-IT" sz="1600" dirty="0"/>
              <a:t>Frammento del programma</a:t>
            </a:r>
          </a:p>
          <a:p>
            <a:r>
              <a:rPr lang="it-IT" dirty="0"/>
              <a:t>Partizionamento</a:t>
            </a:r>
          </a:p>
          <a:p>
            <a:pPr lvl="1"/>
            <a:r>
              <a:rPr lang="it-IT" sz="1500" dirty="0"/>
              <a:t>Dimensione fissa di memoria </a:t>
            </a:r>
          </a:p>
        </p:txBody>
      </p:sp>
    </p:spTree>
    <p:extLst>
      <p:ext uri="{BB962C8B-B14F-4D97-AF65-F5344CB8AC3E}">
        <p14:creationId xmlns:p14="http://schemas.microsoft.com/office/powerpoint/2010/main" val="1221310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A1015A-ADCD-44C0-9560-EDF4CDB01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Tecniche di allocazione della memoria centrale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FB1F3C-03A3-448C-B466-BEA87D6E5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269846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Monoprogrammato</a:t>
            </a:r>
            <a:endParaRPr lang="it-IT" dirty="0"/>
          </a:p>
          <a:p>
            <a:pPr lvl="1"/>
            <a:r>
              <a:rPr lang="it-IT" sz="1800" dirty="0"/>
              <a:t>Allocazione contigua</a:t>
            </a:r>
          </a:p>
          <a:p>
            <a:pPr lvl="2"/>
            <a:r>
              <a:rPr lang="it-IT" sz="1600" dirty="0"/>
              <a:t>A partizione singola</a:t>
            </a:r>
          </a:p>
          <a:p>
            <a:r>
              <a:rPr lang="it-IT" dirty="0" err="1"/>
              <a:t>Multiprogrammato</a:t>
            </a:r>
            <a:endParaRPr lang="it-IT" dirty="0"/>
          </a:p>
          <a:p>
            <a:pPr lvl="1"/>
            <a:r>
              <a:rPr lang="it-IT" sz="1800" dirty="0"/>
              <a:t>Allocazione contigua</a:t>
            </a:r>
          </a:p>
          <a:p>
            <a:pPr lvl="2"/>
            <a:r>
              <a:rPr lang="it-IT" dirty="0"/>
              <a:t>A partizioni fisse</a:t>
            </a:r>
          </a:p>
          <a:p>
            <a:pPr lvl="2"/>
            <a:r>
              <a:rPr lang="it-IT" sz="1600" dirty="0"/>
              <a:t>A partizioni variabili (o dinamiche)</a:t>
            </a:r>
          </a:p>
          <a:p>
            <a:pPr lvl="1"/>
            <a:r>
              <a:rPr lang="it-IT" sz="1800" dirty="0"/>
              <a:t>Allocazione non contigua </a:t>
            </a:r>
          </a:p>
          <a:p>
            <a:pPr lvl="2"/>
            <a:r>
              <a:rPr lang="it-IT" sz="1600" dirty="0"/>
              <a:t>Paginazione </a:t>
            </a:r>
          </a:p>
          <a:p>
            <a:pPr lvl="2"/>
            <a:r>
              <a:rPr lang="it-IT" sz="1600" dirty="0"/>
              <a:t>Segmentazione</a:t>
            </a:r>
          </a:p>
          <a:p>
            <a:pPr lvl="2"/>
            <a:r>
              <a:rPr lang="it-IT" sz="1600" dirty="0"/>
              <a:t>Segmentazione con paginazione</a:t>
            </a:r>
          </a:p>
        </p:txBody>
      </p:sp>
    </p:spTree>
    <p:extLst>
      <p:ext uri="{BB962C8B-B14F-4D97-AF65-F5344CB8AC3E}">
        <p14:creationId xmlns:p14="http://schemas.microsoft.com/office/powerpoint/2010/main" val="21516196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{C137AB14-A939-48B8-AD5A-D231380CC589}TF6d5feb1e-e145-43f1-b745-cb4b54c5ee97964d7bf0-e091912c42a4</Template>
  <TotalTime>35</TotalTime>
  <Words>275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2" baseType="lpstr">
      <vt:lpstr>Arial</vt:lpstr>
      <vt:lpstr>Tw Cen MT</vt:lpstr>
      <vt:lpstr>Circuito</vt:lpstr>
      <vt:lpstr>La gestione della memoria</vt:lpstr>
      <vt:lpstr>Sommario </vt:lpstr>
      <vt:lpstr>Memoria centrALE (RAM)</vt:lpstr>
      <vt:lpstr>TIPI DI MEMORIA </vt:lpstr>
      <vt:lpstr>CARICAMENTO DEL PROGRAMMA</vt:lpstr>
      <vt:lpstr>Binding e linking  </vt:lpstr>
      <vt:lpstr>LOADING</vt:lpstr>
      <vt:lpstr>Ottimizzazione della memoria </vt:lpstr>
      <vt:lpstr>Tecniche di allocazione della memoria centrale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gestione della memoria</dc:title>
  <dc:creator>Nicola Calabrese</dc:creator>
  <cp:lastModifiedBy>Nicola Calabrese</cp:lastModifiedBy>
  <cp:revision>6</cp:revision>
  <dcterms:created xsi:type="dcterms:W3CDTF">2026-02-15T14:21:18Z</dcterms:created>
  <dcterms:modified xsi:type="dcterms:W3CDTF">2026-02-27T21:16:04Z</dcterms:modified>
</cp:coreProperties>
</file>