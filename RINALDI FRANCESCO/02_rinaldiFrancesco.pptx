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73" r:id="rId11"/>
    <p:sldId id="265" r:id="rId12"/>
    <p:sldId id="268" r:id="rId13"/>
    <p:sldId id="269" r:id="rId14"/>
    <p:sldId id="270" r:id="rId15"/>
    <p:sldId id="271" r:id="rId16"/>
    <p:sldId id="275" r:id="rId17"/>
    <p:sldId id="272" r:id="rId18"/>
    <p:sldId id="276" r:id="rId19"/>
    <p:sldId id="277" r:id="rId20"/>
    <p:sldId id="278" r:id="rId21"/>
    <p:sldId id="266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2144E2-4512-48A5-AF5E-2BFFBE3D226F}" v="1" dt="2026-03-11T15:33:25.683"/>
    <p1510:client id="{A2FC7EE8-04D5-5E23-E6E8-E06278EE101C}" v="1330" dt="2026-03-11T21:48:29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21:10:1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March 11,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22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March 11,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2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March 11,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01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March 11,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112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March 11,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5824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March 11,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918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March 11,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38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March 11,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88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March 11,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20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March 11,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614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March 11,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68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March 11, 2026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1010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4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Scarica lo sfondo del Chip Del Lucchetto Di Sicurezza Informatica |  Wallpapers.com">
            <a:extLst>
              <a:ext uri="{FF2B5EF4-FFF2-40B4-BE49-F238E27FC236}">
                <a16:creationId xmlns:a16="http://schemas.microsoft.com/office/drawing/2014/main" id="{3F499C7D-7D6A-208B-7C4B-C34DABC57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65" r="19874" b="1"/>
          <a:stretch>
            <a:fillRect/>
          </a:stretch>
        </p:blipFill>
        <p:spPr>
          <a:xfrm>
            <a:off x="3584196" y="-1"/>
            <a:ext cx="8607807" cy="6871647"/>
          </a:xfrm>
          <a:custGeom>
            <a:avLst/>
            <a:gdLst/>
            <a:ahLst/>
            <a:cxnLst/>
            <a:rect l="l" t="t" r="r" b="b"/>
            <a:pathLst>
              <a:path w="8607807" h="6858000">
                <a:moveTo>
                  <a:pt x="8607807" y="0"/>
                </a:moveTo>
                <a:lnTo>
                  <a:pt x="8607807" y="6858000"/>
                </a:lnTo>
                <a:lnTo>
                  <a:pt x="2049693" y="6858000"/>
                </a:lnTo>
                <a:lnTo>
                  <a:pt x="1546051" y="6858000"/>
                </a:lnTo>
                <a:lnTo>
                  <a:pt x="1535751" y="6815348"/>
                </a:lnTo>
                <a:cubicBezTo>
                  <a:pt x="1530460" y="6761684"/>
                  <a:pt x="1515370" y="6604898"/>
                  <a:pt x="1514301" y="6536022"/>
                </a:cubicBezTo>
                <a:cubicBezTo>
                  <a:pt x="1518045" y="6478504"/>
                  <a:pt x="1528503" y="6437797"/>
                  <a:pt x="1529339" y="6402088"/>
                </a:cubicBezTo>
                <a:cubicBezTo>
                  <a:pt x="1525062" y="6346650"/>
                  <a:pt x="1502062" y="6294623"/>
                  <a:pt x="1493941" y="6256398"/>
                </a:cubicBezTo>
                <a:cubicBezTo>
                  <a:pt x="1502669" y="6241770"/>
                  <a:pt x="1469920" y="6187857"/>
                  <a:pt x="1480613" y="6172741"/>
                </a:cubicBezTo>
                <a:cubicBezTo>
                  <a:pt x="1481020" y="6152279"/>
                  <a:pt x="1458164" y="6048753"/>
                  <a:pt x="1443364" y="6006407"/>
                </a:cubicBezTo>
                <a:cubicBezTo>
                  <a:pt x="1426694" y="5958900"/>
                  <a:pt x="1390307" y="5908317"/>
                  <a:pt x="1380584" y="5887691"/>
                </a:cubicBezTo>
                <a:cubicBezTo>
                  <a:pt x="1370860" y="5867065"/>
                  <a:pt x="1392244" y="5909118"/>
                  <a:pt x="1385023" y="5882650"/>
                </a:cubicBezTo>
                <a:cubicBezTo>
                  <a:pt x="1377800" y="5856181"/>
                  <a:pt x="1345702" y="5759038"/>
                  <a:pt x="1337254" y="5728879"/>
                </a:cubicBezTo>
                <a:cubicBezTo>
                  <a:pt x="1353956" y="5727462"/>
                  <a:pt x="1323673" y="5710676"/>
                  <a:pt x="1334321" y="5701696"/>
                </a:cubicBezTo>
                <a:cubicBezTo>
                  <a:pt x="1343675" y="5695367"/>
                  <a:pt x="1336672" y="5688797"/>
                  <a:pt x="1335877" y="5681564"/>
                </a:cubicBezTo>
                <a:cubicBezTo>
                  <a:pt x="1343201" y="5672524"/>
                  <a:pt x="1329617" y="5640839"/>
                  <a:pt x="1319978" y="5632219"/>
                </a:cubicBezTo>
                <a:cubicBezTo>
                  <a:pt x="1286551" y="5611011"/>
                  <a:pt x="1310947" y="5568721"/>
                  <a:pt x="1285321" y="5551224"/>
                </a:cubicBezTo>
                <a:cubicBezTo>
                  <a:pt x="1281540" y="5545203"/>
                  <a:pt x="1279983" y="5539432"/>
                  <a:pt x="1279815" y="5533855"/>
                </a:cubicBezTo>
                <a:lnTo>
                  <a:pt x="1282507" y="5518422"/>
                </a:lnTo>
                <a:lnTo>
                  <a:pt x="1289604" y="5514404"/>
                </a:lnTo>
                <a:lnTo>
                  <a:pt x="1287766" y="5504772"/>
                </a:lnTo>
                <a:lnTo>
                  <a:pt x="1288829" y="5502102"/>
                </a:lnTo>
                <a:cubicBezTo>
                  <a:pt x="1290896" y="5497007"/>
                  <a:pt x="1292688" y="5491968"/>
                  <a:pt x="1293373" y="5486914"/>
                </a:cubicBezTo>
                <a:cubicBezTo>
                  <a:pt x="1288690" y="5472938"/>
                  <a:pt x="1272696" y="5448436"/>
                  <a:pt x="1260736" y="5418245"/>
                </a:cubicBezTo>
                <a:cubicBezTo>
                  <a:pt x="1238579" y="5385699"/>
                  <a:pt x="1238884" y="5340972"/>
                  <a:pt x="1221610" y="5305770"/>
                </a:cubicBezTo>
                <a:lnTo>
                  <a:pt x="1216099" y="5298785"/>
                </a:lnTo>
                <a:lnTo>
                  <a:pt x="1217278" y="5268992"/>
                </a:lnTo>
                <a:cubicBezTo>
                  <a:pt x="1221588" y="5263843"/>
                  <a:pt x="1222716" y="5256480"/>
                  <a:pt x="1218469" y="5250149"/>
                </a:cubicBezTo>
                <a:lnTo>
                  <a:pt x="1206220" y="5142322"/>
                </a:lnTo>
                <a:cubicBezTo>
                  <a:pt x="1205294" y="5106716"/>
                  <a:pt x="1196908" y="5091595"/>
                  <a:pt x="1212921" y="5036513"/>
                </a:cubicBezTo>
                <a:cubicBezTo>
                  <a:pt x="1234138" y="4978012"/>
                  <a:pt x="1204801" y="4893378"/>
                  <a:pt x="1212183" y="4827738"/>
                </a:cubicBezTo>
                <a:cubicBezTo>
                  <a:pt x="1183151" y="4792886"/>
                  <a:pt x="1209228" y="4811487"/>
                  <a:pt x="1202048" y="4774693"/>
                </a:cubicBezTo>
                <a:cubicBezTo>
                  <a:pt x="1202483" y="4751423"/>
                  <a:pt x="1202919" y="4728152"/>
                  <a:pt x="1203354" y="4704882"/>
                </a:cubicBezTo>
                <a:lnTo>
                  <a:pt x="1201502" y="4691500"/>
                </a:lnTo>
                <a:lnTo>
                  <a:pt x="1194919" y="4687895"/>
                </a:lnTo>
                <a:lnTo>
                  <a:pt x="1187792" y="4667873"/>
                </a:lnTo>
                <a:cubicBezTo>
                  <a:pt x="1186060" y="4660351"/>
                  <a:pt x="1185291" y="4652220"/>
                  <a:pt x="1186080" y="4643189"/>
                </a:cubicBezTo>
                <a:cubicBezTo>
                  <a:pt x="1199189" y="4613276"/>
                  <a:pt x="1167081" y="4562691"/>
                  <a:pt x="1184722" y="4525834"/>
                </a:cubicBezTo>
                <a:cubicBezTo>
                  <a:pt x="1182407" y="4490142"/>
                  <a:pt x="1175424" y="4451369"/>
                  <a:pt x="1172188" y="4429037"/>
                </a:cubicBezTo>
                <a:cubicBezTo>
                  <a:pt x="1161331" y="4419671"/>
                  <a:pt x="1178123" y="4389539"/>
                  <a:pt x="1165306" y="4391841"/>
                </a:cubicBezTo>
                <a:cubicBezTo>
                  <a:pt x="1171061" y="4381101"/>
                  <a:pt x="1173552" y="4338138"/>
                  <a:pt x="1168602" y="4327040"/>
                </a:cubicBezTo>
                <a:lnTo>
                  <a:pt x="1178384" y="4271714"/>
                </a:lnTo>
                <a:lnTo>
                  <a:pt x="1177294" y="4266170"/>
                </a:lnTo>
                <a:cubicBezTo>
                  <a:pt x="1177138" y="4260404"/>
                  <a:pt x="1177520" y="4242660"/>
                  <a:pt x="1177448" y="4237120"/>
                </a:cubicBezTo>
                <a:cubicBezTo>
                  <a:pt x="1177252" y="4235726"/>
                  <a:pt x="1177058" y="4234331"/>
                  <a:pt x="1176863" y="4232937"/>
                </a:cubicBezTo>
                <a:lnTo>
                  <a:pt x="1162386" y="4198811"/>
                </a:lnTo>
                <a:cubicBezTo>
                  <a:pt x="1162950" y="4194190"/>
                  <a:pt x="1174655" y="4191224"/>
                  <a:pt x="1174343" y="4184054"/>
                </a:cubicBezTo>
                <a:lnTo>
                  <a:pt x="1160516" y="4155792"/>
                </a:lnTo>
                <a:lnTo>
                  <a:pt x="1161365" y="4150364"/>
                </a:lnTo>
                <a:lnTo>
                  <a:pt x="1144878" y="4068165"/>
                </a:lnTo>
                <a:lnTo>
                  <a:pt x="1123687" y="3997737"/>
                </a:lnTo>
                <a:lnTo>
                  <a:pt x="1096720" y="3746801"/>
                </a:lnTo>
                <a:cubicBezTo>
                  <a:pt x="1083618" y="3632695"/>
                  <a:pt x="1064313" y="3629437"/>
                  <a:pt x="1047682" y="3510652"/>
                </a:cubicBezTo>
                <a:cubicBezTo>
                  <a:pt x="1048550" y="3470281"/>
                  <a:pt x="1049418" y="3429910"/>
                  <a:pt x="1050285" y="3389539"/>
                </a:cubicBezTo>
                <a:lnTo>
                  <a:pt x="1030166" y="3314219"/>
                </a:lnTo>
                <a:lnTo>
                  <a:pt x="1034128" y="3253967"/>
                </a:lnTo>
                <a:lnTo>
                  <a:pt x="1007751" y="3192563"/>
                </a:lnTo>
                <a:cubicBezTo>
                  <a:pt x="1003323" y="3186732"/>
                  <a:pt x="1001150" y="3181063"/>
                  <a:pt x="1000384" y="3175520"/>
                </a:cubicBezTo>
                <a:cubicBezTo>
                  <a:pt x="1000734" y="3170366"/>
                  <a:pt x="1001085" y="3165212"/>
                  <a:pt x="1001435" y="3160058"/>
                </a:cubicBezTo>
                <a:lnTo>
                  <a:pt x="968918" y="3106456"/>
                </a:lnTo>
                <a:cubicBezTo>
                  <a:pt x="957125" y="3086347"/>
                  <a:pt x="955617" y="3059144"/>
                  <a:pt x="934483" y="3025607"/>
                </a:cubicBezTo>
                <a:cubicBezTo>
                  <a:pt x="914631" y="2991085"/>
                  <a:pt x="908933" y="2999692"/>
                  <a:pt x="879229" y="2942341"/>
                </a:cubicBezTo>
                <a:cubicBezTo>
                  <a:pt x="850845" y="2891400"/>
                  <a:pt x="820829" y="2801223"/>
                  <a:pt x="798666" y="2755714"/>
                </a:cubicBezTo>
                <a:cubicBezTo>
                  <a:pt x="773970" y="2709171"/>
                  <a:pt x="758278" y="2710053"/>
                  <a:pt x="746962" y="2689587"/>
                </a:cubicBezTo>
                <a:lnTo>
                  <a:pt x="712796" y="2609586"/>
                </a:lnTo>
                <a:lnTo>
                  <a:pt x="697701" y="2594856"/>
                </a:lnTo>
                <a:cubicBezTo>
                  <a:pt x="697743" y="2593626"/>
                  <a:pt x="697784" y="2592396"/>
                  <a:pt x="697823" y="2591165"/>
                </a:cubicBezTo>
                <a:lnTo>
                  <a:pt x="679645" y="2567493"/>
                </a:lnTo>
                <a:lnTo>
                  <a:pt x="680789" y="2566723"/>
                </a:lnTo>
                <a:cubicBezTo>
                  <a:pt x="682946" y="2564457"/>
                  <a:pt x="683757" y="2561765"/>
                  <a:pt x="681771" y="2558109"/>
                </a:cubicBezTo>
                <a:cubicBezTo>
                  <a:pt x="705290" y="2557210"/>
                  <a:pt x="688388" y="2553357"/>
                  <a:pt x="680456" y="2542663"/>
                </a:cubicBezTo>
                <a:cubicBezTo>
                  <a:pt x="679482" y="2529115"/>
                  <a:pt x="677183" y="2488664"/>
                  <a:pt x="675922" y="2476820"/>
                </a:cubicBezTo>
                <a:lnTo>
                  <a:pt x="672894" y="2471591"/>
                </a:lnTo>
                <a:lnTo>
                  <a:pt x="673143" y="2471379"/>
                </a:lnTo>
                <a:cubicBezTo>
                  <a:pt x="673152" y="2470017"/>
                  <a:pt x="672405" y="2468214"/>
                  <a:pt x="670567" y="2465654"/>
                </a:cubicBezTo>
                <a:lnTo>
                  <a:pt x="667369" y="2462052"/>
                </a:lnTo>
                <a:lnTo>
                  <a:pt x="661495" y="2451906"/>
                </a:lnTo>
                <a:cubicBezTo>
                  <a:pt x="661510" y="2450510"/>
                  <a:pt x="661525" y="2449113"/>
                  <a:pt x="661540" y="2447717"/>
                </a:cubicBezTo>
                <a:lnTo>
                  <a:pt x="664540" y="2445047"/>
                </a:lnTo>
                <a:lnTo>
                  <a:pt x="663581" y="2444265"/>
                </a:lnTo>
                <a:cubicBezTo>
                  <a:pt x="653014" y="2439598"/>
                  <a:pt x="642406" y="2441014"/>
                  <a:pt x="663129" y="2421760"/>
                </a:cubicBezTo>
                <a:cubicBezTo>
                  <a:pt x="643271" y="2409372"/>
                  <a:pt x="657229" y="2399993"/>
                  <a:pt x="650205" y="2375201"/>
                </a:cubicBezTo>
                <a:cubicBezTo>
                  <a:pt x="634911" y="2369643"/>
                  <a:pt x="634260" y="2360648"/>
                  <a:pt x="638008" y="2350147"/>
                </a:cubicBezTo>
                <a:cubicBezTo>
                  <a:pt x="621083" y="2329939"/>
                  <a:pt x="620949" y="2305558"/>
                  <a:pt x="609851" y="2279762"/>
                </a:cubicBezTo>
                <a:lnTo>
                  <a:pt x="585585" y="2151458"/>
                </a:lnTo>
                <a:lnTo>
                  <a:pt x="581391" y="2148616"/>
                </a:lnTo>
                <a:cubicBezTo>
                  <a:pt x="578821" y="2146496"/>
                  <a:pt x="577525" y="2144881"/>
                  <a:pt x="577083" y="2143541"/>
                </a:cubicBezTo>
                <a:lnTo>
                  <a:pt x="577251" y="2143279"/>
                </a:lnTo>
                <a:lnTo>
                  <a:pt x="546845" y="2081459"/>
                </a:lnTo>
                <a:cubicBezTo>
                  <a:pt x="538270" y="2069798"/>
                  <a:pt x="486356" y="1952009"/>
                  <a:pt x="470837" y="1927526"/>
                </a:cubicBezTo>
                <a:lnTo>
                  <a:pt x="428154" y="1653876"/>
                </a:lnTo>
                <a:lnTo>
                  <a:pt x="392797" y="1507176"/>
                </a:lnTo>
                <a:cubicBezTo>
                  <a:pt x="380165" y="1501458"/>
                  <a:pt x="369910" y="1448213"/>
                  <a:pt x="372847" y="1437646"/>
                </a:cubicBezTo>
                <a:cubicBezTo>
                  <a:pt x="369015" y="1430935"/>
                  <a:pt x="338503" y="1373479"/>
                  <a:pt x="344479" y="1364974"/>
                </a:cubicBezTo>
                <a:cubicBezTo>
                  <a:pt x="332264" y="1339484"/>
                  <a:pt x="321736" y="1307918"/>
                  <a:pt x="299558" y="1284709"/>
                </a:cubicBezTo>
                <a:cubicBezTo>
                  <a:pt x="277380" y="1261500"/>
                  <a:pt x="259203" y="1267387"/>
                  <a:pt x="243216" y="1246922"/>
                </a:cubicBezTo>
                <a:cubicBezTo>
                  <a:pt x="227230" y="1226457"/>
                  <a:pt x="218454" y="1164523"/>
                  <a:pt x="203639" y="1161920"/>
                </a:cubicBezTo>
                <a:cubicBezTo>
                  <a:pt x="192352" y="1142649"/>
                  <a:pt x="198158" y="1131546"/>
                  <a:pt x="169195" y="1085737"/>
                </a:cubicBezTo>
                <a:cubicBezTo>
                  <a:pt x="139228" y="1000958"/>
                  <a:pt x="140891" y="967704"/>
                  <a:pt x="98775" y="908263"/>
                </a:cubicBezTo>
                <a:cubicBezTo>
                  <a:pt x="45025" y="829417"/>
                  <a:pt x="34038" y="815844"/>
                  <a:pt x="43820" y="711217"/>
                </a:cubicBezTo>
                <a:cubicBezTo>
                  <a:pt x="34816" y="658186"/>
                  <a:pt x="43273" y="612368"/>
                  <a:pt x="44748" y="590072"/>
                </a:cubicBezTo>
                <a:lnTo>
                  <a:pt x="36767" y="545639"/>
                </a:lnTo>
                <a:cubicBezTo>
                  <a:pt x="36093" y="527311"/>
                  <a:pt x="35418" y="508983"/>
                  <a:pt x="34744" y="490655"/>
                </a:cubicBezTo>
                <a:cubicBezTo>
                  <a:pt x="34670" y="457530"/>
                  <a:pt x="29296" y="472114"/>
                  <a:pt x="29222" y="438989"/>
                </a:cubicBezTo>
                <a:cubicBezTo>
                  <a:pt x="29152" y="438889"/>
                  <a:pt x="2578" y="396379"/>
                  <a:pt x="2507" y="396276"/>
                </a:cubicBezTo>
                <a:cubicBezTo>
                  <a:pt x="-7796" y="384713"/>
                  <a:pt x="17492" y="336163"/>
                  <a:pt x="9810" y="316602"/>
                </a:cubicBezTo>
                <a:lnTo>
                  <a:pt x="25323" y="268307"/>
                </a:lnTo>
                <a:cubicBezTo>
                  <a:pt x="20582" y="240926"/>
                  <a:pt x="55391" y="238035"/>
                  <a:pt x="50278" y="194719"/>
                </a:cubicBezTo>
                <a:cubicBezTo>
                  <a:pt x="49891" y="157325"/>
                  <a:pt x="41873" y="124589"/>
                  <a:pt x="47653" y="93227"/>
                </a:cubicBezTo>
                <a:cubicBezTo>
                  <a:pt x="41389" y="80085"/>
                  <a:pt x="38874" y="67855"/>
                  <a:pt x="48323" y="56555"/>
                </a:cubicBezTo>
                <a:cubicBezTo>
                  <a:pt x="46028" y="30289"/>
                  <a:pt x="37896" y="18621"/>
                  <a:pt x="38423" y="5312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074" y="550089"/>
            <a:ext cx="4339803" cy="2640247"/>
          </a:xfrm>
        </p:spPr>
        <p:txBody>
          <a:bodyPr>
            <a:normAutofit/>
          </a:bodyPr>
          <a:lstStyle/>
          <a:p>
            <a:pPr algn="l"/>
            <a:r>
              <a:rPr lang="de-DE" b="1" dirty="0">
                <a:ea typeface="Batang"/>
              </a:rPr>
              <a:t>LA GESTIONE DELLA MEMORIA</a:t>
            </a:r>
            <a:endParaRPr lang="de-DE">
              <a:ea typeface="Batang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072" y="3506086"/>
            <a:ext cx="3075956" cy="29078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l"/>
            <a:r>
              <a:rPr lang="de-DE" dirty="0">
                <a:ea typeface="Batang"/>
              </a:rPr>
              <a:t>Francesco Rinaldi 3I</a:t>
            </a: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1B298EC-BD08-6B82-4025-0485036B0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1930"/>
            <a:ext cx="9810604" cy="1216024"/>
          </a:xfrm>
        </p:spPr>
        <p:txBody>
          <a:bodyPr>
            <a:normAutofit/>
          </a:bodyPr>
          <a:lstStyle/>
          <a:p>
            <a:r>
              <a:rPr lang="it-IT" b="1" dirty="0">
                <a:ea typeface="Batang"/>
              </a:rPr>
              <a:t>Sommario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A99FE2-F8CA-672C-07E2-DD9265A47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1083777"/>
            <a:ext cx="4788505" cy="56400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>
                <a:ea typeface="Batang"/>
              </a:rPr>
              <a:t>I VARI TIPI DI MEMORIA</a:t>
            </a:r>
          </a:p>
          <a:p>
            <a:r>
              <a:rPr lang="it-IT" dirty="0">
                <a:ea typeface="Batang"/>
              </a:rPr>
              <a:t>CARICAMENTO DEL PROGRAMMA </a:t>
            </a:r>
          </a:p>
          <a:p>
            <a:r>
              <a:rPr lang="it-IT">
                <a:ea typeface="Batang"/>
              </a:rPr>
              <a:t>TIPI DI RILOCAZIONE </a:t>
            </a:r>
            <a:endParaRPr lang="it-IT"/>
          </a:p>
          <a:p>
            <a:r>
              <a:rPr lang="it-IT">
                <a:ea typeface="Batang"/>
              </a:rPr>
              <a:t>BINDING E LINKING</a:t>
            </a:r>
          </a:p>
          <a:p>
            <a:r>
              <a:rPr lang="it-IT" cap="all" dirty="0">
                <a:ea typeface="+mn-lt"/>
                <a:cs typeface="+mn-lt"/>
              </a:rPr>
              <a:t>Quali sono le tecniche per ottimizzare l'utilizzo della memoria?</a:t>
            </a:r>
            <a:endParaRPr lang="it-IT" dirty="0">
              <a:ea typeface="+mn-lt"/>
              <a:cs typeface="+mn-lt"/>
            </a:endParaRPr>
          </a:p>
          <a:p>
            <a:r>
              <a:rPr lang="it-IT" cap="all" dirty="0">
                <a:ea typeface="+mn-lt"/>
                <a:cs typeface="+mn-lt"/>
              </a:rPr>
              <a:t>Tecniche di allocazione della memoria centrale</a:t>
            </a:r>
          </a:p>
          <a:p>
            <a:r>
              <a:rPr lang="it-IT" cap="all" dirty="0">
                <a:ea typeface="+mn-lt"/>
                <a:cs typeface="+mn-lt"/>
              </a:rPr>
              <a:t>Partizionamento</a:t>
            </a:r>
          </a:p>
          <a:p>
            <a:r>
              <a:rPr lang="it-IT">
                <a:ea typeface="Batang"/>
              </a:rPr>
              <a:t>FRAMMENTAZIONE INTERNA ED ESTERNA</a:t>
            </a:r>
          </a:p>
          <a:p>
            <a:r>
              <a:rPr lang="it-IT">
                <a:ea typeface="Batang"/>
              </a:rPr>
              <a:t>SCHEMA VARIABILE O DINAMICO</a:t>
            </a:r>
            <a:endParaRPr lang="it-IT" dirty="0">
              <a:ea typeface="Batang"/>
            </a:endParaRPr>
          </a:p>
          <a:p>
            <a:endParaRPr lang="it-IT" dirty="0">
              <a:ea typeface="Batang"/>
            </a:endParaRPr>
          </a:p>
          <a:p>
            <a:endParaRPr lang="it-IT" dirty="0">
              <a:ea typeface="Batang"/>
            </a:endParaRPr>
          </a:p>
          <a:p>
            <a:endParaRPr lang="it-IT" dirty="0">
              <a:ea typeface="Batang"/>
            </a:endParaRPr>
          </a:p>
        </p:txBody>
      </p:sp>
      <p:pic>
        <p:nvPicPr>
          <p:cNvPr id="4" name="Immagine 3" descr="Lezione di informatica: Come Preparare il Corso?">
            <a:extLst>
              <a:ext uri="{FF2B5EF4-FFF2-40B4-BE49-F238E27FC236}">
                <a16:creationId xmlns:a16="http://schemas.microsoft.com/office/drawing/2014/main" id="{28F13D2E-5D7C-A3BD-3E96-66B104B09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426" y="2554410"/>
            <a:ext cx="4788505" cy="2693534"/>
          </a:xfrm>
          <a:prstGeom prst="rect">
            <a:avLst/>
          </a:prstGeom>
        </p:spPr>
      </p:pic>
      <p:sp>
        <p:nvSpPr>
          <p:cNvPr id="25" name="Freeform: Shape 12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526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40161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8E2DEB-A07D-C3F4-16CC-9FCC1E96C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4476464" cy="1216024"/>
          </a:xfrm>
        </p:spPr>
        <p:txBody>
          <a:bodyPr>
            <a:normAutofit/>
          </a:bodyPr>
          <a:lstStyle/>
          <a:p>
            <a:r>
              <a:rPr lang="en-US">
                <a:ea typeface="Batang"/>
              </a:rPr>
              <a:t>LA MEMORIA CENTRALE (ram</a:t>
            </a:r>
            <a:r>
              <a:rPr lang="en-US" dirty="0">
                <a:ea typeface="Batang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C4877-AD53-1C2C-A3E2-90B93B575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63685"/>
            <a:ext cx="3875963" cy="4107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Batang"/>
              </a:rPr>
              <a:t>Inizio anni Ottanta 128kB;</a:t>
            </a:r>
          </a:p>
          <a:p>
            <a:r>
              <a:rPr lang="en-US" dirty="0">
                <a:ea typeface="Batang"/>
              </a:rPr>
              <a:t>Inizio anni Novanta 1MB;</a:t>
            </a:r>
          </a:p>
          <a:p>
            <a:r>
              <a:rPr lang="en-US" dirty="0">
                <a:ea typeface="Batang"/>
              </a:rPr>
              <a:t>Inizio anni Duemila 128MB;</a:t>
            </a:r>
          </a:p>
          <a:p>
            <a:r>
              <a:rPr lang="en-US" dirty="0" err="1">
                <a:ea typeface="Batang"/>
              </a:rPr>
              <a:t>Attuale</a:t>
            </a:r>
            <a:r>
              <a:rPr lang="en-US" dirty="0">
                <a:ea typeface="Batang"/>
              </a:rPr>
              <a:t> 4-8GB;</a:t>
            </a:r>
            <a:endParaRPr lang="en-US" dirty="0"/>
          </a:p>
        </p:txBody>
      </p:sp>
      <p:pic>
        <p:nvPicPr>
          <p:cNvPr id="4" name="Picture 3" descr="Cos'è la RAM di un computer e quali sono le sue funzioni">
            <a:extLst>
              <a:ext uri="{FF2B5EF4-FFF2-40B4-BE49-F238E27FC236}">
                <a16:creationId xmlns:a16="http://schemas.microsoft.com/office/drawing/2014/main" id="{18A8401E-7DC6-EFF5-A719-58D8834277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42" r="11923" b="-1"/>
          <a:stretch>
            <a:fillRect/>
          </a:stretch>
        </p:blipFill>
        <p:spPr>
          <a:xfrm>
            <a:off x="5251840" y="10"/>
            <a:ext cx="6940161" cy="6868876"/>
          </a:xfrm>
          <a:custGeom>
            <a:avLst/>
            <a:gdLst/>
            <a:ahLst/>
            <a:cxnLst/>
            <a:rect l="l" t="t" r="r" b="b"/>
            <a:pathLst>
              <a:path w="6940161" h="6857999">
                <a:moveTo>
                  <a:pt x="857190" y="0"/>
                </a:moveTo>
                <a:lnTo>
                  <a:pt x="6940161" y="0"/>
                </a:lnTo>
                <a:lnTo>
                  <a:pt x="6940161" y="6857999"/>
                </a:lnTo>
                <a:lnTo>
                  <a:pt x="496459" y="6857999"/>
                </a:lnTo>
                <a:lnTo>
                  <a:pt x="486507" y="6839466"/>
                </a:lnTo>
                <a:cubicBezTo>
                  <a:pt x="477389" y="6820641"/>
                  <a:pt x="471173" y="6801859"/>
                  <a:pt x="480078" y="6795812"/>
                </a:cubicBezTo>
                <a:cubicBezTo>
                  <a:pt x="475408" y="6761382"/>
                  <a:pt x="493736" y="6723009"/>
                  <a:pt x="482330" y="6676796"/>
                </a:cubicBezTo>
                <a:cubicBezTo>
                  <a:pt x="479519" y="6617030"/>
                  <a:pt x="476161" y="6634511"/>
                  <a:pt x="469648" y="6539722"/>
                </a:cubicBezTo>
                <a:cubicBezTo>
                  <a:pt x="459969" y="6498384"/>
                  <a:pt x="496382" y="6456575"/>
                  <a:pt x="477855" y="6433501"/>
                </a:cubicBezTo>
                <a:cubicBezTo>
                  <a:pt x="464018" y="6378655"/>
                  <a:pt x="442310" y="6325849"/>
                  <a:pt x="414008" y="6271586"/>
                </a:cubicBezTo>
                <a:cubicBezTo>
                  <a:pt x="378091" y="6226697"/>
                  <a:pt x="377466" y="6140798"/>
                  <a:pt x="299660" y="6080454"/>
                </a:cubicBezTo>
                <a:cubicBezTo>
                  <a:pt x="268606" y="6014324"/>
                  <a:pt x="244498" y="5964143"/>
                  <a:pt x="221239" y="5913249"/>
                </a:cubicBezTo>
                <a:cubicBezTo>
                  <a:pt x="210139" y="5897439"/>
                  <a:pt x="175369" y="5809427"/>
                  <a:pt x="160103" y="5775094"/>
                </a:cubicBezTo>
                <a:cubicBezTo>
                  <a:pt x="87298" y="5686529"/>
                  <a:pt x="103897" y="5672717"/>
                  <a:pt x="87873" y="5573809"/>
                </a:cubicBezTo>
                <a:cubicBezTo>
                  <a:pt x="76224" y="5541231"/>
                  <a:pt x="76748" y="5525076"/>
                  <a:pt x="57933" y="5490695"/>
                </a:cubicBezTo>
                <a:lnTo>
                  <a:pt x="30889" y="5398377"/>
                </a:lnTo>
                <a:lnTo>
                  <a:pt x="34140" y="5390971"/>
                </a:lnTo>
                <a:lnTo>
                  <a:pt x="35928" y="5390229"/>
                </a:lnTo>
                <a:lnTo>
                  <a:pt x="16968" y="5309266"/>
                </a:lnTo>
                <a:cubicBezTo>
                  <a:pt x="13970" y="5303642"/>
                  <a:pt x="-917" y="5289094"/>
                  <a:pt x="2490" y="5276920"/>
                </a:cubicBezTo>
                <a:lnTo>
                  <a:pt x="24907" y="5208159"/>
                </a:lnTo>
                <a:lnTo>
                  <a:pt x="31839" y="5162682"/>
                </a:lnTo>
                <a:cubicBezTo>
                  <a:pt x="28501" y="5155528"/>
                  <a:pt x="24609" y="5048935"/>
                  <a:pt x="18796" y="5043371"/>
                </a:cubicBezTo>
                <a:cubicBezTo>
                  <a:pt x="54584" y="4976689"/>
                  <a:pt x="5001" y="4985095"/>
                  <a:pt x="14358" y="4908985"/>
                </a:cubicBezTo>
                <a:cubicBezTo>
                  <a:pt x="17201" y="4816358"/>
                  <a:pt x="5675" y="4749418"/>
                  <a:pt x="4769" y="4643799"/>
                </a:cubicBezTo>
                <a:cubicBezTo>
                  <a:pt x="4111" y="4581455"/>
                  <a:pt x="-7137" y="4509050"/>
                  <a:pt x="7402" y="4395547"/>
                </a:cubicBezTo>
                <a:cubicBezTo>
                  <a:pt x="11591" y="4330720"/>
                  <a:pt x="28535" y="4313913"/>
                  <a:pt x="23462" y="4274064"/>
                </a:cubicBezTo>
                <a:cubicBezTo>
                  <a:pt x="22995" y="4245538"/>
                  <a:pt x="22530" y="4217012"/>
                  <a:pt x="22063" y="4188486"/>
                </a:cubicBezTo>
                <a:lnTo>
                  <a:pt x="24672" y="4170100"/>
                </a:lnTo>
                <a:lnTo>
                  <a:pt x="34973" y="4166123"/>
                </a:lnTo>
                <a:lnTo>
                  <a:pt x="26424" y="4120096"/>
                </a:lnTo>
                <a:cubicBezTo>
                  <a:pt x="28986" y="4109871"/>
                  <a:pt x="49338" y="4079429"/>
                  <a:pt x="47886" y="4066698"/>
                </a:cubicBezTo>
                <a:cubicBezTo>
                  <a:pt x="26522" y="4022850"/>
                  <a:pt x="34453" y="4030338"/>
                  <a:pt x="47327" y="3969172"/>
                </a:cubicBezTo>
                <a:cubicBezTo>
                  <a:pt x="40297" y="3948973"/>
                  <a:pt x="40044" y="3857354"/>
                  <a:pt x="53093" y="3844350"/>
                </a:cubicBezTo>
                <a:cubicBezTo>
                  <a:pt x="55739" y="3830819"/>
                  <a:pt x="50778" y="3815585"/>
                  <a:pt x="64866" y="3808459"/>
                </a:cubicBezTo>
                <a:cubicBezTo>
                  <a:pt x="81775" y="3797121"/>
                  <a:pt x="54599" y="3752382"/>
                  <a:pt x="74864" y="3757643"/>
                </a:cubicBezTo>
                <a:cubicBezTo>
                  <a:pt x="56224" y="3725828"/>
                  <a:pt x="74270" y="3660981"/>
                  <a:pt x="82640" y="3632606"/>
                </a:cubicBezTo>
                <a:cubicBezTo>
                  <a:pt x="85981" y="3582255"/>
                  <a:pt x="88778" y="3571708"/>
                  <a:pt x="89222" y="3534990"/>
                </a:cubicBezTo>
                <a:cubicBezTo>
                  <a:pt x="92019" y="3533125"/>
                  <a:pt x="80706" y="3481126"/>
                  <a:pt x="79835" y="3454133"/>
                </a:cubicBezTo>
                <a:cubicBezTo>
                  <a:pt x="78963" y="3427139"/>
                  <a:pt x="96173" y="3390611"/>
                  <a:pt x="83991" y="3373027"/>
                </a:cubicBezTo>
                <a:cubicBezTo>
                  <a:pt x="80767" y="3298527"/>
                  <a:pt x="69808" y="3290617"/>
                  <a:pt x="62958" y="3222737"/>
                </a:cubicBezTo>
                <a:cubicBezTo>
                  <a:pt x="59618" y="3146284"/>
                  <a:pt x="39695" y="3184007"/>
                  <a:pt x="49209" y="3118188"/>
                </a:cubicBezTo>
                <a:cubicBezTo>
                  <a:pt x="65221" y="3109217"/>
                  <a:pt x="85573" y="3024732"/>
                  <a:pt x="78480" y="3003808"/>
                </a:cubicBezTo>
                <a:cubicBezTo>
                  <a:pt x="78037" y="2966753"/>
                  <a:pt x="77812" y="2989870"/>
                  <a:pt x="77566" y="2944921"/>
                </a:cubicBezTo>
                <a:lnTo>
                  <a:pt x="94406" y="2877744"/>
                </a:lnTo>
                <a:cubicBezTo>
                  <a:pt x="87936" y="2880724"/>
                  <a:pt x="108480" y="2822146"/>
                  <a:pt x="108051" y="2807161"/>
                </a:cubicBezTo>
                <a:cubicBezTo>
                  <a:pt x="110507" y="2775643"/>
                  <a:pt x="80880" y="2769288"/>
                  <a:pt x="107377" y="2752347"/>
                </a:cubicBezTo>
                <a:lnTo>
                  <a:pt x="114975" y="2748299"/>
                </a:lnTo>
                <a:cubicBezTo>
                  <a:pt x="115205" y="2745962"/>
                  <a:pt x="115434" y="2743625"/>
                  <a:pt x="115663" y="2741288"/>
                </a:cubicBezTo>
                <a:cubicBezTo>
                  <a:pt x="115098" y="2737657"/>
                  <a:pt x="112995" y="2735847"/>
                  <a:pt x="107929" y="2737160"/>
                </a:cubicBezTo>
                <a:cubicBezTo>
                  <a:pt x="126569" y="2705347"/>
                  <a:pt x="119693" y="2699356"/>
                  <a:pt x="122707" y="2659631"/>
                </a:cubicBezTo>
                <a:cubicBezTo>
                  <a:pt x="135394" y="2612127"/>
                  <a:pt x="120483" y="2628594"/>
                  <a:pt x="145471" y="2573336"/>
                </a:cubicBezTo>
                <a:cubicBezTo>
                  <a:pt x="156086" y="2559732"/>
                  <a:pt x="170382" y="2541339"/>
                  <a:pt x="170626" y="2528057"/>
                </a:cubicBezTo>
                <a:lnTo>
                  <a:pt x="202713" y="2489594"/>
                </a:lnTo>
                <a:cubicBezTo>
                  <a:pt x="203853" y="2487774"/>
                  <a:pt x="204248" y="2473350"/>
                  <a:pt x="203650" y="2468303"/>
                </a:cubicBezTo>
                <a:lnTo>
                  <a:pt x="223316" y="2460480"/>
                </a:lnTo>
                <a:lnTo>
                  <a:pt x="215120" y="2423535"/>
                </a:lnTo>
                <a:lnTo>
                  <a:pt x="223455" y="2404394"/>
                </a:lnTo>
                <a:cubicBezTo>
                  <a:pt x="243490" y="2392610"/>
                  <a:pt x="229596" y="2347474"/>
                  <a:pt x="238853" y="2324643"/>
                </a:cubicBezTo>
                <a:cubicBezTo>
                  <a:pt x="239504" y="2297698"/>
                  <a:pt x="266477" y="2284202"/>
                  <a:pt x="272463" y="2255535"/>
                </a:cubicBezTo>
                <a:cubicBezTo>
                  <a:pt x="290597" y="2249648"/>
                  <a:pt x="306594" y="2207828"/>
                  <a:pt x="294092" y="2184679"/>
                </a:cubicBezTo>
                <a:lnTo>
                  <a:pt x="323221" y="2093132"/>
                </a:lnTo>
                <a:cubicBezTo>
                  <a:pt x="348282" y="2084587"/>
                  <a:pt x="366071" y="1985868"/>
                  <a:pt x="377324" y="1950235"/>
                </a:cubicBezTo>
                <a:cubicBezTo>
                  <a:pt x="397581" y="1920183"/>
                  <a:pt x="445208" y="1898905"/>
                  <a:pt x="457649" y="1861568"/>
                </a:cubicBezTo>
                <a:cubicBezTo>
                  <a:pt x="464664" y="1810687"/>
                  <a:pt x="447457" y="1869507"/>
                  <a:pt x="451972" y="1809499"/>
                </a:cubicBezTo>
                <a:cubicBezTo>
                  <a:pt x="450982" y="1754297"/>
                  <a:pt x="465413" y="1767680"/>
                  <a:pt x="474550" y="1693716"/>
                </a:cubicBezTo>
                <a:cubicBezTo>
                  <a:pt x="473258" y="1654244"/>
                  <a:pt x="481626" y="1627007"/>
                  <a:pt x="481301" y="1605195"/>
                </a:cubicBezTo>
                <a:cubicBezTo>
                  <a:pt x="490491" y="1568952"/>
                  <a:pt x="493569" y="1564518"/>
                  <a:pt x="497837" y="1516217"/>
                </a:cubicBezTo>
                <a:cubicBezTo>
                  <a:pt x="503639" y="1488452"/>
                  <a:pt x="534082" y="1457870"/>
                  <a:pt x="513281" y="1429841"/>
                </a:cubicBezTo>
                <a:cubicBezTo>
                  <a:pt x="527326" y="1412325"/>
                  <a:pt x="570430" y="1413592"/>
                  <a:pt x="550104" y="1380081"/>
                </a:cubicBezTo>
                <a:cubicBezTo>
                  <a:pt x="575583" y="1394128"/>
                  <a:pt x="551452" y="1335176"/>
                  <a:pt x="574526" y="1334891"/>
                </a:cubicBezTo>
                <a:cubicBezTo>
                  <a:pt x="593486" y="1336427"/>
                  <a:pt x="633157" y="1194568"/>
                  <a:pt x="638123" y="1185551"/>
                </a:cubicBezTo>
                <a:cubicBezTo>
                  <a:pt x="647468" y="1149210"/>
                  <a:pt x="657504" y="1148087"/>
                  <a:pt x="664747" y="1111168"/>
                </a:cubicBezTo>
                <a:cubicBezTo>
                  <a:pt x="679107" y="1057226"/>
                  <a:pt x="652121" y="1022543"/>
                  <a:pt x="664913" y="993353"/>
                </a:cubicBezTo>
                <a:cubicBezTo>
                  <a:pt x="684189" y="960214"/>
                  <a:pt x="707497" y="867450"/>
                  <a:pt x="721256" y="813953"/>
                </a:cubicBezTo>
                <a:cubicBezTo>
                  <a:pt x="734607" y="746430"/>
                  <a:pt x="738988" y="666470"/>
                  <a:pt x="745023" y="588218"/>
                </a:cubicBezTo>
                <a:cubicBezTo>
                  <a:pt x="735393" y="475380"/>
                  <a:pt x="719076" y="536119"/>
                  <a:pt x="725253" y="376479"/>
                </a:cubicBezTo>
                <a:lnTo>
                  <a:pt x="735457" y="280992"/>
                </a:lnTo>
                <a:cubicBezTo>
                  <a:pt x="735270" y="276227"/>
                  <a:pt x="742007" y="223140"/>
                  <a:pt x="741820" y="218374"/>
                </a:cubicBezTo>
                <a:lnTo>
                  <a:pt x="735299" y="188178"/>
                </a:lnTo>
                <a:lnTo>
                  <a:pt x="764938" y="152404"/>
                </a:lnTo>
                <a:cubicBezTo>
                  <a:pt x="776066" y="136342"/>
                  <a:pt x="783668" y="122048"/>
                  <a:pt x="802071" y="91810"/>
                </a:cubicBezTo>
                <a:lnTo>
                  <a:pt x="849585" y="301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17655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AB0BC72-1C3A-421F-AB0A-D480DA93F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28763" cy="6858000"/>
          </a:xfrm>
          <a:custGeom>
            <a:avLst/>
            <a:gdLst>
              <a:gd name="connsiteX0" fmla="*/ 0 w 7228763"/>
              <a:gd name="connsiteY0" fmla="*/ 0 h 6858000"/>
              <a:gd name="connsiteX1" fmla="*/ 501961 w 7228763"/>
              <a:gd name="connsiteY1" fmla="*/ 0 h 6858000"/>
              <a:gd name="connsiteX2" fmla="*/ 723901 w 7228763"/>
              <a:gd name="connsiteY2" fmla="*/ 0 h 6858000"/>
              <a:gd name="connsiteX3" fmla="*/ 7228583 w 7228763"/>
              <a:gd name="connsiteY3" fmla="*/ 0 h 6858000"/>
              <a:gd name="connsiteX4" fmla="*/ 7228763 w 7228763"/>
              <a:gd name="connsiteY4" fmla="*/ 1 h 6858000"/>
              <a:gd name="connsiteX5" fmla="*/ 7221350 w 7228763"/>
              <a:gd name="connsiteY5" fmla="*/ 30700 h 6858000"/>
              <a:gd name="connsiteX6" fmla="*/ 7199900 w 7228763"/>
              <a:gd name="connsiteY6" fmla="*/ 310025 h 6858000"/>
              <a:gd name="connsiteX7" fmla="*/ 7214938 w 7228763"/>
              <a:gd name="connsiteY7" fmla="*/ 443960 h 6858000"/>
              <a:gd name="connsiteX8" fmla="*/ 7174238 w 7228763"/>
              <a:gd name="connsiteY8" fmla="*/ 642659 h 6858000"/>
              <a:gd name="connsiteX9" fmla="*/ 7166213 w 7228763"/>
              <a:gd name="connsiteY9" fmla="*/ 673307 h 6858000"/>
              <a:gd name="connsiteX10" fmla="*/ 7128963 w 7228763"/>
              <a:gd name="connsiteY10" fmla="*/ 839641 h 6858000"/>
              <a:gd name="connsiteX11" fmla="*/ 7066183 w 7228763"/>
              <a:gd name="connsiteY11" fmla="*/ 958357 h 6858000"/>
              <a:gd name="connsiteX12" fmla="*/ 7070620 w 7228763"/>
              <a:gd name="connsiteY12" fmla="*/ 963398 h 6858000"/>
              <a:gd name="connsiteX13" fmla="*/ 7022851 w 7228763"/>
              <a:gd name="connsiteY13" fmla="*/ 1117169 h 6858000"/>
              <a:gd name="connsiteX14" fmla="*/ 7019920 w 7228763"/>
              <a:gd name="connsiteY14" fmla="*/ 1144352 h 6858000"/>
              <a:gd name="connsiteX15" fmla="*/ 7021476 w 7228763"/>
              <a:gd name="connsiteY15" fmla="*/ 1164484 h 6858000"/>
              <a:gd name="connsiteX16" fmla="*/ 7005576 w 7228763"/>
              <a:gd name="connsiteY16" fmla="*/ 1213829 h 6858000"/>
              <a:gd name="connsiteX17" fmla="*/ 6970919 w 7228763"/>
              <a:gd name="connsiteY17" fmla="*/ 1294823 h 6858000"/>
              <a:gd name="connsiteX18" fmla="*/ 6965413 w 7228763"/>
              <a:gd name="connsiteY18" fmla="*/ 1312193 h 6858000"/>
              <a:gd name="connsiteX19" fmla="*/ 6968106 w 7228763"/>
              <a:gd name="connsiteY19" fmla="*/ 1327626 h 6858000"/>
              <a:gd name="connsiteX20" fmla="*/ 6975202 w 7228763"/>
              <a:gd name="connsiteY20" fmla="*/ 1331644 h 6858000"/>
              <a:gd name="connsiteX21" fmla="*/ 6973366 w 7228763"/>
              <a:gd name="connsiteY21" fmla="*/ 1341276 h 6858000"/>
              <a:gd name="connsiteX22" fmla="*/ 6974428 w 7228763"/>
              <a:gd name="connsiteY22" fmla="*/ 1343945 h 6858000"/>
              <a:gd name="connsiteX23" fmla="*/ 6978971 w 7228763"/>
              <a:gd name="connsiteY23" fmla="*/ 1359134 h 6858000"/>
              <a:gd name="connsiteX24" fmla="*/ 6946335 w 7228763"/>
              <a:gd name="connsiteY24" fmla="*/ 1427803 h 6858000"/>
              <a:gd name="connsiteX25" fmla="*/ 6907208 w 7228763"/>
              <a:gd name="connsiteY25" fmla="*/ 1540278 h 6858000"/>
              <a:gd name="connsiteX26" fmla="*/ 6901698 w 7228763"/>
              <a:gd name="connsiteY26" fmla="*/ 1547262 h 6858000"/>
              <a:gd name="connsiteX27" fmla="*/ 6902877 w 7228763"/>
              <a:gd name="connsiteY27" fmla="*/ 1577056 h 6858000"/>
              <a:gd name="connsiteX28" fmla="*/ 6904067 w 7228763"/>
              <a:gd name="connsiteY28" fmla="*/ 1595898 h 6858000"/>
              <a:gd name="connsiteX29" fmla="*/ 6891817 w 7228763"/>
              <a:gd name="connsiteY29" fmla="*/ 1703726 h 6858000"/>
              <a:gd name="connsiteX30" fmla="*/ 6898520 w 7228763"/>
              <a:gd name="connsiteY30" fmla="*/ 1809535 h 6858000"/>
              <a:gd name="connsiteX31" fmla="*/ 6897783 w 7228763"/>
              <a:gd name="connsiteY31" fmla="*/ 2018310 h 6858000"/>
              <a:gd name="connsiteX32" fmla="*/ 6887647 w 7228763"/>
              <a:gd name="connsiteY32" fmla="*/ 2071355 h 6858000"/>
              <a:gd name="connsiteX33" fmla="*/ 6888952 w 7228763"/>
              <a:gd name="connsiteY33" fmla="*/ 2141166 h 6858000"/>
              <a:gd name="connsiteX34" fmla="*/ 6887101 w 7228763"/>
              <a:gd name="connsiteY34" fmla="*/ 2154548 h 6858000"/>
              <a:gd name="connsiteX35" fmla="*/ 6880519 w 7228763"/>
              <a:gd name="connsiteY35" fmla="*/ 2158153 h 6858000"/>
              <a:gd name="connsiteX36" fmla="*/ 6873389 w 7228763"/>
              <a:gd name="connsiteY36" fmla="*/ 2178174 h 6858000"/>
              <a:gd name="connsiteX37" fmla="*/ 6871679 w 7228763"/>
              <a:gd name="connsiteY37" fmla="*/ 2202858 h 6858000"/>
              <a:gd name="connsiteX38" fmla="*/ 6870321 w 7228763"/>
              <a:gd name="connsiteY38" fmla="*/ 2320214 h 6858000"/>
              <a:gd name="connsiteX39" fmla="*/ 6857787 w 7228763"/>
              <a:gd name="connsiteY39" fmla="*/ 2417011 h 6858000"/>
              <a:gd name="connsiteX40" fmla="*/ 6850905 w 7228763"/>
              <a:gd name="connsiteY40" fmla="*/ 2454207 h 6858000"/>
              <a:gd name="connsiteX41" fmla="*/ 6848900 w 7228763"/>
              <a:gd name="connsiteY41" fmla="*/ 2487203 h 6858000"/>
              <a:gd name="connsiteX42" fmla="*/ 6837487 w 7228763"/>
              <a:gd name="connsiteY42" fmla="*/ 2512282 h 6858000"/>
              <a:gd name="connsiteX43" fmla="*/ 6838494 w 7228763"/>
              <a:gd name="connsiteY43" fmla="*/ 2514318 h 6858000"/>
              <a:gd name="connsiteX44" fmla="*/ 6863982 w 7228763"/>
              <a:gd name="connsiteY44" fmla="*/ 2574334 h 6858000"/>
              <a:gd name="connsiteX45" fmla="*/ 6862893 w 7228763"/>
              <a:gd name="connsiteY45" fmla="*/ 2579877 h 6858000"/>
              <a:gd name="connsiteX46" fmla="*/ 6863047 w 7228763"/>
              <a:gd name="connsiteY46" fmla="*/ 2608928 h 6858000"/>
              <a:gd name="connsiteX47" fmla="*/ 6862462 w 7228763"/>
              <a:gd name="connsiteY47" fmla="*/ 2613111 h 6858000"/>
              <a:gd name="connsiteX48" fmla="*/ 6854084 w 7228763"/>
              <a:gd name="connsiteY48" fmla="*/ 2621996 h 6858000"/>
              <a:gd name="connsiteX49" fmla="*/ 6856559 w 7228763"/>
              <a:gd name="connsiteY49" fmla="*/ 2634265 h 6858000"/>
              <a:gd name="connsiteX50" fmla="*/ 6847985 w 7228763"/>
              <a:gd name="connsiteY50" fmla="*/ 2647237 h 6858000"/>
              <a:gd name="connsiteX51" fmla="*/ 6854115 w 7228763"/>
              <a:gd name="connsiteY51" fmla="*/ 2650786 h 6858000"/>
              <a:gd name="connsiteX52" fmla="*/ 6859942 w 7228763"/>
              <a:gd name="connsiteY52" fmla="*/ 2661993 h 6858000"/>
              <a:gd name="connsiteX53" fmla="*/ 6851884 w 7228763"/>
              <a:gd name="connsiteY53" fmla="*/ 2670949 h 6858000"/>
              <a:gd name="connsiteX54" fmla="*/ 6846115 w 7228763"/>
              <a:gd name="connsiteY54" fmla="*/ 2690255 h 6858000"/>
              <a:gd name="connsiteX55" fmla="*/ 6846964 w 7228763"/>
              <a:gd name="connsiteY55" fmla="*/ 2695683 h 6858000"/>
              <a:gd name="connsiteX56" fmla="*/ 6836011 w 7228763"/>
              <a:gd name="connsiteY56" fmla="*/ 2713964 h 6858000"/>
              <a:gd name="connsiteX57" fmla="*/ 6830478 w 7228763"/>
              <a:gd name="connsiteY57" fmla="*/ 2730175 h 6858000"/>
              <a:gd name="connsiteX58" fmla="*/ 6841091 w 7228763"/>
              <a:gd name="connsiteY58" fmla="*/ 2763497 h 6858000"/>
              <a:gd name="connsiteX59" fmla="*/ 6803520 w 7228763"/>
              <a:gd name="connsiteY59" fmla="*/ 3051539 h 6858000"/>
              <a:gd name="connsiteX60" fmla="*/ 6733280 w 7228763"/>
              <a:gd name="connsiteY60" fmla="*/ 3335396 h 6858000"/>
              <a:gd name="connsiteX61" fmla="*/ 6735884 w 7228763"/>
              <a:gd name="connsiteY61" fmla="*/ 3456509 h 6858000"/>
              <a:gd name="connsiteX62" fmla="*/ 6715764 w 7228763"/>
              <a:gd name="connsiteY62" fmla="*/ 3531827 h 6858000"/>
              <a:gd name="connsiteX63" fmla="*/ 6730329 w 7228763"/>
              <a:gd name="connsiteY63" fmla="*/ 3570877 h 6858000"/>
              <a:gd name="connsiteX64" fmla="*/ 6727426 w 7228763"/>
              <a:gd name="connsiteY64" fmla="*/ 3583849 h 6858000"/>
              <a:gd name="connsiteX65" fmla="*/ 6718706 w 7228763"/>
              <a:gd name="connsiteY65" fmla="*/ 3592763 h 6858000"/>
              <a:gd name="connsiteX66" fmla="*/ 6693350 w 7228763"/>
              <a:gd name="connsiteY66" fmla="*/ 3653485 h 6858000"/>
              <a:gd name="connsiteX67" fmla="*/ 6685983 w 7228763"/>
              <a:gd name="connsiteY67" fmla="*/ 3670528 h 6858000"/>
              <a:gd name="connsiteX68" fmla="*/ 6687033 w 7228763"/>
              <a:gd name="connsiteY68" fmla="*/ 3685990 h 6858000"/>
              <a:gd name="connsiteX69" fmla="*/ 6693711 w 7228763"/>
              <a:gd name="connsiteY69" fmla="*/ 3690283 h 6858000"/>
              <a:gd name="connsiteX70" fmla="*/ 6690843 w 7228763"/>
              <a:gd name="connsiteY70" fmla="*/ 3699787 h 6858000"/>
              <a:gd name="connsiteX71" fmla="*/ 6691624 w 7228763"/>
              <a:gd name="connsiteY71" fmla="*/ 3702486 h 6858000"/>
              <a:gd name="connsiteX72" fmla="*/ 6694549 w 7228763"/>
              <a:gd name="connsiteY72" fmla="*/ 3717784 h 6858000"/>
              <a:gd name="connsiteX73" fmla="*/ 6662489 w 7228763"/>
              <a:gd name="connsiteY73" fmla="*/ 3746229 h 6858000"/>
              <a:gd name="connsiteX74" fmla="*/ 6575429 w 7228763"/>
              <a:gd name="connsiteY74" fmla="*/ 3924910 h 6858000"/>
              <a:gd name="connsiteX75" fmla="*/ 6538994 w 7228763"/>
              <a:gd name="connsiteY75" fmla="*/ 3989353 h 6858000"/>
              <a:gd name="connsiteX76" fmla="*/ 6535698 w 7228763"/>
              <a:gd name="connsiteY76" fmla="*/ 4033899 h 6858000"/>
              <a:gd name="connsiteX77" fmla="*/ 6527053 w 7228763"/>
              <a:gd name="connsiteY77" fmla="*/ 4142250 h 6858000"/>
              <a:gd name="connsiteX78" fmla="*/ 6501843 w 7228763"/>
              <a:gd name="connsiteY78" fmla="*/ 4329442 h 6858000"/>
              <a:gd name="connsiteX79" fmla="*/ 6489841 w 7228763"/>
              <a:gd name="connsiteY79" fmla="*/ 4456184 h 6858000"/>
              <a:gd name="connsiteX80" fmla="*/ 6482918 w 7228763"/>
              <a:gd name="connsiteY80" fmla="*/ 4468478 h 6858000"/>
              <a:gd name="connsiteX81" fmla="*/ 6484019 w 7228763"/>
              <a:gd name="connsiteY81" fmla="*/ 4469862 h 6858000"/>
              <a:gd name="connsiteX82" fmla="*/ 6481759 w 7228763"/>
              <a:gd name="connsiteY82" fmla="*/ 4483797 h 6858000"/>
              <a:gd name="connsiteX83" fmla="*/ 6477370 w 7228763"/>
              <a:gd name="connsiteY83" fmla="*/ 4487091 h 6858000"/>
              <a:gd name="connsiteX84" fmla="*/ 6474598 w 7228763"/>
              <a:gd name="connsiteY84" fmla="*/ 4496728 h 6858000"/>
              <a:gd name="connsiteX85" fmla="*/ 6465848 w 7228763"/>
              <a:gd name="connsiteY85" fmla="*/ 4515918 h 6858000"/>
              <a:gd name="connsiteX86" fmla="*/ 6467296 w 7228763"/>
              <a:gd name="connsiteY86" fmla="*/ 4519316 h 6858000"/>
              <a:gd name="connsiteX87" fmla="*/ 6458903 w 7228763"/>
              <a:gd name="connsiteY87" fmla="*/ 4547957 h 6858000"/>
              <a:gd name="connsiteX88" fmla="*/ 6460248 w 7228763"/>
              <a:gd name="connsiteY88" fmla="*/ 4548262 h 6858000"/>
              <a:gd name="connsiteX89" fmla="*/ 6464276 w 7228763"/>
              <a:gd name="connsiteY89" fmla="*/ 4555939 h 6858000"/>
              <a:gd name="connsiteX90" fmla="*/ 6468635 w 7228763"/>
              <a:gd name="connsiteY90" fmla="*/ 4570815 h 6858000"/>
              <a:gd name="connsiteX91" fmla="*/ 6488206 w 7228763"/>
              <a:gd name="connsiteY91" fmla="*/ 4633846 h 6858000"/>
              <a:gd name="connsiteX92" fmla="*/ 6487272 w 7228763"/>
              <a:gd name="connsiteY92" fmla="*/ 4639816 h 6858000"/>
              <a:gd name="connsiteX93" fmla="*/ 6487581 w 7228763"/>
              <a:gd name="connsiteY93" fmla="*/ 4639923 h 6858000"/>
              <a:gd name="connsiteX94" fmla="*/ 6487249 w 7228763"/>
              <a:gd name="connsiteY94" fmla="*/ 4646192 h 6858000"/>
              <a:gd name="connsiteX95" fmla="*/ 6485570 w 7228763"/>
              <a:gd name="connsiteY95" fmla="*/ 4650706 h 6858000"/>
              <a:gd name="connsiteX96" fmla="*/ 6483759 w 7228763"/>
              <a:gd name="connsiteY96" fmla="*/ 4662290 h 6858000"/>
              <a:gd name="connsiteX97" fmla="*/ 6485315 w 7228763"/>
              <a:gd name="connsiteY97" fmla="*/ 4666180 h 6858000"/>
              <a:gd name="connsiteX98" fmla="*/ 6489077 w 7228763"/>
              <a:gd name="connsiteY98" fmla="*/ 4667585 h 6858000"/>
              <a:gd name="connsiteX99" fmla="*/ 6488467 w 7228763"/>
              <a:gd name="connsiteY99" fmla="*/ 4668660 h 6858000"/>
              <a:gd name="connsiteX100" fmla="*/ 6496179 w 7228763"/>
              <a:gd name="connsiteY100" fmla="*/ 4689807 h 6858000"/>
              <a:gd name="connsiteX101" fmla="*/ 6500957 w 7228763"/>
              <a:gd name="connsiteY101" fmla="*/ 4737890 h 6858000"/>
              <a:gd name="connsiteX102" fmla="*/ 6498641 w 7228763"/>
              <a:gd name="connsiteY102" fmla="*/ 4765657 h 6858000"/>
              <a:gd name="connsiteX103" fmla="*/ 6497829 w 7228763"/>
              <a:gd name="connsiteY103" fmla="*/ 4841463 h 6858000"/>
              <a:gd name="connsiteX104" fmla="*/ 6521578 w 7228763"/>
              <a:gd name="connsiteY104" fmla="*/ 4969863 h 6858000"/>
              <a:gd name="connsiteX105" fmla="*/ 6518695 w 7228763"/>
              <a:gd name="connsiteY105" fmla="*/ 4974028 h 6858000"/>
              <a:gd name="connsiteX106" fmla="*/ 6516513 w 7228763"/>
              <a:gd name="connsiteY106" fmla="*/ 4980318 h 6858000"/>
              <a:gd name="connsiteX107" fmla="*/ 6516763 w 7228763"/>
              <a:gd name="connsiteY107" fmla="*/ 4980501 h 6858000"/>
              <a:gd name="connsiteX108" fmla="*/ 6514121 w 7228763"/>
              <a:gd name="connsiteY108" fmla="*/ 4986338 h 6858000"/>
              <a:gd name="connsiteX109" fmla="*/ 6511173 w 7228763"/>
              <a:gd name="connsiteY109" fmla="*/ 4991296 h 6858000"/>
              <a:gd name="connsiteX110" fmla="*/ 6546537 w 7228763"/>
              <a:gd name="connsiteY110" fmla="*/ 5076895 h 6858000"/>
              <a:gd name="connsiteX111" fmla="*/ 6544581 w 7228763"/>
              <a:gd name="connsiteY111" fmla="*/ 5081568 h 6858000"/>
              <a:gd name="connsiteX112" fmla="*/ 6543750 w 7228763"/>
              <a:gd name="connsiteY112" fmla="*/ 5088173 h 6858000"/>
              <a:gd name="connsiteX113" fmla="*/ 6544034 w 7228763"/>
              <a:gd name="connsiteY113" fmla="*/ 5088300 h 6858000"/>
              <a:gd name="connsiteX114" fmla="*/ 6542660 w 7228763"/>
              <a:gd name="connsiteY114" fmla="*/ 5094558 h 6858000"/>
              <a:gd name="connsiteX115" fmla="*/ 6532096 w 7228763"/>
              <a:gd name="connsiteY115" fmla="*/ 5125620 h 6858000"/>
              <a:gd name="connsiteX116" fmla="*/ 6533049 w 7228763"/>
              <a:gd name="connsiteY116" fmla="*/ 5268004 h 6858000"/>
              <a:gd name="connsiteX117" fmla="*/ 6533970 w 7228763"/>
              <a:gd name="connsiteY117" fmla="*/ 5269530 h 6858000"/>
              <a:gd name="connsiteX118" fmla="*/ 6502603 w 7228763"/>
              <a:gd name="connsiteY118" fmla="*/ 5390941 h 6858000"/>
              <a:gd name="connsiteX119" fmla="*/ 6477660 w 7228763"/>
              <a:gd name="connsiteY119" fmla="*/ 5539927 h 6858000"/>
              <a:gd name="connsiteX120" fmla="*/ 6456458 w 7228763"/>
              <a:gd name="connsiteY120" fmla="*/ 5791594 h 6858000"/>
              <a:gd name="connsiteX121" fmla="*/ 6434556 w 7228763"/>
              <a:gd name="connsiteY121" fmla="*/ 5855206 h 6858000"/>
              <a:gd name="connsiteX122" fmla="*/ 6418454 w 7228763"/>
              <a:gd name="connsiteY122" fmla="*/ 5873582 h 6858000"/>
              <a:gd name="connsiteX123" fmla="*/ 6419875 w 7228763"/>
              <a:gd name="connsiteY123" fmla="*/ 5876037 h 6858000"/>
              <a:gd name="connsiteX124" fmla="*/ 6419775 w 7228763"/>
              <a:gd name="connsiteY124" fmla="*/ 5886534 h 6858000"/>
              <a:gd name="connsiteX125" fmla="*/ 6426971 w 7228763"/>
              <a:gd name="connsiteY125" fmla="*/ 5888644 h 6858000"/>
              <a:gd name="connsiteX126" fmla="*/ 6431999 w 7228763"/>
              <a:gd name="connsiteY126" fmla="*/ 5903832 h 6858000"/>
              <a:gd name="connsiteX127" fmla="*/ 6429798 w 7228763"/>
              <a:gd name="connsiteY127" fmla="*/ 5923391 h 6858000"/>
              <a:gd name="connsiteX128" fmla="*/ 6434072 w 7228763"/>
              <a:gd name="connsiteY128" fmla="*/ 6013205 h 6858000"/>
              <a:gd name="connsiteX129" fmla="*/ 6439333 w 7228763"/>
              <a:gd name="connsiteY129" fmla="*/ 6074018 h 6858000"/>
              <a:gd name="connsiteX130" fmla="*/ 6463083 w 7228763"/>
              <a:gd name="connsiteY130" fmla="*/ 6130837 h 6858000"/>
              <a:gd name="connsiteX131" fmla="*/ 6457360 w 7228763"/>
              <a:gd name="connsiteY131" fmla="*/ 6152982 h 6858000"/>
              <a:gd name="connsiteX132" fmla="*/ 6495529 w 7228763"/>
              <a:gd name="connsiteY132" fmla="*/ 6221100 h 6858000"/>
              <a:gd name="connsiteX133" fmla="*/ 6514948 w 7228763"/>
              <a:gd name="connsiteY133" fmla="*/ 6287550 h 6858000"/>
              <a:gd name="connsiteX134" fmla="*/ 6545124 w 7228763"/>
              <a:gd name="connsiteY134" fmla="*/ 6401595 h 6858000"/>
              <a:gd name="connsiteX135" fmla="*/ 6525833 w 7228763"/>
              <a:gd name="connsiteY135" fmla="*/ 6487110 h 6858000"/>
              <a:gd name="connsiteX136" fmla="*/ 6554825 w 7228763"/>
              <a:gd name="connsiteY136" fmla="*/ 6588589 h 6858000"/>
              <a:gd name="connsiteX137" fmla="*/ 6601569 w 7228763"/>
              <a:gd name="connsiteY137" fmla="*/ 6769963 h 6858000"/>
              <a:gd name="connsiteX138" fmla="*/ 6620945 w 7228763"/>
              <a:gd name="connsiteY138" fmla="*/ 6835814 h 6858000"/>
              <a:gd name="connsiteX139" fmla="*/ 6625906 w 7228763"/>
              <a:gd name="connsiteY139" fmla="*/ 6858000 h 6858000"/>
              <a:gd name="connsiteX140" fmla="*/ 723901 w 7228763"/>
              <a:gd name="connsiteY140" fmla="*/ 6858000 h 6858000"/>
              <a:gd name="connsiteX141" fmla="*/ 501961 w 7228763"/>
              <a:gd name="connsiteY141" fmla="*/ 6858000 h 6858000"/>
              <a:gd name="connsiteX142" fmla="*/ 0 w 7228763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7228763" h="6858000">
                <a:moveTo>
                  <a:pt x="0" y="0"/>
                </a:moveTo>
                <a:lnTo>
                  <a:pt x="501961" y="0"/>
                </a:lnTo>
                <a:lnTo>
                  <a:pt x="723901" y="0"/>
                </a:lnTo>
                <a:lnTo>
                  <a:pt x="7228583" y="0"/>
                </a:lnTo>
                <a:lnTo>
                  <a:pt x="7228763" y="1"/>
                </a:lnTo>
                <a:lnTo>
                  <a:pt x="7221350" y="30700"/>
                </a:lnTo>
                <a:cubicBezTo>
                  <a:pt x="7216059" y="84364"/>
                  <a:pt x="7200969" y="241149"/>
                  <a:pt x="7199900" y="310025"/>
                </a:cubicBezTo>
                <a:cubicBezTo>
                  <a:pt x="7203643" y="367544"/>
                  <a:pt x="7214102" y="408251"/>
                  <a:pt x="7214938" y="443960"/>
                </a:cubicBezTo>
                <a:cubicBezTo>
                  <a:pt x="7210660" y="499397"/>
                  <a:pt x="7182360" y="604434"/>
                  <a:pt x="7174238" y="642659"/>
                </a:cubicBezTo>
                <a:cubicBezTo>
                  <a:pt x="7182965" y="657287"/>
                  <a:pt x="7155519" y="658191"/>
                  <a:pt x="7166213" y="673307"/>
                </a:cubicBezTo>
                <a:cubicBezTo>
                  <a:pt x="7166618" y="693769"/>
                  <a:pt x="7143764" y="797295"/>
                  <a:pt x="7128963" y="839641"/>
                </a:cubicBezTo>
                <a:cubicBezTo>
                  <a:pt x="7112293" y="887148"/>
                  <a:pt x="7075906" y="937731"/>
                  <a:pt x="7066183" y="958357"/>
                </a:cubicBezTo>
                <a:cubicBezTo>
                  <a:pt x="7056459" y="978983"/>
                  <a:pt x="7077843" y="936930"/>
                  <a:pt x="7070620" y="963398"/>
                </a:cubicBezTo>
                <a:cubicBezTo>
                  <a:pt x="7063399" y="989867"/>
                  <a:pt x="7031301" y="1087010"/>
                  <a:pt x="7022851" y="1117169"/>
                </a:cubicBezTo>
                <a:cubicBezTo>
                  <a:pt x="7039554" y="1118586"/>
                  <a:pt x="7009272" y="1135372"/>
                  <a:pt x="7019920" y="1144352"/>
                </a:cubicBezTo>
                <a:cubicBezTo>
                  <a:pt x="7029274" y="1150681"/>
                  <a:pt x="7022270" y="1157251"/>
                  <a:pt x="7021476" y="1164484"/>
                </a:cubicBezTo>
                <a:cubicBezTo>
                  <a:pt x="7028800" y="1173524"/>
                  <a:pt x="7015215" y="1205209"/>
                  <a:pt x="7005576" y="1213829"/>
                </a:cubicBezTo>
                <a:cubicBezTo>
                  <a:pt x="6972150" y="1235037"/>
                  <a:pt x="6996546" y="1277327"/>
                  <a:pt x="6970919" y="1294823"/>
                </a:cubicBezTo>
                <a:cubicBezTo>
                  <a:pt x="6967139" y="1300845"/>
                  <a:pt x="6965581" y="1306615"/>
                  <a:pt x="6965413" y="1312193"/>
                </a:cubicBezTo>
                <a:lnTo>
                  <a:pt x="6968106" y="1327626"/>
                </a:lnTo>
                <a:lnTo>
                  <a:pt x="6975202" y="1331644"/>
                </a:lnTo>
                <a:lnTo>
                  <a:pt x="6973366" y="1341276"/>
                </a:lnTo>
                <a:cubicBezTo>
                  <a:pt x="6973720" y="1342166"/>
                  <a:pt x="6974074" y="1343055"/>
                  <a:pt x="6974428" y="1343945"/>
                </a:cubicBezTo>
                <a:cubicBezTo>
                  <a:pt x="6976493" y="1349040"/>
                  <a:pt x="6978286" y="1354080"/>
                  <a:pt x="6978971" y="1359134"/>
                </a:cubicBezTo>
                <a:cubicBezTo>
                  <a:pt x="6974288" y="1373109"/>
                  <a:pt x="6958295" y="1397612"/>
                  <a:pt x="6946335" y="1427803"/>
                </a:cubicBezTo>
                <a:cubicBezTo>
                  <a:pt x="6924178" y="1460349"/>
                  <a:pt x="6924483" y="1505076"/>
                  <a:pt x="6907208" y="1540278"/>
                </a:cubicBezTo>
                <a:lnTo>
                  <a:pt x="6901698" y="1547262"/>
                </a:lnTo>
                <a:lnTo>
                  <a:pt x="6902877" y="1577056"/>
                </a:lnTo>
                <a:cubicBezTo>
                  <a:pt x="6907187" y="1582205"/>
                  <a:pt x="6908314" y="1589568"/>
                  <a:pt x="6904067" y="1595898"/>
                </a:cubicBezTo>
                <a:lnTo>
                  <a:pt x="6891817" y="1703726"/>
                </a:lnTo>
                <a:cubicBezTo>
                  <a:pt x="6890892" y="1739332"/>
                  <a:pt x="6882506" y="1754453"/>
                  <a:pt x="6898520" y="1809535"/>
                </a:cubicBezTo>
                <a:cubicBezTo>
                  <a:pt x="6919736" y="1868036"/>
                  <a:pt x="6890400" y="1952670"/>
                  <a:pt x="6897783" y="2018310"/>
                </a:cubicBezTo>
                <a:cubicBezTo>
                  <a:pt x="6868750" y="2053162"/>
                  <a:pt x="6894827" y="2034561"/>
                  <a:pt x="6887647" y="2071355"/>
                </a:cubicBezTo>
                <a:lnTo>
                  <a:pt x="6888952" y="2141166"/>
                </a:lnTo>
                <a:lnTo>
                  <a:pt x="6887101" y="2154548"/>
                </a:lnTo>
                <a:lnTo>
                  <a:pt x="6880519" y="2158153"/>
                </a:lnTo>
                <a:lnTo>
                  <a:pt x="6873389" y="2178174"/>
                </a:lnTo>
                <a:cubicBezTo>
                  <a:pt x="6871658" y="2185696"/>
                  <a:pt x="6870890" y="2193828"/>
                  <a:pt x="6871679" y="2202858"/>
                </a:cubicBezTo>
                <a:cubicBezTo>
                  <a:pt x="6884787" y="2232772"/>
                  <a:pt x="6852680" y="2283357"/>
                  <a:pt x="6870321" y="2320214"/>
                </a:cubicBezTo>
                <a:cubicBezTo>
                  <a:pt x="6868006" y="2355906"/>
                  <a:pt x="6861023" y="2394678"/>
                  <a:pt x="6857787" y="2417011"/>
                </a:cubicBezTo>
                <a:cubicBezTo>
                  <a:pt x="6846931" y="2426377"/>
                  <a:pt x="6863720" y="2456509"/>
                  <a:pt x="6850905" y="2454207"/>
                </a:cubicBezTo>
                <a:cubicBezTo>
                  <a:pt x="6856659" y="2464947"/>
                  <a:pt x="6853850" y="2476105"/>
                  <a:pt x="6848900" y="2487203"/>
                </a:cubicBezTo>
                <a:lnTo>
                  <a:pt x="6837487" y="2512282"/>
                </a:lnTo>
                <a:cubicBezTo>
                  <a:pt x="6837823" y="2512961"/>
                  <a:pt x="6838158" y="2513640"/>
                  <a:pt x="6838494" y="2514318"/>
                </a:cubicBezTo>
                <a:cubicBezTo>
                  <a:pt x="6846991" y="2534324"/>
                  <a:pt x="6855486" y="2554328"/>
                  <a:pt x="6863982" y="2574334"/>
                </a:cubicBezTo>
                <a:lnTo>
                  <a:pt x="6862893" y="2579877"/>
                </a:lnTo>
                <a:cubicBezTo>
                  <a:pt x="6862738" y="2585644"/>
                  <a:pt x="6863120" y="2603388"/>
                  <a:pt x="6863047" y="2608928"/>
                </a:cubicBezTo>
                <a:lnTo>
                  <a:pt x="6862462" y="2613111"/>
                </a:lnTo>
                <a:lnTo>
                  <a:pt x="6854084" y="2621996"/>
                </a:lnTo>
                <a:lnTo>
                  <a:pt x="6856559" y="2634265"/>
                </a:lnTo>
                <a:lnTo>
                  <a:pt x="6847985" y="2647237"/>
                </a:lnTo>
                <a:cubicBezTo>
                  <a:pt x="6850226" y="2648158"/>
                  <a:pt x="6852294" y="2649356"/>
                  <a:pt x="6854115" y="2650786"/>
                </a:cubicBezTo>
                <a:lnTo>
                  <a:pt x="6859942" y="2661993"/>
                </a:lnTo>
                <a:lnTo>
                  <a:pt x="6851884" y="2670949"/>
                </a:lnTo>
                <a:cubicBezTo>
                  <a:pt x="6864376" y="2672007"/>
                  <a:pt x="6849871" y="2681695"/>
                  <a:pt x="6846115" y="2690255"/>
                </a:cubicBezTo>
                <a:lnTo>
                  <a:pt x="6846964" y="2695683"/>
                </a:lnTo>
                <a:lnTo>
                  <a:pt x="6836011" y="2713964"/>
                </a:lnTo>
                <a:lnTo>
                  <a:pt x="6830478" y="2730175"/>
                </a:lnTo>
                <a:lnTo>
                  <a:pt x="6841091" y="2763497"/>
                </a:lnTo>
                <a:lnTo>
                  <a:pt x="6803520" y="3051539"/>
                </a:lnTo>
                <a:cubicBezTo>
                  <a:pt x="6790420" y="3165645"/>
                  <a:pt x="6749912" y="3216611"/>
                  <a:pt x="6733280" y="3335396"/>
                </a:cubicBezTo>
                <a:lnTo>
                  <a:pt x="6735884" y="3456509"/>
                </a:lnTo>
                <a:lnTo>
                  <a:pt x="6715764" y="3531827"/>
                </a:lnTo>
                <a:lnTo>
                  <a:pt x="6730329" y="3570877"/>
                </a:lnTo>
                <a:lnTo>
                  <a:pt x="6727426" y="3583849"/>
                </a:lnTo>
                <a:lnTo>
                  <a:pt x="6718706" y="3592763"/>
                </a:lnTo>
                <a:cubicBezTo>
                  <a:pt x="6707946" y="3613948"/>
                  <a:pt x="6713985" y="3641245"/>
                  <a:pt x="6693350" y="3653485"/>
                </a:cubicBezTo>
                <a:cubicBezTo>
                  <a:pt x="6688922" y="3659316"/>
                  <a:pt x="6686748" y="3664985"/>
                  <a:pt x="6685983" y="3670528"/>
                </a:cubicBezTo>
                <a:lnTo>
                  <a:pt x="6687033" y="3685990"/>
                </a:lnTo>
                <a:lnTo>
                  <a:pt x="6693711" y="3690283"/>
                </a:lnTo>
                <a:lnTo>
                  <a:pt x="6690843" y="3699787"/>
                </a:lnTo>
                <a:cubicBezTo>
                  <a:pt x="6691104" y="3700686"/>
                  <a:pt x="6691364" y="3701586"/>
                  <a:pt x="6691624" y="3702486"/>
                </a:cubicBezTo>
                <a:cubicBezTo>
                  <a:pt x="6693145" y="3707637"/>
                  <a:pt x="6694400" y="3712728"/>
                  <a:pt x="6694549" y="3717784"/>
                </a:cubicBezTo>
                <a:cubicBezTo>
                  <a:pt x="6659304" y="3711701"/>
                  <a:pt x="6689997" y="3759789"/>
                  <a:pt x="6662489" y="3746229"/>
                </a:cubicBezTo>
                <a:cubicBezTo>
                  <a:pt x="6642637" y="3780750"/>
                  <a:pt x="6605132" y="3867558"/>
                  <a:pt x="6575429" y="3924910"/>
                </a:cubicBezTo>
                <a:lnTo>
                  <a:pt x="6538994" y="3989353"/>
                </a:lnTo>
                <a:lnTo>
                  <a:pt x="6535698" y="4033899"/>
                </a:lnTo>
                <a:cubicBezTo>
                  <a:pt x="6533175" y="4070470"/>
                  <a:pt x="6530536" y="4110146"/>
                  <a:pt x="6527053" y="4142250"/>
                </a:cubicBezTo>
                <a:cubicBezTo>
                  <a:pt x="6519001" y="4200007"/>
                  <a:pt x="6506061" y="4278998"/>
                  <a:pt x="6501843" y="4329442"/>
                </a:cubicBezTo>
                <a:cubicBezTo>
                  <a:pt x="6495642" y="4381764"/>
                  <a:pt x="6492993" y="4433012"/>
                  <a:pt x="6489841" y="4456184"/>
                </a:cubicBezTo>
                <a:lnTo>
                  <a:pt x="6482918" y="4468478"/>
                </a:lnTo>
                <a:lnTo>
                  <a:pt x="6484019" y="4469862"/>
                </a:lnTo>
                <a:cubicBezTo>
                  <a:pt x="6485835" y="4476321"/>
                  <a:pt x="6484493" y="4480555"/>
                  <a:pt x="6481759" y="4483797"/>
                </a:cubicBezTo>
                <a:lnTo>
                  <a:pt x="6477370" y="4487091"/>
                </a:lnTo>
                <a:lnTo>
                  <a:pt x="6474598" y="4496728"/>
                </a:lnTo>
                <a:lnTo>
                  <a:pt x="6465848" y="4515918"/>
                </a:lnTo>
                <a:cubicBezTo>
                  <a:pt x="6466332" y="4517049"/>
                  <a:pt x="6466814" y="4518182"/>
                  <a:pt x="6467296" y="4519316"/>
                </a:cubicBezTo>
                <a:lnTo>
                  <a:pt x="6458903" y="4547957"/>
                </a:lnTo>
                <a:lnTo>
                  <a:pt x="6460248" y="4548262"/>
                </a:lnTo>
                <a:cubicBezTo>
                  <a:pt x="6463078" y="4549595"/>
                  <a:pt x="6464808" y="4551811"/>
                  <a:pt x="6464276" y="4555939"/>
                </a:cubicBezTo>
                <a:cubicBezTo>
                  <a:pt x="6486531" y="4548276"/>
                  <a:pt x="6472165" y="4557977"/>
                  <a:pt x="6468635" y="4570815"/>
                </a:cubicBezTo>
                <a:cubicBezTo>
                  <a:pt x="6472622" y="4583801"/>
                  <a:pt x="6485098" y="4622347"/>
                  <a:pt x="6488206" y="4633846"/>
                </a:cubicBezTo>
                <a:lnTo>
                  <a:pt x="6487272" y="4639816"/>
                </a:lnTo>
                <a:lnTo>
                  <a:pt x="6487581" y="4639923"/>
                </a:lnTo>
                <a:cubicBezTo>
                  <a:pt x="6488082" y="4641190"/>
                  <a:pt x="6488037" y="4643141"/>
                  <a:pt x="6487249" y="4646192"/>
                </a:cubicBezTo>
                <a:lnTo>
                  <a:pt x="6485570" y="4650706"/>
                </a:lnTo>
                <a:lnTo>
                  <a:pt x="6483759" y="4662290"/>
                </a:lnTo>
                <a:cubicBezTo>
                  <a:pt x="6484278" y="4663587"/>
                  <a:pt x="6484797" y="4664883"/>
                  <a:pt x="6485315" y="4666180"/>
                </a:cubicBezTo>
                <a:lnTo>
                  <a:pt x="6489077" y="4667585"/>
                </a:lnTo>
                <a:lnTo>
                  <a:pt x="6488467" y="4668660"/>
                </a:lnTo>
                <a:cubicBezTo>
                  <a:pt x="6480300" y="4676831"/>
                  <a:pt x="6469898" y="4679345"/>
                  <a:pt x="6496179" y="4689807"/>
                </a:cubicBezTo>
                <a:cubicBezTo>
                  <a:pt x="6482141" y="4708535"/>
                  <a:pt x="6498545" y="4712235"/>
                  <a:pt x="6500957" y="4737890"/>
                </a:cubicBezTo>
                <a:cubicBezTo>
                  <a:pt x="6488706" y="4748600"/>
                  <a:pt x="6491350" y="4757223"/>
                  <a:pt x="6498641" y="4765657"/>
                </a:cubicBezTo>
                <a:cubicBezTo>
                  <a:pt x="6490164" y="4790618"/>
                  <a:pt x="6498852" y="4813399"/>
                  <a:pt x="6497829" y="4841463"/>
                </a:cubicBezTo>
                <a:lnTo>
                  <a:pt x="6521578" y="4969863"/>
                </a:lnTo>
                <a:lnTo>
                  <a:pt x="6518695" y="4974028"/>
                </a:lnTo>
                <a:cubicBezTo>
                  <a:pt x="6517064" y="4976933"/>
                  <a:pt x="6516439" y="4978909"/>
                  <a:pt x="6516513" y="4980318"/>
                </a:cubicBezTo>
                <a:lnTo>
                  <a:pt x="6516763" y="4980501"/>
                </a:lnTo>
                <a:lnTo>
                  <a:pt x="6514121" y="4986338"/>
                </a:lnTo>
                <a:lnTo>
                  <a:pt x="6511173" y="4991296"/>
                </a:lnTo>
                <a:cubicBezTo>
                  <a:pt x="6522961" y="5019829"/>
                  <a:pt x="6534748" y="5048361"/>
                  <a:pt x="6546537" y="5076895"/>
                </a:cubicBezTo>
                <a:lnTo>
                  <a:pt x="6544581" y="5081568"/>
                </a:lnTo>
                <a:cubicBezTo>
                  <a:pt x="6543589" y="5084748"/>
                  <a:pt x="6543387" y="5086810"/>
                  <a:pt x="6543750" y="5088173"/>
                </a:cubicBezTo>
                <a:lnTo>
                  <a:pt x="6544034" y="5088300"/>
                </a:lnTo>
                <a:lnTo>
                  <a:pt x="6542660" y="5094558"/>
                </a:lnTo>
                <a:cubicBezTo>
                  <a:pt x="6539647" y="5105196"/>
                  <a:pt x="6536055" y="5115626"/>
                  <a:pt x="6532096" y="5125620"/>
                </a:cubicBezTo>
                <a:cubicBezTo>
                  <a:pt x="6530494" y="5154527"/>
                  <a:pt x="6532737" y="5244020"/>
                  <a:pt x="6533049" y="5268004"/>
                </a:cubicBezTo>
                <a:cubicBezTo>
                  <a:pt x="6533356" y="5268513"/>
                  <a:pt x="6533664" y="5269021"/>
                  <a:pt x="6533970" y="5269530"/>
                </a:cubicBezTo>
                <a:lnTo>
                  <a:pt x="6502603" y="5390941"/>
                </a:lnTo>
                <a:cubicBezTo>
                  <a:pt x="6487576" y="5438194"/>
                  <a:pt x="6471524" y="5465286"/>
                  <a:pt x="6477660" y="5539927"/>
                </a:cubicBezTo>
                <a:cubicBezTo>
                  <a:pt x="6469926" y="5610775"/>
                  <a:pt x="6461800" y="5740573"/>
                  <a:pt x="6456458" y="5791594"/>
                </a:cubicBezTo>
                <a:cubicBezTo>
                  <a:pt x="6427890" y="5787060"/>
                  <a:pt x="6468179" y="5849672"/>
                  <a:pt x="6434556" y="5855206"/>
                </a:cubicBezTo>
                <a:cubicBezTo>
                  <a:pt x="6436026" y="5860240"/>
                  <a:pt x="6415712" y="5868910"/>
                  <a:pt x="6418454" y="5873582"/>
                </a:cubicBezTo>
                <a:cubicBezTo>
                  <a:pt x="6418927" y="5874401"/>
                  <a:pt x="6419401" y="5875218"/>
                  <a:pt x="6419875" y="5876037"/>
                </a:cubicBezTo>
                <a:lnTo>
                  <a:pt x="6419775" y="5886534"/>
                </a:lnTo>
                <a:lnTo>
                  <a:pt x="6426971" y="5888644"/>
                </a:lnTo>
                <a:cubicBezTo>
                  <a:pt x="6428647" y="5893707"/>
                  <a:pt x="6430322" y="5898769"/>
                  <a:pt x="6431999" y="5903832"/>
                </a:cubicBezTo>
                <a:cubicBezTo>
                  <a:pt x="6432764" y="5909651"/>
                  <a:pt x="6432285" y="5916068"/>
                  <a:pt x="6429798" y="5923391"/>
                </a:cubicBezTo>
                <a:cubicBezTo>
                  <a:pt x="6409104" y="5948880"/>
                  <a:pt x="6461339" y="5981626"/>
                  <a:pt x="6434072" y="6013205"/>
                </a:cubicBezTo>
                <a:cubicBezTo>
                  <a:pt x="6426624" y="6024901"/>
                  <a:pt x="6431095" y="6066777"/>
                  <a:pt x="6439333" y="6074018"/>
                </a:cubicBezTo>
                <a:cubicBezTo>
                  <a:pt x="6439795" y="6081731"/>
                  <a:pt x="6453428" y="6126985"/>
                  <a:pt x="6463083" y="6130837"/>
                </a:cubicBezTo>
                <a:cubicBezTo>
                  <a:pt x="6474368" y="6137057"/>
                  <a:pt x="6441750" y="6156330"/>
                  <a:pt x="6457360" y="6152982"/>
                </a:cubicBezTo>
                <a:cubicBezTo>
                  <a:pt x="6454563" y="6186619"/>
                  <a:pt x="6497804" y="6191636"/>
                  <a:pt x="6495529" y="6221100"/>
                </a:cubicBezTo>
                <a:cubicBezTo>
                  <a:pt x="6497396" y="6222126"/>
                  <a:pt x="6506682" y="6257468"/>
                  <a:pt x="6514948" y="6287550"/>
                </a:cubicBezTo>
                <a:cubicBezTo>
                  <a:pt x="6523215" y="6317632"/>
                  <a:pt x="6556102" y="6391312"/>
                  <a:pt x="6545124" y="6401595"/>
                </a:cubicBezTo>
                <a:cubicBezTo>
                  <a:pt x="6546214" y="6423902"/>
                  <a:pt x="6525024" y="6432919"/>
                  <a:pt x="6525833" y="6487110"/>
                </a:cubicBezTo>
                <a:cubicBezTo>
                  <a:pt x="6547115" y="6574474"/>
                  <a:pt x="6547900" y="6553611"/>
                  <a:pt x="6554825" y="6588589"/>
                </a:cubicBezTo>
                <a:cubicBezTo>
                  <a:pt x="6583783" y="6637976"/>
                  <a:pt x="6536155" y="6687723"/>
                  <a:pt x="6601569" y="6769963"/>
                </a:cubicBezTo>
                <a:cubicBezTo>
                  <a:pt x="6623036" y="6819284"/>
                  <a:pt x="6607516" y="6817955"/>
                  <a:pt x="6620945" y="6835814"/>
                </a:cubicBezTo>
                <a:lnTo>
                  <a:pt x="6625906" y="6858000"/>
                </a:lnTo>
                <a:lnTo>
                  <a:pt x="723901" y="6858000"/>
                </a:lnTo>
                <a:lnTo>
                  <a:pt x="50196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839797-16BB-2911-96EB-719A7595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0"/>
            <a:ext cx="5562706" cy="1426234"/>
          </a:xfrm>
        </p:spPr>
        <p:txBody>
          <a:bodyPr>
            <a:normAutofit/>
          </a:bodyPr>
          <a:lstStyle/>
          <a:p>
            <a:r>
              <a:rPr lang="it-IT" b="1" dirty="0">
                <a:ea typeface="Batang"/>
              </a:rPr>
              <a:t>I vari tipi di memora</a:t>
            </a:r>
            <a:endParaRPr lang="it-IT" b="1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6FB31B-0754-9738-E25B-98B5FAEF6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357567"/>
            <a:ext cx="5216426" cy="389681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it-IT" dirty="0">
                <a:ea typeface="Batang"/>
              </a:rPr>
              <a:t>Sono presenti diversi </a:t>
            </a:r>
            <a:r>
              <a:rPr lang="it-IT">
                <a:ea typeface="Batang"/>
              </a:rPr>
              <a:t>tipi</a:t>
            </a:r>
            <a:r>
              <a:rPr lang="it-IT" dirty="0">
                <a:ea typeface="Batang"/>
              </a:rPr>
              <a:t> di memora, classificati in base a velocità e capacità e sono:</a:t>
            </a:r>
            <a:endParaRPr lang="it-IT" dirty="0"/>
          </a:p>
          <a:p>
            <a:pPr marL="342900" indent="-342900"/>
            <a:r>
              <a:rPr lang="it-IT" dirty="0">
                <a:ea typeface="Batang"/>
              </a:rPr>
              <a:t>Nastro</a:t>
            </a:r>
            <a:endParaRPr lang="it-IT" dirty="0"/>
          </a:p>
          <a:p>
            <a:r>
              <a:rPr lang="it-IT" dirty="0">
                <a:ea typeface="Batang"/>
              </a:rPr>
              <a:t>Disco</a:t>
            </a:r>
            <a:endParaRPr lang="it-IT" dirty="0"/>
          </a:p>
          <a:p>
            <a:r>
              <a:rPr lang="it-IT" dirty="0">
                <a:ea typeface="Batang"/>
              </a:rPr>
              <a:t>Memoria principale</a:t>
            </a:r>
          </a:p>
          <a:p>
            <a:r>
              <a:rPr lang="it-IT" dirty="0">
                <a:ea typeface="Batang"/>
              </a:rPr>
              <a:t>Cache</a:t>
            </a:r>
            <a:endParaRPr lang="it-IT" dirty="0"/>
          </a:p>
          <a:p>
            <a:r>
              <a:rPr lang="it-IT" dirty="0">
                <a:ea typeface="Batang"/>
              </a:rPr>
              <a:t>Registri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pic>
        <p:nvPicPr>
          <p:cNvPr id="5" name="Picture 4" descr="Differenza tra memoria CPU, memoria RAM e memoria di massa | Informatica e  Ingegneria Online">
            <a:extLst>
              <a:ext uri="{FF2B5EF4-FFF2-40B4-BE49-F238E27FC236}">
                <a16:creationId xmlns:a16="http://schemas.microsoft.com/office/drawing/2014/main" id="{06BBAFC4-4445-21FE-2E0F-93D4F3EC9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784" y="2325286"/>
            <a:ext cx="3951737" cy="222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6287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3AADCE-0360-B0B0-DBA1-34559E2E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Caricamento del programma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EC1D03-1B90-B94E-FCAB-BC1103A01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642" y="1895808"/>
            <a:ext cx="2922526" cy="4984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b="1" dirty="0">
                <a:ea typeface="Batang"/>
              </a:rPr>
              <a:t>Coda di entrata</a:t>
            </a:r>
            <a:endParaRPr lang="it-IT" sz="18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667529-D321-4BC2-42F3-E8BA2FAEF393}"/>
              </a:ext>
            </a:extLst>
          </p:cNvPr>
          <p:cNvSpPr txBox="1"/>
          <p:nvPr/>
        </p:nvSpPr>
        <p:spPr>
          <a:xfrm>
            <a:off x="5955631" y="189497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Processi pronti(RL)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5015424-3A17-1280-99BF-E332CD9BB7B1}"/>
              </a:ext>
            </a:extLst>
          </p:cNvPr>
          <p:cNvSpPr txBox="1"/>
          <p:nvPr/>
        </p:nvSpPr>
        <p:spPr>
          <a:xfrm>
            <a:off x="1724526" y="2677026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I programmi che stanno per diventare processi</a:t>
            </a:r>
          </a:p>
        </p:txBody>
      </p:sp>
    </p:spTree>
    <p:extLst>
      <p:ext uri="{BB962C8B-B14F-4D97-AF65-F5344CB8AC3E}">
        <p14:creationId xmlns:p14="http://schemas.microsoft.com/office/powerpoint/2010/main" val="90324068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2A0D5-B12A-3AAB-025E-84645C890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E05AA9-6D85-EF50-8210-083A12E1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Caricamento del programma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C8277B-EC08-B578-A8DB-FBE2B0F10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642" y="1895808"/>
            <a:ext cx="2922526" cy="4984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b="1" dirty="0">
                <a:ea typeface="Batang"/>
              </a:rPr>
              <a:t>Coda di entrata</a:t>
            </a:r>
            <a:endParaRPr lang="it-IT" sz="18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BEC9974-A6A9-2246-FF90-E7E6922A52E5}"/>
              </a:ext>
            </a:extLst>
          </p:cNvPr>
          <p:cNvSpPr txBox="1"/>
          <p:nvPr/>
        </p:nvSpPr>
        <p:spPr>
          <a:xfrm>
            <a:off x="5955631" y="189497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Processi pronti(RL)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4E1E4FE-230F-9B78-A788-44407888A067}"/>
              </a:ext>
            </a:extLst>
          </p:cNvPr>
          <p:cNvSpPr txBox="1"/>
          <p:nvPr/>
        </p:nvSpPr>
        <p:spPr>
          <a:xfrm>
            <a:off x="5955631" y="2656973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I programmi che stanno per diventare processi</a:t>
            </a:r>
          </a:p>
        </p:txBody>
      </p:sp>
    </p:spTree>
    <p:extLst>
      <p:ext uri="{BB962C8B-B14F-4D97-AF65-F5344CB8AC3E}">
        <p14:creationId xmlns:p14="http://schemas.microsoft.com/office/powerpoint/2010/main" val="721669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C8D715-78DE-8E38-92F5-D32ABD4B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RILOCAZIONE STATICA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BCB00E-F960-C232-5F0B-ACBD83F1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92156"/>
            <a:ext cx="531567" cy="19016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>
                <a:ea typeface="Batang"/>
              </a:rPr>
              <a:t>O</a:t>
            </a:r>
            <a:endParaRPr lang="it-IT"/>
          </a:p>
          <a:p>
            <a:pPr marL="0" indent="0">
              <a:buNone/>
            </a:pPr>
            <a:r>
              <a:rPr lang="it-IT" dirty="0">
                <a:ea typeface="Batang"/>
              </a:rPr>
              <a:t>1</a:t>
            </a:r>
          </a:p>
          <a:p>
            <a:pPr marL="0" indent="0">
              <a:buNone/>
            </a:pPr>
            <a:r>
              <a:rPr lang="it-IT">
                <a:ea typeface="Batang"/>
              </a:rPr>
              <a:t>2</a:t>
            </a:r>
          </a:p>
          <a:p>
            <a:pPr marL="0" indent="0">
              <a:buNone/>
            </a:pPr>
            <a:r>
              <a:rPr lang="it-IT" dirty="0"/>
              <a:t>3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3C0DC87-EA82-1C93-4DB6-13D6D7D1BBBC}"/>
              </a:ext>
            </a:extLst>
          </p:cNvPr>
          <p:cNvSpPr txBox="1"/>
          <p:nvPr/>
        </p:nvSpPr>
        <p:spPr>
          <a:xfrm>
            <a:off x="1678328" y="2189544"/>
            <a:ext cx="7176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A=5;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1616629-CCCC-EEF0-FBAC-D37985659AE3}"/>
              </a:ext>
            </a:extLst>
          </p:cNvPr>
          <p:cNvSpPr txBox="1"/>
          <p:nvPr/>
        </p:nvSpPr>
        <p:spPr>
          <a:xfrm>
            <a:off x="1678328" y="2700760"/>
            <a:ext cx="7176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B=7;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1917338-780A-9F71-B705-550D6B11897A}"/>
              </a:ext>
            </a:extLst>
          </p:cNvPr>
          <p:cNvSpPr txBox="1"/>
          <p:nvPr/>
        </p:nvSpPr>
        <p:spPr>
          <a:xfrm>
            <a:off x="1678329" y="3067290"/>
            <a:ext cx="14989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Somma=A+B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8CBAF58-907C-DC31-92B9-909FFB76F570}"/>
              </a:ext>
            </a:extLst>
          </p:cNvPr>
          <p:cNvSpPr txBox="1"/>
          <p:nvPr/>
        </p:nvSpPr>
        <p:spPr>
          <a:xfrm>
            <a:off x="1678329" y="352063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Moltiplicazione=A*B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32DF0AA-DD8F-A7D9-3249-D877329124DA}"/>
              </a:ext>
            </a:extLst>
          </p:cNvPr>
          <p:cNvSpPr txBox="1"/>
          <p:nvPr/>
        </p:nvSpPr>
        <p:spPr>
          <a:xfrm>
            <a:off x="1061012" y="171691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Indirizzi relativi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54E174E-F6F3-5799-364A-315D246E62CF}"/>
              </a:ext>
            </a:extLst>
          </p:cNvPr>
          <p:cNvSpPr txBox="1"/>
          <p:nvPr/>
        </p:nvSpPr>
        <p:spPr>
          <a:xfrm>
            <a:off x="6954455" y="171691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Memoria fisica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2C12408-0ED9-1DC3-A901-27BE1CD40287}"/>
              </a:ext>
            </a:extLst>
          </p:cNvPr>
          <p:cNvSpPr txBox="1"/>
          <p:nvPr/>
        </p:nvSpPr>
        <p:spPr>
          <a:xfrm>
            <a:off x="8459165" y="2083444"/>
            <a:ext cx="71377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#100</a:t>
            </a:r>
          </a:p>
          <a:p>
            <a:endParaRPr lang="it-IT" dirty="0"/>
          </a:p>
          <a:p>
            <a:r>
              <a:rPr lang="it-IT" dirty="0"/>
              <a:t>#101</a:t>
            </a:r>
          </a:p>
          <a:p>
            <a:endParaRPr lang="it-IT" dirty="0"/>
          </a:p>
          <a:p>
            <a:r>
              <a:rPr lang="it-IT"/>
              <a:t>#102</a:t>
            </a:r>
            <a:endParaRPr lang="it-IT" dirty="0"/>
          </a:p>
          <a:p>
            <a:endParaRPr lang="it-IT" dirty="0"/>
          </a:p>
          <a:p>
            <a:r>
              <a:rPr lang="it-IT" dirty="0"/>
              <a:t>#103</a:t>
            </a:r>
          </a:p>
        </p:txBody>
      </p:sp>
    </p:spTree>
    <p:extLst>
      <p:ext uri="{BB962C8B-B14F-4D97-AF65-F5344CB8AC3E}">
        <p14:creationId xmlns:p14="http://schemas.microsoft.com/office/powerpoint/2010/main" val="897504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E5D4-E446-E58C-F146-9DD1D7C5F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86B595-4875-CF5E-E519-07646B85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RILOCAZIONE STATICA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C70CBB-2278-99DC-E4C6-0D2518CDD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92156"/>
            <a:ext cx="531567" cy="19016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dirty="0">
                <a:ea typeface="Batang"/>
              </a:rPr>
              <a:t>O</a:t>
            </a:r>
            <a:endParaRPr lang="it-IT" dirty="0"/>
          </a:p>
          <a:p>
            <a:pPr marL="0" indent="0">
              <a:buNone/>
            </a:pPr>
            <a:r>
              <a:rPr lang="it-IT" dirty="0">
                <a:ea typeface="Batang"/>
              </a:rPr>
              <a:t>1</a:t>
            </a:r>
          </a:p>
          <a:p>
            <a:pPr marL="0" indent="0">
              <a:buNone/>
            </a:pPr>
            <a:r>
              <a:rPr lang="it-IT" dirty="0">
                <a:ea typeface="Batang"/>
              </a:rPr>
              <a:t>2</a:t>
            </a:r>
          </a:p>
          <a:p>
            <a:pPr marL="0" indent="0">
              <a:buNone/>
            </a:pPr>
            <a:r>
              <a:rPr lang="it-IT" dirty="0"/>
              <a:t>3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5BA2E59-8BDC-96F0-6314-4B6EA65A9FAB}"/>
              </a:ext>
            </a:extLst>
          </p:cNvPr>
          <p:cNvSpPr txBox="1"/>
          <p:nvPr/>
        </p:nvSpPr>
        <p:spPr>
          <a:xfrm>
            <a:off x="7446379" y="2083443"/>
            <a:ext cx="7176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A=5;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414BAEA-F606-BCB7-AB27-C91567C3B209}"/>
              </a:ext>
            </a:extLst>
          </p:cNvPr>
          <p:cNvSpPr txBox="1"/>
          <p:nvPr/>
        </p:nvSpPr>
        <p:spPr>
          <a:xfrm>
            <a:off x="7446379" y="2700760"/>
            <a:ext cx="7176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B=7;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FBE21D1-6FE6-12F1-6791-C7B60D6B3787}"/>
              </a:ext>
            </a:extLst>
          </p:cNvPr>
          <p:cNvSpPr txBox="1"/>
          <p:nvPr/>
        </p:nvSpPr>
        <p:spPr>
          <a:xfrm>
            <a:off x="6829063" y="3250556"/>
            <a:ext cx="14989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Somma=A+B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6F25CBF-2F69-37E8-49EE-0543B1CA671E}"/>
              </a:ext>
            </a:extLst>
          </p:cNvPr>
          <p:cNvSpPr txBox="1"/>
          <p:nvPr/>
        </p:nvSpPr>
        <p:spPr>
          <a:xfrm>
            <a:off x="6202101" y="372319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Moltiplicazione=A*B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02032B-89FF-DE60-9872-6C0298FE814A}"/>
              </a:ext>
            </a:extLst>
          </p:cNvPr>
          <p:cNvSpPr txBox="1"/>
          <p:nvPr/>
        </p:nvSpPr>
        <p:spPr>
          <a:xfrm>
            <a:off x="1061012" y="171691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Indirizzi relativi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7BBB7F5-2FE6-2B0A-3086-9439EF373DC3}"/>
              </a:ext>
            </a:extLst>
          </p:cNvPr>
          <p:cNvSpPr txBox="1"/>
          <p:nvPr/>
        </p:nvSpPr>
        <p:spPr>
          <a:xfrm>
            <a:off x="6954455" y="171691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Memoria fisica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0585FE0-88F0-ED0D-8DF0-9F7E0354993C}"/>
              </a:ext>
            </a:extLst>
          </p:cNvPr>
          <p:cNvSpPr txBox="1"/>
          <p:nvPr/>
        </p:nvSpPr>
        <p:spPr>
          <a:xfrm>
            <a:off x="8459165" y="2083444"/>
            <a:ext cx="71377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#100</a:t>
            </a:r>
          </a:p>
          <a:p>
            <a:endParaRPr lang="it-IT" dirty="0"/>
          </a:p>
          <a:p>
            <a:r>
              <a:rPr lang="it-IT" dirty="0"/>
              <a:t>#101</a:t>
            </a:r>
          </a:p>
          <a:p>
            <a:endParaRPr lang="it-IT" dirty="0"/>
          </a:p>
          <a:p>
            <a:r>
              <a:rPr lang="it-IT"/>
              <a:t>#102</a:t>
            </a:r>
            <a:endParaRPr lang="it-IT" dirty="0"/>
          </a:p>
          <a:p>
            <a:endParaRPr lang="it-IT" dirty="0"/>
          </a:p>
          <a:p>
            <a:r>
              <a:rPr lang="it-IT" dirty="0"/>
              <a:t>#103</a:t>
            </a:r>
          </a:p>
        </p:txBody>
      </p:sp>
    </p:spTree>
    <p:extLst>
      <p:ext uri="{BB962C8B-B14F-4D97-AF65-F5344CB8AC3E}">
        <p14:creationId xmlns:p14="http://schemas.microsoft.com/office/powerpoint/2010/main" val="3269116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EF23B7-E42C-CDAD-CE04-DF4A6A12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Rilocazione dinamica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F10391-5D4E-3999-8FB1-17F6128BF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1825624"/>
            <a:ext cx="2314651" cy="406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b="1" err="1">
                <a:ea typeface="Batang"/>
              </a:rPr>
              <a:t>Inidirizzi</a:t>
            </a:r>
            <a:r>
              <a:rPr lang="it-IT" sz="1800" b="1" dirty="0">
                <a:ea typeface="Batang"/>
              </a:rPr>
              <a:t> relativi</a:t>
            </a:r>
            <a:endParaRPr lang="it-IT" sz="18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19834C2-1544-6933-DBBD-4FE2F734AB9A}"/>
              </a:ext>
            </a:extLst>
          </p:cNvPr>
          <p:cNvSpPr txBox="1"/>
          <p:nvPr/>
        </p:nvSpPr>
        <p:spPr>
          <a:xfrm>
            <a:off x="6093644" y="182514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Memoria fisica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71516A5-085A-FD52-2559-0F65E747D116}"/>
              </a:ext>
            </a:extLst>
          </p:cNvPr>
          <p:cNvSpPr txBox="1"/>
          <p:nvPr/>
        </p:nvSpPr>
        <p:spPr>
          <a:xfrm>
            <a:off x="1052488" y="2360360"/>
            <a:ext cx="625548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dirty="0"/>
              <a:t>0</a:t>
            </a:r>
          </a:p>
          <a:p>
            <a:endParaRPr lang="it-IT" sz="2000" dirty="0"/>
          </a:p>
          <a:p>
            <a:r>
              <a:rPr lang="it-IT" sz="2000" dirty="0"/>
              <a:t>1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2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3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B6722F-6812-04EB-6E81-8DD0B65136F3}"/>
              </a:ext>
            </a:extLst>
          </p:cNvPr>
          <p:cNvSpPr txBox="1"/>
          <p:nvPr/>
        </p:nvSpPr>
        <p:spPr>
          <a:xfrm>
            <a:off x="1672273" y="2364509"/>
            <a:ext cx="696433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A=5;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06A54C1-BEC2-376F-1F73-52CD04F9392E}"/>
              </a:ext>
            </a:extLst>
          </p:cNvPr>
          <p:cNvSpPr txBox="1"/>
          <p:nvPr/>
        </p:nvSpPr>
        <p:spPr>
          <a:xfrm>
            <a:off x="1673731" y="306022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B=7;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9FC661-D959-4777-D17F-E1D21C713909}"/>
              </a:ext>
            </a:extLst>
          </p:cNvPr>
          <p:cNvSpPr txBox="1"/>
          <p:nvPr/>
        </p:nvSpPr>
        <p:spPr>
          <a:xfrm>
            <a:off x="1672272" y="361282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Somma=A+B;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8B042DD-8B5A-D3E8-44B8-005942AA59C7}"/>
              </a:ext>
            </a:extLst>
          </p:cNvPr>
          <p:cNvSpPr txBox="1"/>
          <p:nvPr/>
        </p:nvSpPr>
        <p:spPr>
          <a:xfrm>
            <a:off x="1585462" y="424494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Moltiplicazione=A*B;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215EFBD-EDBA-3E73-0FF1-F5C96A6807E9}"/>
              </a:ext>
            </a:extLst>
          </p:cNvPr>
          <p:cNvSpPr txBox="1"/>
          <p:nvPr/>
        </p:nvSpPr>
        <p:spPr>
          <a:xfrm>
            <a:off x="7778030" y="2235192"/>
            <a:ext cx="27432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#234</a:t>
            </a:r>
          </a:p>
          <a:p>
            <a:endParaRPr lang="it-IT" dirty="0"/>
          </a:p>
          <a:p>
            <a:r>
              <a:rPr lang="it-IT" dirty="0"/>
              <a:t>#235</a:t>
            </a:r>
          </a:p>
          <a:p>
            <a:endParaRPr lang="it-IT" dirty="0"/>
          </a:p>
          <a:p>
            <a:r>
              <a:rPr lang="it-IT" dirty="0"/>
              <a:t>#236</a:t>
            </a:r>
          </a:p>
          <a:p>
            <a:endParaRPr lang="it-IT" dirty="0"/>
          </a:p>
          <a:p>
            <a:r>
              <a:rPr lang="it-IT"/>
              <a:t>#237</a:t>
            </a:r>
          </a:p>
          <a:p>
            <a:endParaRPr lang="it-IT" dirty="0"/>
          </a:p>
          <a:p>
            <a:r>
              <a:rPr lang="it-IT" dirty="0"/>
              <a:t>#238</a:t>
            </a:r>
          </a:p>
          <a:p>
            <a:endParaRPr lang="it-IT" dirty="0"/>
          </a:p>
          <a:p>
            <a:r>
              <a:rPr lang="it-IT" dirty="0"/>
              <a:t>#239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DD5B22D-B02C-0F18-29B9-71342CF5FDEF}"/>
              </a:ext>
            </a:extLst>
          </p:cNvPr>
          <p:cNvSpPr txBox="1"/>
          <p:nvPr/>
        </p:nvSpPr>
        <p:spPr>
          <a:xfrm>
            <a:off x="6487543" y="2192012"/>
            <a:ext cx="10862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occupata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9203E21-F27E-1BC9-1A6D-77E4FEDF40A7}"/>
              </a:ext>
            </a:extLst>
          </p:cNvPr>
          <p:cNvSpPr txBox="1"/>
          <p:nvPr/>
        </p:nvSpPr>
        <p:spPr>
          <a:xfrm>
            <a:off x="6528592" y="4882003"/>
            <a:ext cx="1015410" cy="3746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occupata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AFA517-0DAD-6AB7-36F4-8CD0BB649C5F}"/>
              </a:ext>
            </a:extLst>
          </p:cNvPr>
          <p:cNvCxnSpPr/>
          <p:nvPr/>
        </p:nvCxnSpPr>
        <p:spPr>
          <a:xfrm flipH="1">
            <a:off x="8440730" y="2956560"/>
            <a:ext cx="1129990" cy="3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A549C9-B577-5907-48E1-CB955F73B085}"/>
              </a:ext>
            </a:extLst>
          </p:cNvPr>
          <p:cNvSpPr txBox="1"/>
          <p:nvPr/>
        </p:nvSpPr>
        <p:spPr>
          <a:xfrm>
            <a:off x="9714323" y="272511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Registro base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4C1EB4-59D7-9989-8FEF-BF804A9B1B03}"/>
              </a:ext>
            </a:extLst>
          </p:cNvPr>
          <p:cNvCxnSpPr>
            <a:cxnSpLocks/>
          </p:cNvCxnSpPr>
          <p:nvPr/>
        </p:nvCxnSpPr>
        <p:spPr>
          <a:xfrm flipH="1">
            <a:off x="8580120" y="4657121"/>
            <a:ext cx="1129990" cy="3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DBCAAAE-C22C-6983-7231-79ED70DCB71D}"/>
              </a:ext>
            </a:extLst>
          </p:cNvPr>
          <p:cNvSpPr txBox="1"/>
          <p:nvPr/>
        </p:nvSpPr>
        <p:spPr>
          <a:xfrm>
            <a:off x="9819143" y="447671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Registro </a:t>
            </a:r>
            <a:r>
              <a:rPr lang="en-US" dirty="0" err="1"/>
              <a:t>limi</a:t>
            </a:r>
            <a:r>
              <a:rPr lang="en-US" dirty="0"/>
              <a:t>te</a:t>
            </a:r>
          </a:p>
        </p:txBody>
      </p:sp>
    </p:spTree>
    <p:extLst>
      <p:ext uri="{BB962C8B-B14F-4D97-AF65-F5344CB8AC3E}">
        <p14:creationId xmlns:p14="http://schemas.microsoft.com/office/powerpoint/2010/main" val="23685151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16AAC-07D3-2A21-B519-256FF8F4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B58514-12B9-072A-D8C8-7B126E40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ea typeface="Batang"/>
              </a:rPr>
              <a:t>Rilocazione dinamica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31D11A-A28D-2D76-18B6-41AF7A59B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1825624"/>
            <a:ext cx="2314651" cy="406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b="1" err="1">
                <a:ea typeface="Batang"/>
              </a:rPr>
              <a:t>Inidirizzi</a:t>
            </a:r>
            <a:r>
              <a:rPr lang="it-IT" sz="1800" b="1" dirty="0">
                <a:ea typeface="Batang"/>
              </a:rPr>
              <a:t> relativi</a:t>
            </a:r>
            <a:endParaRPr lang="it-IT" sz="18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653E7A1-2610-4DEA-D006-36EB1AF1795C}"/>
              </a:ext>
            </a:extLst>
          </p:cNvPr>
          <p:cNvSpPr txBox="1"/>
          <p:nvPr/>
        </p:nvSpPr>
        <p:spPr>
          <a:xfrm>
            <a:off x="6093644" y="182514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Memoria fisica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4240857-0CFD-D932-09D2-78C6C813A29C}"/>
              </a:ext>
            </a:extLst>
          </p:cNvPr>
          <p:cNvSpPr txBox="1"/>
          <p:nvPr/>
        </p:nvSpPr>
        <p:spPr>
          <a:xfrm>
            <a:off x="1052488" y="2360360"/>
            <a:ext cx="625548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dirty="0"/>
              <a:t>0</a:t>
            </a:r>
          </a:p>
          <a:p>
            <a:endParaRPr lang="it-IT" sz="2000" dirty="0"/>
          </a:p>
          <a:p>
            <a:r>
              <a:rPr lang="it-IT" sz="2000" dirty="0"/>
              <a:t>1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2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3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8652163-C4F4-103E-9FFB-A6996E1A9A35}"/>
              </a:ext>
            </a:extLst>
          </p:cNvPr>
          <p:cNvSpPr txBox="1"/>
          <p:nvPr/>
        </p:nvSpPr>
        <p:spPr>
          <a:xfrm>
            <a:off x="6764663" y="2726924"/>
            <a:ext cx="696433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A=5;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07922D8-E9BE-B07F-F770-2441CBD35BCB}"/>
              </a:ext>
            </a:extLst>
          </p:cNvPr>
          <p:cNvSpPr txBox="1"/>
          <p:nvPr/>
        </p:nvSpPr>
        <p:spPr>
          <a:xfrm>
            <a:off x="6766121" y="330183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B=7;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5531F5F-D535-86CF-58B6-6D0860E72F77}"/>
              </a:ext>
            </a:extLst>
          </p:cNvPr>
          <p:cNvSpPr txBox="1"/>
          <p:nvPr/>
        </p:nvSpPr>
        <p:spPr>
          <a:xfrm>
            <a:off x="6262857" y="388231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Somma=A+B;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B5A8CB7-86BE-1E20-E8A2-7E37EAC90CB9}"/>
              </a:ext>
            </a:extLst>
          </p:cNvPr>
          <p:cNvSpPr txBox="1"/>
          <p:nvPr/>
        </p:nvSpPr>
        <p:spPr>
          <a:xfrm>
            <a:off x="5581316" y="443080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Moltiplicazione=A*B;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E798760-C208-C4E2-A11C-F40C77A2A37D}"/>
              </a:ext>
            </a:extLst>
          </p:cNvPr>
          <p:cNvSpPr txBox="1"/>
          <p:nvPr/>
        </p:nvSpPr>
        <p:spPr>
          <a:xfrm>
            <a:off x="7778030" y="2235192"/>
            <a:ext cx="27432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#234</a:t>
            </a:r>
          </a:p>
          <a:p>
            <a:endParaRPr lang="it-IT" dirty="0"/>
          </a:p>
          <a:p>
            <a:r>
              <a:rPr lang="it-IT" dirty="0"/>
              <a:t>#235</a:t>
            </a:r>
          </a:p>
          <a:p>
            <a:endParaRPr lang="it-IT" dirty="0"/>
          </a:p>
          <a:p>
            <a:r>
              <a:rPr lang="it-IT" dirty="0"/>
              <a:t>#236</a:t>
            </a:r>
          </a:p>
          <a:p>
            <a:endParaRPr lang="it-IT" dirty="0"/>
          </a:p>
          <a:p>
            <a:r>
              <a:rPr lang="it-IT"/>
              <a:t>#237</a:t>
            </a:r>
          </a:p>
          <a:p>
            <a:endParaRPr lang="it-IT" dirty="0"/>
          </a:p>
          <a:p>
            <a:r>
              <a:rPr lang="it-IT" dirty="0"/>
              <a:t>#238</a:t>
            </a:r>
          </a:p>
          <a:p>
            <a:endParaRPr lang="it-IT" dirty="0"/>
          </a:p>
          <a:p>
            <a:r>
              <a:rPr lang="it-IT" dirty="0"/>
              <a:t>#239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6B24182-1988-14F2-744E-03C285530AF2}"/>
              </a:ext>
            </a:extLst>
          </p:cNvPr>
          <p:cNvSpPr txBox="1"/>
          <p:nvPr/>
        </p:nvSpPr>
        <p:spPr>
          <a:xfrm>
            <a:off x="6487543" y="2192012"/>
            <a:ext cx="10862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occupata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39DD188-82AC-8D68-04C1-AD9B46A8D0CB}"/>
              </a:ext>
            </a:extLst>
          </p:cNvPr>
          <p:cNvSpPr txBox="1"/>
          <p:nvPr/>
        </p:nvSpPr>
        <p:spPr>
          <a:xfrm>
            <a:off x="6528592" y="4882003"/>
            <a:ext cx="1015410" cy="3746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dirty="0"/>
              <a:t>occupata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774B08-24BB-316E-7127-E846DCE8DC94}"/>
              </a:ext>
            </a:extLst>
          </p:cNvPr>
          <p:cNvCxnSpPr/>
          <p:nvPr/>
        </p:nvCxnSpPr>
        <p:spPr>
          <a:xfrm flipH="1">
            <a:off x="8440730" y="2956560"/>
            <a:ext cx="1129990" cy="3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E24127-CEC2-671C-5E8C-4445239669DE}"/>
              </a:ext>
            </a:extLst>
          </p:cNvPr>
          <p:cNvSpPr txBox="1"/>
          <p:nvPr/>
        </p:nvSpPr>
        <p:spPr>
          <a:xfrm>
            <a:off x="9714323" y="272511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Registro base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806406-1469-D785-15A6-49BE03608E64}"/>
              </a:ext>
            </a:extLst>
          </p:cNvPr>
          <p:cNvCxnSpPr>
            <a:cxnSpLocks/>
          </p:cNvCxnSpPr>
          <p:nvPr/>
        </p:nvCxnSpPr>
        <p:spPr>
          <a:xfrm flipH="1">
            <a:off x="8580120" y="4657121"/>
            <a:ext cx="1129990" cy="3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6EB6998-5877-B096-A4D8-2F695B42965E}"/>
              </a:ext>
            </a:extLst>
          </p:cNvPr>
          <p:cNvSpPr txBox="1"/>
          <p:nvPr/>
        </p:nvSpPr>
        <p:spPr>
          <a:xfrm>
            <a:off x="9819143" y="447671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Registro </a:t>
            </a:r>
            <a:r>
              <a:rPr lang="en-US" dirty="0" err="1"/>
              <a:t>limi</a:t>
            </a:r>
            <a:r>
              <a:rPr lang="en-US" dirty="0"/>
              <a:t>te</a:t>
            </a:r>
          </a:p>
        </p:txBody>
      </p:sp>
    </p:spTree>
    <p:extLst>
      <p:ext uri="{BB962C8B-B14F-4D97-AF65-F5344CB8AC3E}">
        <p14:creationId xmlns:p14="http://schemas.microsoft.com/office/powerpoint/2010/main" val="3736492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DD3F8C7-6330-E54D-5A4B-038E8BF0C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6967181" cy="1216024"/>
          </a:xfrm>
        </p:spPr>
        <p:txBody>
          <a:bodyPr>
            <a:normAutofit/>
          </a:bodyPr>
          <a:lstStyle/>
          <a:p>
            <a:r>
              <a:rPr lang="it-IT" b="1" dirty="0">
                <a:ea typeface="Batang"/>
              </a:rPr>
              <a:t>BINDING e linking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AD15C7-3469-8265-549D-554FDD0F1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47356"/>
            <a:ext cx="6967181" cy="41070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>
                <a:ea typeface="Batang"/>
              </a:rPr>
              <a:t>Binding</a:t>
            </a:r>
            <a:r>
              <a:rPr lang="it-IT" dirty="0">
                <a:ea typeface="Batang"/>
              </a:rPr>
              <a:t>: passaggio dall'indirizzo logico a quello fisico;</a:t>
            </a:r>
          </a:p>
          <a:p>
            <a:pPr marL="0" indent="0">
              <a:buNone/>
            </a:pPr>
            <a:r>
              <a:rPr lang="it-IT">
                <a:ea typeface="Batang"/>
              </a:rPr>
              <a:t>Nella compilazione;</a:t>
            </a:r>
            <a:endParaRPr lang="en-US">
              <a:solidFill>
                <a:srgbClr val="000000"/>
              </a:solidFill>
              <a:ea typeface="Batang"/>
            </a:endParaRPr>
          </a:p>
          <a:p>
            <a:pPr marL="0" indent="0">
              <a:buNone/>
            </a:pPr>
            <a:r>
              <a:rPr lang="it-IT">
                <a:ea typeface="Batang"/>
              </a:rPr>
              <a:t>Nel caricamento in rilocazione statica;</a:t>
            </a:r>
            <a:endParaRPr lang="it-IT"/>
          </a:p>
          <a:p>
            <a:pPr marL="0" indent="0">
              <a:buNone/>
            </a:pPr>
            <a:r>
              <a:rPr lang="it-IT">
                <a:ea typeface="Batang"/>
              </a:rPr>
              <a:t>Nell’esecuzione in rilocazione dinamica;</a:t>
            </a:r>
            <a:endParaRPr lang="it-IT"/>
          </a:p>
          <a:p>
            <a:endParaRPr lang="it-IT" b="1" dirty="0">
              <a:ea typeface="Batang"/>
            </a:endParaRPr>
          </a:p>
          <a:p>
            <a:r>
              <a:rPr lang="it-IT" b="1">
                <a:ea typeface="Batang"/>
              </a:rPr>
              <a:t>Linking</a:t>
            </a:r>
            <a:r>
              <a:rPr lang="it-IT">
                <a:ea typeface="Batang"/>
              </a:rPr>
              <a:t>: calcolo degli indirizzi logici;</a:t>
            </a:r>
            <a:endParaRPr lang="it-IT"/>
          </a:p>
        </p:txBody>
      </p:sp>
      <p:pic>
        <p:nvPicPr>
          <p:cNvPr id="4" name="Immagine 3" descr="INFORMATICA — Informatica">
            <a:extLst>
              <a:ext uri="{FF2B5EF4-FFF2-40B4-BE49-F238E27FC236}">
                <a16:creationId xmlns:a16="http://schemas.microsoft.com/office/drawing/2014/main" id="{C7081C3A-DEFC-2A1A-8E74-BA004242ED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30" r="42866" b="-1"/>
          <a:stretch>
            <a:fillRect/>
          </a:stretch>
        </p:blipFill>
        <p:spPr>
          <a:xfrm>
            <a:off x="7968222" y="2"/>
            <a:ext cx="4223778" cy="6865951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11375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ABA1FCE-B63B-2864-B870-4A16F1A7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6967181" cy="12160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sz="2400" b="1" dirty="0">
                <a:ea typeface="Batang"/>
              </a:rPr>
              <a:t>Quali sono le tecniche per ottimizzare l'utilizzo della memoria?</a:t>
            </a:r>
            <a:endParaRPr lang="it-IT" sz="2400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DC2F8B-922E-4E37-F6AB-0405E590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47356"/>
            <a:ext cx="6967181" cy="41070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>
                <a:ea typeface="Batang"/>
              </a:rPr>
              <a:t>Swapping</a:t>
            </a:r>
            <a:r>
              <a:rPr lang="it-IT" dirty="0">
                <a:ea typeface="Batang"/>
              </a:rPr>
              <a:t> che si compone di 4 fasi:</a:t>
            </a:r>
            <a:endParaRPr lang="it-IT"/>
          </a:p>
          <a:p>
            <a:pPr marL="0" indent="0">
              <a:buNone/>
            </a:pPr>
            <a:r>
              <a:rPr lang="it-IT">
                <a:ea typeface="Batang"/>
              </a:rPr>
              <a:t>Identificare, salvare sulla memoria temporanea, lo scaricamento e il caricamento;</a:t>
            </a:r>
            <a:endParaRPr lang="it-IT" dirty="0"/>
          </a:p>
          <a:p>
            <a:endParaRPr lang="it-IT" b="1" dirty="0">
              <a:ea typeface="Batang"/>
            </a:endParaRPr>
          </a:p>
          <a:p>
            <a:r>
              <a:rPr lang="it-IT" b="1">
                <a:ea typeface="Batang"/>
              </a:rPr>
              <a:t>Caricamento dinamico;</a:t>
            </a:r>
            <a:endParaRPr lang="it-IT"/>
          </a:p>
          <a:p>
            <a:endParaRPr lang="it-IT" b="1" dirty="0">
              <a:ea typeface="Batang"/>
            </a:endParaRPr>
          </a:p>
          <a:p>
            <a:r>
              <a:rPr lang="it-IT" b="1">
                <a:ea typeface="Batang"/>
              </a:rPr>
              <a:t>Overlay;</a:t>
            </a:r>
            <a:endParaRPr lang="it-IT"/>
          </a:p>
          <a:p>
            <a:endParaRPr lang="it-IT" b="1" dirty="0">
              <a:ea typeface="Batang"/>
            </a:endParaRPr>
          </a:p>
          <a:p>
            <a:r>
              <a:rPr lang="it-IT" b="1">
                <a:ea typeface="Batang"/>
              </a:rPr>
              <a:t>Partizionamento;</a:t>
            </a:r>
            <a:endParaRPr lang="it-IT" b="1"/>
          </a:p>
        </p:txBody>
      </p:sp>
      <p:pic>
        <p:nvPicPr>
          <p:cNvPr id="4" name="Immagine 3" descr="Quale futuro per l'informatica quantistica - FASTWEBPLUS">
            <a:extLst>
              <a:ext uri="{FF2B5EF4-FFF2-40B4-BE49-F238E27FC236}">
                <a16:creationId xmlns:a16="http://schemas.microsoft.com/office/drawing/2014/main" id="{B0ACF2E5-CEE5-F181-5046-40950452C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0" r="42106" b="-1"/>
          <a:stretch>
            <a:fillRect/>
          </a:stretch>
        </p:blipFill>
        <p:spPr>
          <a:xfrm>
            <a:off x="7968222" y="2"/>
            <a:ext cx="4223778" cy="6865951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5272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40161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AE25EAF-DF43-36CF-C8AA-87E684FB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80" y="1931"/>
            <a:ext cx="4601856" cy="20841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2200" b="1" dirty="0">
                <a:ea typeface="Batang"/>
              </a:rPr>
              <a:t>Tecniche di allocazione della memoria centrale</a:t>
            </a:r>
            <a:endParaRPr lang="it-IT" sz="2200" b="1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538FAF-DBA9-86BE-B56A-8A9570689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163685"/>
            <a:ext cx="3875963" cy="41070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700" b="1" err="1">
                <a:ea typeface="Batang"/>
              </a:rPr>
              <a:t>Monoprogrammato</a:t>
            </a:r>
            <a:r>
              <a:rPr lang="it-IT" sz="1700" b="1">
                <a:ea typeface="Batang"/>
              </a:rPr>
              <a:t>;</a:t>
            </a:r>
            <a:endParaRPr lang="it-IT" sz="1700"/>
          </a:p>
          <a:p>
            <a:pPr marL="0" indent="0">
              <a:lnSpc>
                <a:spcPct val="90000"/>
              </a:lnSpc>
              <a:buNone/>
            </a:pPr>
            <a:r>
              <a:rPr lang="it-IT" sz="1700" dirty="0">
                <a:ea typeface="Batang"/>
              </a:rPr>
              <a:t>allocazione contigua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 dirty="0">
                <a:ea typeface="Batang"/>
              </a:rPr>
              <a:t>a partizione singola</a:t>
            </a:r>
          </a:p>
          <a:p>
            <a:pPr>
              <a:lnSpc>
                <a:spcPct val="90000"/>
              </a:lnSpc>
            </a:pPr>
            <a:r>
              <a:rPr lang="it-IT" sz="1700" b="1" err="1">
                <a:ea typeface="Batang"/>
              </a:rPr>
              <a:t>Multiprogrammato</a:t>
            </a:r>
            <a:r>
              <a:rPr lang="it-IT" sz="1700" b="1">
                <a:ea typeface="Batang"/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 dirty="0">
                <a:ea typeface="Batang"/>
              </a:rPr>
              <a:t>allocazione contigua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>
                <a:ea typeface="Batang"/>
              </a:rPr>
              <a:t>- a partizioni fisse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 dirty="0">
                <a:ea typeface="Batang"/>
              </a:rPr>
              <a:t>- a partizioni variabili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 dirty="0">
                <a:ea typeface="Batang"/>
              </a:rPr>
              <a:t>allocazione non contigua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 dirty="0">
                <a:ea typeface="Batang"/>
              </a:rPr>
              <a:t>-paginazione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 dirty="0">
                <a:ea typeface="Batang"/>
              </a:rPr>
              <a:t>-segmentazione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700" dirty="0">
                <a:ea typeface="Batang"/>
              </a:rPr>
              <a:t>-segmentazione con paginazione.</a:t>
            </a:r>
          </a:p>
          <a:p>
            <a:pPr>
              <a:lnSpc>
                <a:spcPct val="90000"/>
              </a:lnSpc>
            </a:pPr>
            <a:endParaRPr lang="it-IT" sz="1700">
              <a:ea typeface="Batang"/>
            </a:endParaRPr>
          </a:p>
        </p:txBody>
      </p:sp>
      <p:pic>
        <p:nvPicPr>
          <p:cNvPr id="4" name="Immagine 3" descr="Come migliorare l'efficienza informatica aziendale - Eco Elettronica">
            <a:extLst>
              <a:ext uri="{FF2B5EF4-FFF2-40B4-BE49-F238E27FC236}">
                <a16:creationId xmlns:a16="http://schemas.microsoft.com/office/drawing/2014/main" id="{615B94F4-F944-B00C-BB62-9328F8016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32" r="21123"/>
          <a:stretch>
            <a:fillRect/>
          </a:stretch>
        </p:blipFill>
        <p:spPr>
          <a:xfrm>
            <a:off x="5251840" y="10"/>
            <a:ext cx="6940161" cy="6868876"/>
          </a:xfrm>
          <a:custGeom>
            <a:avLst/>
            <a:gdLst/>
            <a:ahLst/>
            <a:cxnLst/>
            <a:rect l="l" t="t" r="r" b="b"/>
            <a:pathLst>
              <a:path w="6940161" h="6857999">
                <a:moveTo>
                  <a:pt x="857190" y="0"/>
                </a:moveTo>
                <a:lnTo>
                  <a:pt x="6940161" y="0"/>
                </a:lnTo>
                <a:lnTo>
                  <a:pt x="6940161" y="6857999"/>
                </a:lnTo>
                <a:lnTo>
                  <a:pt x="496459" y="6857999"/>
                </a:lnTo>
                <a:lnTo>
                  <a:pt x="486507" y="6839466"/>
                </a:lnTo>
                <a:cubicBezTo>
                  <a:pt x="477389" y="6820641"/>
                  <a:pt x="471173" y="6801859"/>
                  <a:pt x="480078" y="6795812"/>
                </a:cubicBezTo>
                <a:cubicBezTo>
                  <a:pt x="475408" y="6761382"/>
                  <a:pt x="493736" y="6723009"/>
                  <a:pt x="482330" y="6676796"/>
                </a:cubicBezTo>
                <a:cubicBezTo>
                  <a:pt x="479519" y="6617030"/>
                  <a:pt x="476161" y="6634511"/>
                  <a:pt x="469648" y="6539722"/>
                </a:cubicBezTo>
                <a:cubicBezTo>
                  <a:pt x="459969" y="6498384"/>
                  <a:pt x="496382" y="6456575"/>
                  <a:pt x="477855" y="6433501"/>
                </a:cubicBezTo>
                <a:cubicBezTo>
                  <a:pt x="464018" y="6378655"/>
                  <a:pt x="442310" y="6325849"/>
                  <a:pt x="414008" y="6271586"/>
                </a:cubicBezTo>
                <a:cubicBezTo>
                  <a:pt x="378091" y="6226697"/>
                  <a:pt x="377466" y="6140798"/>
                  <a:pt x="299660" y="6080454"/>
                </a:cubicBezTo>
                <a:cubicBezTo>
                  <a:pt x="268606" y="6014324"/>
                  <a:pt x="244498" y="5964143"/>
                  <a:pt x="221239" y="5913249"/>
                </a:cubicBezTo>
                <a:cubicBezTo>
                  <a:pt x="210139" y="5897439"/>
                  <a:pt x="175369" y="5809427"/>
                  <a:pt x="160103" y="5775094"/>
                </a:cubicBezTo>
                <a:cubicBezTo>
                  <a:pt x="87298" y="5686529"/>
                  <a:pt x="103897" y="5672717"/>
                  <a:pt x="87873" y="5573809"/>
                </a:cubicBezTo>
                <a:cubicBezTo>
                  <a:pt x="76224" y="5541231"/>
                  <a:pt x="76748" y="5525076"/>
                  <a:pt x="57933" y="5490695"/>
                </a:cubicBezTo>
                <a:lnTo>
                  <a:pt x="30889" y="5398377"/>
                </a:lnTo>
                <a:lnTo>
                  <a:pt x="34140" y="5390971"/>
                </a:lnTo>
                <a:lnTo>
                  <a:pt x="35928" y="5390229"/>
                </a:lnTo>
                <a:lnTo>
                  <a:pt x="16968" y="5309266"/>
                </a:lnTo>
                <a:cubicBezTo>
                  <a:pt x="13970" y="5303642"/>
                  <a:pt x="-917" y="5289094"/>
                  <a:pt x="2490" y="5276920"/>
                </a:cubicBezTo>
                <a:lnTo>
                  <a:pt x="24907" y="5208159"/>
                </a:lnTo>
                <a:lnTo>
                  <a:pt x="31839" y="5162682"/>
                </a:lnTo>
                <a:cubicBezTo>
                  <a:pt x="28501" y="5155528"/>
                  <a:pt x="24609" y="5048935"/>
                  <a:pt x="18796" y="5043371"/>
                </a:cubicBezTo>
                <a:cubicBezTo>
                  <a:pt x="54584" y="4976689"/>
                  <a:pt x="5001" y="4985095"/>
                  <a:pt x="14358" y="4908985"/>
                </a:cubicBezTo>
                <a:cubicBezTo>
                  <a:pt x="17201" y="4816358"/>
                  <a:pt x="5675" y="4749418"/>
                  <a:pt x="4769" y="4643799"/>
                </a:cubicBezTo>
                <a:cubicBezTo>
                  <a:pt x="4111" y="4581455"/>
                  <a:pt x="-7137" y="4509050"/>
                  <a:pt x="7402" y="4395547"/>
                </a:cubicBezTo>
                <a:cubicBezTo>
                  <a:pt x="11591" y="4330720"/>
                  <a:pt x="28535" y="4313913"/>
                  <a:pt x="23462" y="4274064"/>
                </a:cubicBezTo>
                <a:cubicBezTo>
                  <a:pt x="22995" y="4245538"/>
                  <a:pt x="22530" y="4217012"/>
                  <a:pt x="22063" y="4188486"/>
                </a:cubicBezTo>
                <a:lnTo>
                  <a:pt x="24672" y="4170100"/>
                </a:lnTo>
                <a:lnTo>
                  <a:pt x="34973" y="4166123"/>
                </a:lnTo>
                <a:lnTo>
                  <a:pt x="26424" y="4120096"/>
                </a:lnTo>
                <a:cubicBezTo>
                  <a:pt x="28986" y="4109871"/>
                  <a:pt x="49338" y="4079429"/>
                  <a:pt x="47886" y="4066698"/>
                </a:cubicBezTo>
                <a:cubicBezTo>
                  <a:pt x="26522" y="4022850"/>
                  <a:pt x="34453" y="4030338"/>
                  <a:pt x="47327" y="3969172"/>
                </a:cubicBezTo>
                <a:cubicBezTo>
                  <a:pt x="40297" y="3948973"/>
                  <a:pt x="40044" y="3857354"/>
                  <a:pt x="53093" y="3844350"/>
                </a:cubicBezTo>
                <a:cubicBezTo>
                  <a:pt x="55739" y="3830819"/>
                  <a:pt x="50778" y="3815585"/>
                  <a:pt x="64866" y="3808459"/>
                </a:cubicBezTo>
                <a:cubicBezTo>
                  <a:pt x="81775" y="3797121"/>
                  <a:pt x="54599" y="3752382"/>
                  <a:pt x="74864" y="3757643"/>
                </a:cubicBezTo>
                <a:cubicBezTo>
                  <a:pt x="56224" y="3725828"/>
                  <a:pt x="74270" y="3660981"/>
                  <a:pt x="82640" y="3632606"/>
                </a:cubicBezTo>
                <a:cubicBezTo>
                  <a:pt x="85981" y="3582255"/>
                  <a:pt x="88778" y="3571708"/>
                  <a:pt x="89222" y="3534990"/>
                </a:cubicBezTo>
                <a:cubicBezTo>
                  <a:pt x="92019" y="3533125"/>
                  <a:pt x="80706" y="3481126"/>
                  <a:pt x="79835" y="3454133"/>
                </a:cubicBezTo>
                <a:cubicBezTo>
                  <a:pt x="78963" y="3427139"/>
                  <a:pt x="96173" y="3390611"/>
                  <a:pt x="83991" y="3373027"/>
                </a:cubicBezTo>
                <a:cubicBezTo>
                  <a:pt x="80767" y="3298527"/>
                  <a:pt x="69808" y="3290617"/>
                  <a:pt x="62958" y="3222737"/>
                </a:cubicBezTo>
                <a:cubicBezTo>
                  <a:pt x="59618" y="3146284"/>
                  <a:pt x="39695" y="3184007"/>
                  <a:pt x="49209" y="3118188"/>
                </a:cubicBezTo>
                <a:cubicBezTo>
                  <a:pt x="65221" y="3109217"/>
                  <a:pt x="85573" y="3024732"/>
                  <a:pt x="78480" y="3003808"/>
                </a:cubicBezTo>
                <a:cubicBezTo>
                  <a:pt x="78037" y="2966753"/>
                  <a:pt x="77812" y="2989870"/>
                  <a:pt x="77566" y="2944921"/>
                </a:cubicBezTo>
                <a:lnTo>
                  <a:pt x="94406" y="2877744"/>
                </a:lnTo>
                <a:cubicBezTo>
                  <a:pt x="87936" y="2880724"/>
                  <a:pt x="108480" y="2822146"/>
                  <a:pt x="108051" y="2807161"/>
                </a:cubicBezTo>
                <a:cubicBezTo>
                  <a:pt x="110507" y="2775643"/>
                  <a:pt x="80880" y="2769288"/>
                  <a:pt x="107377" y="2752347"/>
                </a:cubicBezTo>
                <a:lnTo>
                  <a:pt x="114975" y="2748299"/>
                </a:lnTo>
                <a:cubicBezTo>
                  <a:pt x="115205" y="2745962"/>
                  <a:pt x="115434" y="2743625"/>
                  <a:pt x="115663" y="2741288"/>
                </a:cubicBezTo>
                <a:cubicBezTo>
                  <a:pt x="115098" y="2737657"/>
                  <a:pt x="112995" y="2735847"/>
                  <a:pt x="107929" y="2737160"/>
                </a:cubicBezTo>
                <a:cubicBezTo>
                  <a:pt x="126569" y="2705347"/>
                  <a:pt x="119693" y="2699356"/>
                  <a:pt x="122707" y="2659631"/>
                </a:cubicBezTo>
                <a:cubicBezTo>
                  <a:pt x="135394" y="2612127"/>
                  <a:pt x="120483" y="2628594"/>
                  <a:pt x="145471" y="2573336"/>
                </a:cubicBezTo>
                <a:cubicBezTo>
                  <a:pt x="156086" y="2559732"/>
                  <a:pt x="170382" y="2541339"/>
                  <a:pt x="170626" y="2528057"/>
                </a:cubicBezTo>
                <a:lnTo>
                  <a:pt x="202713" y="2489594"/>
                </a:lnTo>
                <a:cubicBezTo>
                  <a:pt x="203853" y="2487774"/>
                  <a:pt x="204248" y="2473350"/>
                  <a:pt x="203650" y="2468303"/>
                </a:cubicBezTo>
                <a:lnTo>
                  <a:pt x="223316" y="2460480"/>
                </a:lnTo>
                <a:lnTo>
                  <a:pt x="215120" y="2423535"/>
                </a:lnTo>
                <a:lnTo>
                  <a:pt x="223455" y="2404394"/>
                </a:lnTo>
                <a:cubicBezTo>
                  <a:pt x="243490" y="2392610"/>
                  <a:pt x="229596" y="2347474"/>
                  <a:pt x="238853" y="2324643"/>
                </a:cubicBezTo>
                <a:cubicBezTo>
                  <a:pt x="239504" y="2297698"/>
                  <a:pt x="266477" y="2284202"/>
                  <a:pt x="272463" y="2255535"/>
                </a:cubicBezTo>
                <a:cubicBezTo>
                  <a:pt x="290597" y="2249648"/>
                  <a:pt x="306594" y="2207828"/>
                  <a:pt x="294092" y="2184679"/>
                </a:cubicBezTo>
                <a:lnTo>
                  <a:pt x="323221" y="2093132"/>
                </a:lnTo>
                <a:cubicBezTo>
                  <a:pt x="348282" y="2084587"/>
                  <a:pt x="366071" y="1985868"/>
                  <a:pt x="377324" y="1950235"/>
                </a:cubicBezTo>
                <a:cubicBezTo>
                  <a:pt x="397581" y="1920183"/>
                  <a:pt x="445208" y="1898905"/>
                  <a:pt x="457649" y="1861568"/>
                </a:cubicBezTo>
                <a:cubicBezTo>
                  <a:pt x="464664" y="1810687"/>
                  <a:pt x="447457" y="1869507"/>
                  <a:pt x="451972" y="1809499"/>
                </a:cubicBezTo>
                <a:cubicBezTo>
                  <a:pt x="450982" y="1754297"/>
                  <a:pt x="465413" y="1767680"/>
                  <a:pt x="474550" y="1693716"/>
                </a:cubicBezTo>
                <a:cubicBezTo>
                  <a:pt x="473258" y="1654244"/>
                  <a:pt x="481626" y="1627007"/>
                  <a:pt x="481301" y="1605195"/>
                </a:cubicBezTo>
                <a:cubicBezTo>
                  <a:pt x="490491" y="1568952"/>
                  <a:pt x="493569" y="1564518"/>
                  <a:pt x="497837" y="1516217"/>
                </a:cubicBezTo>
                <a:cubicBezTo>
                  <a:pt x="503639" y="1488452"/>
                  <a:pt x="534082" y="1457870"/>
                  <a:pt x="513281" y="1429841"/>
                </a:cubicBezTo>
                <a:cubicBezTo>
                  <a:pt x="527326" y="1412325"/>
                  <a:pt x="570430" y="1413592"/>
                  <a:pt x="550104" y="1380081"/>
                </a:cubicBezTo>
                <a:cubicBezTo>
                  <a:pt x="575583" y="1394128"/>
                  <a:pt x="551452" y="1335176"/>
                  <a:pt x="574526" y="1334891"/>
                </a:cubicBezTo>
                <a:cubicBezTo>
                  <a:pt x="593486" y="1336427"/>
                  <a:pt x="633157" y="1194568"/>
                  <a:pt x="638123" y="1185551"/>
                </a:cubicBezTo>
                <a:cubicBezTo>
                  <a:pt x="647468" y="1149210"/>
                  <a:pt x="657504" y="1148087"/>
                  <a:pt x="664747" y="1111168"/>
                </a:cubicBezTo>
                <a:cubicBezTo>
                  <a:pt x="679107" y="1057226"/>
                  <a:pt x="652121" y="1022543"/>
                  <a:pt x="664913" y="993353"/>
                </a:cubicBezTo>
                <a:cubicBezTo>
                  <a:pt x="684189" y="960214"/>
                  <a:pt x="707497" y="867450"/>
                  <a:pt x="721256" y="813953"/>
                </a:cubicBezTo>
                <a:cubicBezTo>
                  <a:pt x="734607" y="746430"/>
                  <a:pt x="738988" y="666470"/>
                  <a:pt x="745023" y="588218"/>
                </a:cubicBezTo>
                <a:cubicBezTo>
                  <a:pt x="735393" y="475380"/>
                  <a:pt x="719076" y="536119"/>
                  <a:pt x="725253" y="376479"/>
                </a:cubicBezTo>
                <a:lnTo>
                  <a:pt x="735457" y="280992"/>
                </a:lnTo>
                <a:cubicBezTo>
                  <a:pt x="735270" y="276227"/>
                  <a:pt x="742007" y="223140"/>
                  <a:pt x="741820" y="218374"/>
                </a:cubicBezTo>
                <a:lnTo>
                  <a:pt x="735299" y="188178"/>
                </a:lnTo>
                <a:lnTo>
                  <a:pt x="764938" y="152404"/>
                </a:lnTo>
                <a:cubicBezTo>
                  <a:pt x="776066" y="136342"/>
                  <a:pt x="783668" y="122048"/>
                  <a:pt x="802071" y="91810"/>
                </a:cubicBezTo>
                <a:lnTo>
                  <a:pt x="849585" y="301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41080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BCF00AB-BE0D-EF89-3B46-B061773B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it-IT" b="1" dirty="0">
                <a:ea typeface="Batang"/>
              </a:rPr>
              <a:t>Partizionamento</a:t>
            </a:r>
            <a:endParaRPr lang="it-IT" b="1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9938EB-FC0E-E504-1129-F6650AA91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296161"/>
            <a:ext cx="4788505" cy="38460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it-IT">
                <a:ea typeface="Batang"/>
              </a:rPr>
              <a:t>Suddivide la memoria in partizioni.</a:t>
            </a:r>
          </a:p>
          <a:p>
            <a:pPr>
              <a:lnSpc>
                <a:spcPct val="90000"/>
              </a:lnSpc>
            </a:pPr>
            <a:endParaRPr lang="it-IT" b="1">
              <a:ea typeface="Batang"/>
            </a:endParaRPr>
          </a:p>
          <a:p>
            <a:pPr>
              <a:lnSpc>
                <a:spcPct val="90000"/>
              </a:lnSpc>
            </a:pPr>
            <a:r>
              <a:rPr lang="it-IT" b="1" dirty="0">
                <a:ea typeface="Batang"/>
              </a:rPr>
              <a:t>Schema a partizione fissa:</a:t>
            </a:r>
            <a:endParaRPr lang="it-IT" b="1">
              <a:ea typeface="Batang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>
                <a:ea typeface="Batang"/>
              </a:rPr>
              <a:t> Definita</a:t>
            </a:r>
            <a:r>
              <a:rPr lang="it-IT" dirty="0">
                <a:ea typeface="Batang"/>
              </a:rPr>
              <a:t> all'atto dell'inizializzazione del sistema.</a:t>
            </a:r>
            <a:endParaRPr lang="it-IT">
              <a:ea typeface="Batang"/>
            </a:endParaRPr>
          </a:p>
          <a:p>
            <a:pPr marL="0" indent="0">
              <a:lnSpc>
                <a:spcPct val="90000"/>
              </a:lnSpc>
              <a:buNone/>
            </a:pPr>
            <a:endParaRPr lang="it-IT">
              <a:ea typeface="Batang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dirty="0">
                <a:ea typeface="Batang"/>
              </a:rPr>
              <a:t>Nella partizione fissa si possono verificare due problemi:</a:t>
            </a:r>
            <a:endParaRPr lang="it-IT"/>
          </a:p>
          <a:p>
            <a:pPr marL="0" indent="0">
              <a:lnSpc>
                <a:spcPct val="90000"/>
              </a:lnSpc>
              <a:buNone/>
            </a:pPr>
            <a:r>
              <a:rPr lang="it-IT" dirty="0">
                <a:ea typeface="Batang"/>
              </a:rPr>
              <a:t>-il problema della frammentazione interna</a:t>
            </a:r>
            <a:endParaRPr lang="it-IT">
              <a:ea typeface="Batang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dirty="0">
                <a:ea typeface="Batang"/>
              </a:rPr>
              <a:t>-il problema della frammentazione esterna</a:t>
            </a:r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436BBA-804F-8613-4DD6-0FB267211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142" y="1978172"/>
            <a:ext cx="3875073" cy="3846011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6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2D066-414B-C91D-4238-0C72D6D64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a typeface="Batang"/>
              </a:rPr>
              <a:t>Frammentazione</a:t>
            </a:r>
            <a:r>
              <a:rPr lang="en-US" b="1" dirty="0">
                <a:ea typeface="Batang"/>
              </a:rPr>
              <a:t> interna</a:t>
            </a:r>
            <a:endParaRPr lang="en-US" b="1" dirty="0"/>
          </a:p>
        </p:txBody>
      </p:sp>
      <p:pic>
        <p:nvPicPr>
          <p:cNvPr id="8" name="Picture 7" descr="Bandiera Nera Spiaggia di segnalazione in vendita | Bandiere.it">
            <a:extLst>
              <a:ext uri="{FF2B5EF4-FFF2-40B4-BE49-F238E27FC236}">
                <a16:creationId xmlns:a16="http://schemas.microsoft.com/office/drawing/2014/main" id="{AF29160A-9EC4-F9C5-31C6-19FAF6319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" y="3812858"/>
            <a:ext cx="416560" cy="268605"/>
          </a:xfrm>
          <a:prstGeom prst="rect">
            <a:avLst/>
          </a:prstGeom>
        </p:spPr>
      </p:pic>
      <p:pic>
        <p:nvPicPr>
          <p:cNvPr id="9" name="Picture 8" descr="Bandiera Nera Spiaggia di segnalazione in vendita | Bandiere.it">
            <a:extLst>
              <a:ext uri="{FF2B5EF4-FFF2-40B4-BE49-F238E27FC236}">
                <a16:creationId xmlns:a16="http://schemas.microsoft.com/office/drawing/2014/main" id="{78E9A4C4-AC5E-B468-E154-91617B147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" y="3812858"/>
            <a:ext cx="416560" cy="268605"/>
          </a:xfrm>
          <a:prstGeom prst="rect">
            <a:avLst/>
          </a:prstGeom>
        </p:spPr>
      </p:pic>
      <p:pic>
        <p:nvPicPr>
          <p:cNvPr id="10" name="Picture 9" descr="Bandiera Nera Spiaggia di segnalazione in vendita | Bandiere.it">
            <a:extLst>
              <a:ext uri="{FF2B5EF4-FFF2-40B4-BE49-F238E27FC236}">
                <a16:creationId xmlns:a16="http://schemas.microsoft.com/office/drawing/2014/main" id="{15B1B61F-E52B-3721-16FE-2A25F6812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760" y="3812858"/>
            <a:ext cx="416560" cy="26860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B6910A-01BE-ED1E-C883-BC13ADCB82FD}"/>
              </a:ext>
            </a:extLst>
          </p:cNvPr>
          <p:cNvCxnSpPr/>
          <p:nvPr/>
        </p:nvCxnSpPr>
        <p:spPr>
          <a:xfrm flipV="1">
            <a:off x="640080" y="3942079"/>
            <a:ext cx="40640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48E915-D71D-A621-FDE4-414EA0324109}"/>
              </a:ext>
            </a:extLst>
          </p:cNvPr>
          <p:cNvCxnSpPr>
            <a:cxnSpLocks/>
          </p:cNvCxnSpPr>
          <p:nvPr/>
        </p:nvCxnSpPr>
        <p:spPr>
          <a:xfrm flipV="1">
            <a:off x="1615440" y="3942078"/>
            <a:ext cx="40640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9FA71E-632E-3548-FCDF-E9F8B7EA5ACA}"/>
              </a:ext>
            </a:extLst>
          </p:cNvPr>
          <p:cNvCxnSpPr/>
          <p:nvPr/>
        </p:nvCxnSpPr>
        <p:spPr>
          <a:xfrm flipV="1">
            <a:off x="2489199" y="2428240"/>
            <a:ext cx="1168400" cy="1544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40810C04-A1F2-1AB4-91EF-33D3E8C1C0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776684"/>
              </p:ext>
            </p:extLst>
          </p:nvPr>
        </p:nvGraphicFramePr>
        <p:xfrm>
          <a:off x="3698240" y="1849120"/>
          <a:ext cx="1896109" cy="4315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109">
                  <a:extLst>
                    <a:ext uri="{9D8B030D-6E8A-4147-A177-3AD203B41FA5}">
                      <a16:colId xmlns:a16="http://schemas.microsoft.com/office/drawing/2014/main" val="1987699428"/>
                    </a:ext>
                  </a:extLst>
                </a:gridCol>
              </a:tblGrid>
              <a:tr h="10788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577849"/>
                  </a:ext>
                </a:extLst>
              </a:tr>
              <a:tr h="10788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791255"/>
                  </a:ext>
                </a:extLst>
              </a:tr>
              <a:tr h="10788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853995"/>
                  </a:ext>
                </a:extLst>
              </a:tr>
              <a:tr h="10788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669199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A885E4-08F2-EE40-BBCB-4586EE92C610}"/>
              </a:ext>
            </a:extLst>
          </p:cNvPr>
          <p:cNvCxnSpPr/>
          <p:nvPr/>
        </p:nvCxnSpPr>
        <p:spPr>
          <a:xfrm flipV="1">
            <a:off x="2479040" y="3281679"/>
            <a:ext cx="1198880" cy="65024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5E72F6-312B-3350-E41F-665F6E3B65E9}"/>
              </a:ext>
            </a:extLst>
          </p:cNvPr>
          <p:cNvCxnSpPr/>
          <p:nvPr/>
        </p:nvCxnSpPr>
        <p:spPr>
          <a:xfrm>
            <a:off x="2479039" y="3931920"/>
            <a:ext cx="1107440" cy="558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54FD1C-877F-CE3E-0199-89BB9B03858C}"/>
              </a:ext>
            </a:extLst>
          </p:cNvPr>
          <p:cNvCxnSpPr/>
          <p:nvPr/>
        </p:nvCxnSpPr>
        <p:spPr>
          <a:xfrm>
            <a:off x="2499359" y="3972560"/>
            <a:ext cx="985520" cy="1544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E3BB0E3-D41B-D02E-5BA8-87D7E03D9C36}"/>
              </a:ext>
            </a:extLst>
          </p:cNvPr>
          <p:cNvSpPr txBox="1"/>
          <p:nvPr/>
        </p:nvSpPr>
        <p:spPr>
          <a:xfrm>
            <a:off x="335280" y="3098800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Coda </a:t>
            </a:r>
            <a:r>
              <a:rPr lang="en-US" dirty="0" err="1"/>
              <a:t>dei</a:t>
            </a:r>
            <a:r>
              <a:rPr lang="en-US" dirty="0"/>
              <a:t> job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4AF2B2-CE5D-7F81-82CA-9C63D153E1CE}"/>
              </a:ext>
            </a:extLst>
          </p:cNvPr>
          <p:cNvSpPr txBox="1"/>
          <p:nvPr/>
        </p:nvSpPr>
        <p:spPr>
          <a:xfrm>
            <a:off x="7426959" y="221488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Partizione</a:t>
            </a:r>
            <a:r>
              <a:rPr lang="en-US"/>
              <a:t> 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A07755-94AF-A0EE-5DE6-90AD1C221706}"/>
              </a:ext>
            </a:extLst>
          </p:cNvPr>
          <p:cNvSpPr txBox="1"/>
          <p:nvPr/>
        </p:nvSpPr>
        <p:spPr>
          <a:xfrm>
            <a:off x="7345678" y="324103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Partizione</a:t>
            </a:r>
            <a:r>
              <a:rPr lang="en-US" dirty="0"/>
              <a:t> 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CD32C2-E5ED-36D5-610C-FF97CBF0F274}"/>
              </a:ext>
            </a:extLst>
          </p:cNvPr>
          <p:cNvSpPr txBox="1"/>
          <p:nvPr/>
        </p:nvSpPr>
        <p:spPr>
          <a:xfrm>
            <a:off x="7426958" y="434847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Partizione</a:t>
            </a:r>
            <a:r>
              <a:rPr lang="en-US" dirty="0"/>
              <a:t> 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639653-AAAB-B090-FFFC-9FC91C044F8D}"/>
              </a:ext>
            </a:extLst>
          </p:cNvPr>
          <p:cNvSpPr txBox="1"/>
          <p:nvPr/>
        </p:nvSpPr>
        <p:spPr>
          <a:xfrm>
            <a:off x="7426958" y="536447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Partizione</a:t>
            </a:r>
            <a:r>
              <a:rPr lang="en-US" dirty="0"/>
              <a:t> 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81D9EB-5BED-69D5-CD66-D3E7DB245E18}"/>
              </a:ext>
            </a:extLst>
          </p:cNvPr>
          <p:cNvCxnSpPr>
            <a:cxnSpLocks/>
          </p:cNvCxnSpPr>
          <p:nvPr/>
        </p:nvCxnSpPr>
        <p:spPr>
          <a:xfrm flipV="1">
            <a:off x="5760718" y="2479039"/>
            <a:ext cx="146304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4B59F7-210C-DA87-8DED-125D38A1A496}"/>
              </a:ext>
            </a:extLst>
          </p:cNvPr>
          <p:cNvCxnSpPr>
            <a:cxnSpLocks/>
          </p:cNvCxnSpPr>
          <p:nvPr/>
        </p:nvCxnSpPr>
        <p:spPr>
          <a:xfrm flipV="1">
            <a:off x="5760717" y="3413758"/>
            <a:ext cx="146304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EF86192-D302-0C55-E66F-2DA62C8C60DF}"/>
              </a:ext>
            </a:extLst>
          </p:cNvPr>
          <p:cNvCxnSpPr>
            <a:cxnSpLocks/>
          </p:cNvCxnSpPr>
          <p:nvPr/>
        </p:nvCxnSpPr>
        <p:spPr>
          <a:xfrm flipV="1">
            <a:off x="5760717" y="4399278"/>
            <a:ext cx="146304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B7CE6FF-7918-3A28-1027-CD252585E26A}"/>
              </a:ext>
            </a:extLst>
          </p:cNvPr>
          <p:cNvCxnSpPr>
            <a:cxnSpLocks/>
          </p:cNvCxnSpPr>
          <p:nvPr/>
        </p:nvCxnSpPr>
        <p:spPr>
          <a:xfrm flipV="1">
            <a:off x="5760717" y="5598158"/>
            <a:ext cx="146304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311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63963-D7E0-EBE0-5320-0C1119FD0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C8750-C7F5-0D05-B012-8B12F7EA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a typeface="Batang"/>
              </a:rPr>
              <a:t>Frammentazione</a:t>
            </a:r>
            <a:r>
              <a:rPr lang="en-US" b="1" dirty="0">
                <a:ea typeface="Batang"/>
              </a:rPr>
              <a:t> interna</a:t>
            </a:r>
            <a:endParaRPr lang="en-US" b="1" dirty="0"/>
          </a:p>
        </p:txBody>
      </p:sp>
      <p:pic>
        <p:nvPicPr>
          <p:cNvPr id="8" name="Picture 7" descr="Bandiera Nera Spiaggia di segnalazione in vendita | Bandiere.it">
            <a:extLst>
              <a:ext uri="{FF2B5EF4-FFF2-40B4-BE49-F238E27FC236}">
                <a16:creationId xmlns:a16="http://schemas.microsoft.com/office/drawing/2014/main" id="{C1FD7062-B52E-AE58-91D2-F84524435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" y="3812858"/>
            <a:ext cx="416560" cy="268605"/>
          </a:xfrm>
          <a:prstGeom prst="rect">
            <a:avLst/>
          </a:prstGeom>
        </p:spPr>
      </p:pic>
      <p:pic>
        <p:nvPicPr>
          <p:cNvPr id="9" name="Picture 8" descr="Bandiera Nera Spiaggia di segnalazione in vendita | Bandiere.it">
            <a:extLst>
              <a:ext uri="{FF2B5EF4-FFF2-40B4-BE49-F238E27FC236}">
                <a16:creationId xmlns:a16="http://schemas.microsoft.com/office/drawing/2014/main" id="{72486DD6-69B5-EB9C-4DAE-94D7E77EA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" y="3812858"/>
            <a:ext cx="416560" cy="268605"/>
          </a:xfrm>
          <a:prstGeom prst="rect">
            <a:avLst/>
          </a:prstGeom>
        </p:spPr>
      </p:pic>
      <p:pic>
        <p:nvPicPr>
          <p:cNvPr id="10" name="Picture 9" descr="Bandiera Nera Spiaggia di segnalazione in vendita | Bandiere.it">
            <a:extLst>
              <a:ext uri="{FF2B5EF4-FFF2-40B4-BE49-F238E27FC236}">
                <a16:creationId xmlns:a16="http://schemas.microsoft.com/office/drawing/2014/main" id="{8EE3A57D-55D3-F04D-ACA6-A2DAEA822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253" y="2076655"/>
            <a:ext cx="416560" cy="26860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7342B2-84EB-95FE-FBC7-C61135A087D2}"/>
              </a:ext>
            </a:extLst>
          </p:cNvPr>
          <p:cNvCxnSpPr/>
          <p:nvPr/>
        </p:nvCxnSpPr>
        <p:spPr>
          <a:xfrm flipV="1">
            <a:off x="640080" y="3942079"/>
            <a:ext cx="40640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9BB57B-F89D-A009-E16C-3761CDC8B645}"/>
              </a:ext>
            </a:extLst>
          </p:cNvPr>
          <p:cNvCxnSpPr>
            <a:cxnSpLocks/>
          </p:cNvCxnSpPr>
          <p:nvPr/>
        </p:nvCxnSpPr>
        <p:spPr>
          <a:xfrm flipV="1">
            <a:off x="1615440" y="3942078"/>
            <a:ext cx="40640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6EC7C7-FC95-E9F5-2F76-CBDC9D81EA41}"/>
              </a:ext>
            </a:extLst>
          </p:cNvPr>
          <p:cNvCxnSpPr/>
          <p:nvPr/>
        </p:nvCxnSpPr>
        <p:spPr>
          <a:xfrm flipV="1">
            <a:off x="2489199" y="2428240"/>
            <a:ext cx="1168400" cy="1544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16F56C8F-1420-8324-3128-4EB1638FEB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98240" y="1849120"/>
          <a:ext cx="1896109" cy="4315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109">
                  <a:extLst>
                    <a:ext uri="{9D8B030D-6E8A-4147-A177-3AD203B41FA5}">
                      <a16:colId xmlns:a16="http://schemas.microsoft.com/office/drawing/2014/main" val="1987699428"/>
                    </a:ext>
                  </a:extLst>
                </a:gridCol>
              </a:tblGrid>
              <a:tr h="10788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577849"/>
                  </a:ext>
                </a:extLst>
              </a:tr>
              <a:tr h="10788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791255"/>
                  </a:ext>
                </a:extLst>
              </a:tr>
              <a:tr h="10788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853995"/>
                  </a:ext>
                </a:extLst>
              </a:tr>
              <a:tr h="10788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669199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2A4027-6748-F3F3-E084-0C9D971AA5EA}"/>
              </a:ext>
            </a:extLst>
          </p:cNvPr>
          <p:cNvCxnSpPr/>
          <p:nvPr/>
        </p:nvCxnSpPr>
        <p:spPr>
          <a:xfrm flipV="1">
            <a:off x="2479040" y="3281679"/>
            <a:ext cx="1198880" cy="65024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8999AB-7A0F-8B6D-9BA9-BDCC220C18A6}"/>
              </a:ext>
            </a:extLst>
          </p:cNvPr>
          <p:cNvCxnSpPr/>
          <p:nvPr/>
        </p:nvCxnSpPr>
        <p:spPr>
          <a:xfrm>
            <a:off x="2479039" y="3931920"/>
            <a:ext cx="1107440" cy="558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C15E5E-A9E2-5EF2-7301-65B9AA56B948}"/>
              </a:ext>
            </a:extLst>
          </p:cNvPr>
          <p:cNvCxnSpPr/>
          <p:nvPr/>
        </p:nvCxnSpPr>
        <p:spPr>
          <a:xfrm>
            <a:off x="2499359" y="3972560"/>
            <a:ext cx="985520" cy="1544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378A9E5-3D1E-C216-ED54-7800C3C52CE3}"/>
              </a:ext>
            </a:extLst>
          </p:cNvPr>
          <p:cNvSpPr txBox="1"/>
          <p:nvPr/>
        </p:nvSpPr>
        <p:spPr>
          <a:xfrm>
            <a:off x="335280" y="3098800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Coda </a:t>
            </a:r>
            <a:r>
              <a:rPr lang="en-US" dirty="0" err="1"/>
              <a:t>dei</a:t>
            </a:r>
            <a:r>
              <a:rPr lang="en-US" dirty="0"/>
              <a:t> job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1CBD0F-90CB-61F1-4E83-A2C0CB5ECAC3}"/>
              </a:ext>
            </a:extLst>
          </p:cNvPr>
          <p:cNvSpPr txBox="1"/>
          <p:nvPr/>
        </p:nvSpPr>
        <p:spPr>
          <a:xfrm>
            <a:off x="7426959" y="221488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Partizione</a:t>
            </a:r>
            <a:r>
              <a:rPr lang="en-US"/>
              <a:t> 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66D990-267B-5CB5-D776-A99A3933F2A4}"/>
              </a:ext>
            </a:extLst>
          </p:cNvPr>
          <p:cNvSpPr txBox="1"/>
          <p:nvPr/>
        </p:nvSpPr>
        <p:spPr>
          <a:xfrm>
            <a:off x="7345678" y="324103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Partizione</a:t>
            </a:r>
            <a:r>
              <a:rPr lang="en-US" dirty="0"/>
              <a:t> 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1489A5-EC13-97C8-CF98-3FE4A8E781D4}"/>
              </a:ext>
            </a:extLst>
          </p:cNvPr>
          <p:cNvSpPr txBox="1"/>
          <p:nvPr/>
        </p:nvSpPr>
        <p:spPr>
          <a:xfrm>
            <a:off x="7426958" y="434847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Partizione</a:t>
            </a:r>
            <a:r>
              <a:rPr lang="en-US" dirty="0"/>
              <a:t> 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CF436A-5343-FF74-0332-665B556A970C}"/>
              </a:ext>
            </a:extLst>
          </p:cNvPr>
          <p:cNvSpPr txBox="1"/>
          <p:nvPr/>
        </p:nvSpPr>
        <p:spPr>
          <a:xfrm>
            <a:off x="7426958" y="536447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Partizione</a:t>
            </a:r>
            <a:r>
              <a:rPr lang="en-US" dirty="0"/>
              <a:t> 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4B3FE1-E3AE-FC33-6270-4BD6C38E0BC3}"/>
              </a:ext>
            </a:extLst>
          </p:cNvPr>
          <p:cNvCxnSpPr>
            <a:cxnSpLocks/>
          </p:cNvCxnSpPr>
          <p:nvPr/>
        </p:nvCxnSpPr>
        <p:spPr>
          <a:xfrm flipV="1">
            <a:off x="5760718" y="2479039"/>
            <a:ext cx="146304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B267A79-1B52-D548-414A-7461607417A6}"/>
              </a:ext>
            </a:extLst>
          </p:cNvPr>
          <p:cNvCxnSpPr>
            <a:cxnSpLocks/>
          </p:cNvCxnSpPr>
          <p:nvPr/>
        </p:nvCxnSpPr>
        <p:spPr>
          <a:xfrm flipV="1">
            <a:off x="5760717" y="3413758"/>
            <a:ext cx="146304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749FE77-4882-025E-9256-5C99AF6A79C3}"/>
              </a:ext>
            </a:extLst>
          </p:cNvPr>
          <p:cNvCxnSpPr>
            <a:cxnSpLocks/>
          </p:cNvCxnSpPr>
          <p:nvPr/>
        </p:nvCxnSpPr>
        <p:spPr>
          <a:xfrm flipV="1">
            <a:off x="5760717" y="4399278"/>
            <a:ext cx="146304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EE85988-5F20-BB46-CC8B-B8EE4C1A8098}"/>
              </a:ext>
            </a:extLst>
          </p:cNvPr>
          <p:cNvCxnSpPr>
            <a:cxnSpLocks/>
          </p:cNvCxnSpPr>
          <p:nvPr/>
        </p:nvCxnSpPr>
        <p:spPr>
          <a:xfrm flipV="1">
            <a:off x="5760717" y="5598158"/>
            <a:ext cx="146304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 descr="Bandiera Nera Spiaggia di segnalazione in vendita | Bandiere.it">
            <a:extLst>
              <a:ext uri="{FF2B5EF4-FFF2-40B4-BE49-F238E27FC236}">
                <a16:creationId xmlns:a16="http://schemas.microsoft.com/office/drawing/2014/main" id="{D477825E-0061-B9B7-2E8D-4184D6FE7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087" y="1845161"/>
            <a:ext cx="638410" cy="1088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0B7442-B667-38BF-AC76-A17A116FA5E3}"/>
              </a:ext>
            </a:extLst>
          </p:cNvPr>
          <p:cNvSpPr txBox="1"/>
          <p:nvPr/>
        </p:nvSpPr>
        <p:spPr>
          <a:xfrm>
            <a:off x="6385367" y="1485417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Spreco della memoria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341C08-1F11-0E35-39A9-28F8C5743E8C}"/>
              </a:ext>
            </a:extLst>
          </p:cNvPr>
          <p:cNvCxnSpPr/>
          <p:nvPr/>
        </p:nvCxnSpPr>
        <p:spPr>
          <a:xfrm flipH="1">
            <a:off x="5661950" y="1716910"/>
            <a:ext cx="704126" cy="22184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4981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C259-8B1E-1C68-1316-788E2DB85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Batang"/>
              </a:rPr>
              <a:t>Frammentazione esterna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17EF07-ACFB-3861-91F2-8CAE074F3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9849378"/>
              </p:ext>
            </p:extLst>
          </p:nvPr>
        </p:nvGraphicFramePr>
        <p:xfrm>
          <a:off x="4160455" y="2298603"/>
          <a:ext cx="4135929" cy="1851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5929">
                  <a:extLst>
                    <a:ext uri="{9D8B030D-6E8A-4147-A177-3AD203B41FA5}">
                      <a16:colId xmlns:a16="http://schemas.microsoft.com/office/drawing/2014/main" val="3128699114"/>
                    </a:ext>
                  </a:extLst>
                </a:gridCol>
              </a:tblGrid>
              <a:tr h="18519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380"/>
                  </a:ext>
                </a:extLst>
              </a:tr>
            </a:tbl>
          </a:graphicData>
        </a:graphic>
      </p:graphicFrame>
      <p:pic>
        <p:nvPicPr>
          <p:cNvPr id="6" name="Picture 5" descr="Bandiera Nera Spiaggia di segnalazione in vendita | Bandiere.it">
            <a:extLst>
              <a:ext uri="{FF2B5EF4-FFF2-40B4-BE49-F238E27FC236}">
                <a16:creationId xmlns:a16="http://schemas.microsoft.com/office/drawing/2014/main" id="{245E66DF-2183-5D4F-3BEC-D32F1E344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60" y="4574858"/>
            <a:ext cx="416560" cy="268605"/>
          </a:xfrm>
          <a:prstGeom prst="rect">
            <a:avLst/>
          </a:prstGeom>
        </p:spPr>
      </p:pic>
      <p:pic>
        <p:nvPicPr>
          <p:cNvPr id="8" name="Picture 7" descr="Bandiera Nera Spiaggia di segnalazione in vendita | Bandiere.it">
            <a:extLst>
              <a:ext uri="{FF2B5EF4-FFF2-40B4-BE49-F238E27FC236}">
                <a16:creationId xmlns:a16="http://schemas.microsoft.com/office/drawing/2014/main" id="{D793BCAF-3282-9D59-0A2F-3427F7E0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59" y="3754985"/>
            <a:ext cx="416560" cy="268605"/>
          </a:xfrm>
          <a:prstGeom prst="rect">
            <a:avLst/>
          </a:prstGeom>
        </p:spPr>
      </p:pic>
      <p:pic>
        <p:nvPicPr>
          <p:cNvPr id="10" name="Picture 9" descr="Bandiera Nera Spiaggia di segnalazione in vendita | Bandiere.it">
            <a:extLst>
              <a:ext uri="{FF2B5EF4-FFF2-40B4-BE49-F238E27FC236}">
                <a16:creationId xmlns:a16="http://schemas.microsoft.com/office/drawing/2014/main" id="{76224AC8-852B-0C2B-B05F-D41689886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89" y="3018834"/>
            <a:ext cx="416560" cy="268605"/>
          </a:xfrm>
          <a:prstGeom prst="rect">
            <a:avLst/>
          </a:prstGeom>
        </p:spPr>
      </p:pic>
      <p:pic>
        <p:nvPicPr>
          <p:cNvPr id="11" name="Picture 10" descr="Bandiera Nera Spiaggia di segnalazione in vendita | Bandiere.it">
            <a:extLst>
              <a:ext uri="{FF2B5EF4-FFF2-40B4-BE49-F238E27FC236}">
                <a16:creationId xmlns:a16="http://schemas.microsoft.com/office/drawing/2014/main" id="{21739D25-F0C4-D2E5-25CF-E24798302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58" y="3049314"/>
            <a:ext cx="416560" cy="268605"/>
          </a:xfrm>
          <a:prstGeom prst="rect">
            <a:avLst/>
          </a:prstGeom>
        </p:spPr>
      </p:pic>
      <p:pic>
        <p:nvPicPr>
          <p:cNvPr id="12" name="Picture 11" descr="Bandiera Nera Spiaggia di segnalazione in vendita | Bandiere.it">
            <a:extLst>
              <a:ext uri="{FF2B5EF4-FFF2-40B4-BE49-F238E27FC236}">
                <a16:creationId xmlns:a16="http://schemas.microsoft.com/office/drawing/2014/main" id="{F924E777-A5A9-EF8C-6608-2164F3D90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59" y="5240917"/>
            <a:ext cx="416560" cy="268605"/>
          </a:xfrm>
          <a:prstGeom prst="rect">
            <a:avLst/>
          </a:prstGeom>
        </p:spPr>
      </p:pic>
      <p:pic>
        <p:nvPicPr>
          <p:cNvPr id="13" name="Picture 12" descr="Bandiera Nera Spiaggia di segnalazione in vendita | Bandiere.it">
            <a:extLst>
              <a:ext uri="{FF2B5EF4-FFF2-40B4-BE49-F238E27FC236}">
                <a16:creationId xmlns:a16="http://schemas.microsoft.com/office/drawing/2014/main" id="{C5225EA6-1DC1-7357-0BE2-57B5967B3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73" y="6084710"/>
            <a:ext cx="416560" cy="26860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315C18-3F55-AC5D-9D20-55F1FE673AD1}"/>
              </a:ext>
            </a:extLst>
          </p:cNvPr>
          <p:cNvCxnSpPr/>
          <p:nvPr/>
        </p:nvCxnSpPr>
        <p:spPr>
          <a:xfrm flipV="1">
            <a:off x="1961395" y="3148055"/>
            <a:ext cx="40640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993622-F928-7726-9D0A-DB9288E425A0}"/>
              </a:ext>
            </a:extLst>
          </p:cNvPr>
          <p:cNvCxnSpPr/>
          <p:nvPr/>
        </p:nvCxnSpPr>
        <p:spPr>
          <a:xfrm flipV="1">
            <a:off x="1600907" y="4086249"/>
            <a:ext cx="30223" cy="37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1989D2-7242-8974-C070-308891E66473}"/>
              </a:ext>
            </a:extLst>
          </p:cNvPr>
          <p:cNvCxnSpPr>
            <a:cxnSpLocks/>
          </p:cNvCxnSpPr>
          <p:nvPr/>
        </p:nvCxnSpPr>
        <p:spPr>
          <a:xfrm flipH="1" flipV="1">
            <a:off x="1541747" y="3430864"/>
            <a:ext cx="27650" cy="242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67D5D36-B516-83B9-D2C0-05087A5A5A58}"/>
              </a:ext>
            </a:extLst>
          </p:cNvPr>
          <p:cNvCxnSpPr>
            <a:cxnSpLocks/>
          </p:cNvCxnSpPr>
          <p:nvPr/>
        </p:nvCxnSpPr>
        <p:spPr>
          <a:xfrm flipV="1">
            <a:off x="1600907" y="4858924"/>
            <a:ext cx="30223" cy="37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CF5380-992F-CC5C-F220-1DFE78B21EB2}"/>
              </a:ext>
            </a:extLst>
          </p:cNvPr>
          <p:cNvCxnSpPr>
            <a:cxnSpLocks/>
          </p:cNvCxnSpPr>
          <p:nvPr/>
        </p:nvCxnSpPr>
        <p:spPr>
          <a:xfrm flipV="1">
            <a:off x="1600907" y="5606262"/>
            <a:ext cx="30223" cy="37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1071F98-9983-1D81-D5FC-8821E9837B99}"/>
              </a:ext>
            </a:extLst>
          </p:cNvPr>
          <p:cNvCxnSpPr>
            <a:cxnSpLocks/>
          </p:cNvCxnSpPr>
          <p:nvPr/>
        </p:nvCxnSpPr>
        <p:spPr>
          <a:xfrm>
            <a:off x="3047743" y="3139438"/>
            <a:ext cx="655769" cy="18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E43C009-5F78-6EA6-CD6C-0B324D2CA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927125"/>
              </p:ext>
            </p:extLst>
          </p:nvPr>
        </p:nvGraphicFramePr>
        <p:xfrm>
          <a:off x="9966960" y="2458720"/>
          <a:ext cx="1097330" cy="1519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330">
                  <a:extLst>
                    <a:ext uri="{9D8B030D-6E8A-4147-A177-3AD203B41FA5}">
                      <a16:colId xmlns:a16="http://schemas.microsoft.com/office/drawing/2014/main" val="694673884"/>
                    </a:ext>
                  </a:extLst>
                </a:gridCol>
              </a:tblGrid>
              <a:tr h="15191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333730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A8D20E-D1E8-DCBE-7248-D4749F6EB331}"/>
              </a:ext>
            </a:extLst>
          </p:cNvPr>
          <p:cNvCxnSpPr/>
          <p:nvPr/>
        </p:nvCxnSpPr>
        <p:spPr>
          <a:xfrm>
            <a:off x="8534400" y="3180080"/>
            <a:ext cx="1117600" cy="101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929D3A5-17AB-9750-AD74-274C14D52B07}"/>
              </a:ext>
            </a:extLst>
          </p:cNvPr>
          <p:cNvSpPr txBox="1"/>
          <p:nvPr/>
        </p:nvSpPr>
        <p:spPr>
          <a:xfrm>
            <a:off x="9875520" y="1645920"/>
            <a:ext cx="12801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Uscita</a:t>
            </a:r>
            <a:r>
              <a:rPr lang="en-US" b="1" dirty="0"/>
              <a:t> job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619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B2620-096E-CF07-0624-2C03968FF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CA4B-30F3-E625-ABB3-2D8FFE33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Batang"/>
              </a:rPr>
              <a:t>Frammentazione esterna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1BF6B7-A1A8-2B2C-4809-9C15B7CC1D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60455" y="2298603"/>
          <a:ext cx="4135929" cy="1851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5929">
                  <a:extLst>
                    <a:ext uri="{9D8B030D-6E8A-4147-A177-3AD203B41FA5}">
                      <a16:colId xmlns:a16="http://schemas.microsoft.com/office/drawing/2014/main" val="3128699114"/>
                    </a:ext>
                  </a:extLst>
                </a:gridCol>
              </a:tblGrid>
              <a:tr h="18519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380"/>
                  </a:ext>
                </a:extLst>
              </a:tr>
            </a:tbl>
          </a:graphicData>
        </a:graphic>
      </p:graphicFrame>
      <p:pic>
        <p:nvPicPr>
          <p:cNvPr id="6" name="Picture 5" descr="Bandiera Nera Spiaggia di segnalazione in vendita | Bandiere.it">
            <a:extLst>
              <a:ext uri="{FF2B5EF4-FFF2-40B4-BE49-F238E27FC236}">
                <a16:creationId xmlns:a16="http://schemas.microsoft.com/office/drawing/2014/main" id="{7F55AC5E-844C-F697-F002-F95945727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60" y="4574858"/>
            <a:ext cx="416560" cy="268605"/>
          </a:xfrm>
          <a:prstGeom prst="rect">
            <a:avLst/>
          </a:prstGeom>
        </p:spPr>
      </p:pic>
      <p:pic>
        <p:nvPicPr>
          <p:cNvPr id="8" name="Picture 7" descr="Bandiera Nera Spiaggia di segnalazione in vendita | Bandiere.it">
            <a:extLst>
              <a:ext uri="{FF2B5EF4-FFF2-40B4-BE49-F238E27FC236}">
                <a16:creationId xmlns:a16="http://schemas.microsoft.com/office/drawing/2014/main" id="{6B845151-743B-3370-F13C-A31CB0EE7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139" y="2322425"/>
            <a:ext cx="619760" cy="1853565"/>
          </a:xfrm>
          <a:prstGeom prst="rect">
            <a:avLst/>
          </a:prstGeom>
        </p:spPr>
      </p:pic>
      <p:pic>
        <p:nvPicPr>
          <p:cNvPr id="10" name="Picture 9" descr="Bandiera Nera Spiaggia di segnalazione in vendita | Bandiere.it">
            <a:extLst>
              <a:ext uri="{FF2B5EF4-FFF2-40B4-BE49-F238E27FC236}">
                <a16:creationId xmlns:a16="http://schemas.microsoft.com/office/drawing/2014/main" id="{17A72BD0-E90A-88A6-970C-F8699161C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449" y="2297474"/>
            <a:ext cx="1341120" cy="1843405"/>
          </a:xfrm>
          <a:prstGeom prst="rect">
            <a:avLst/>
          </a:prstGeom>
        </p:spPr>
      </p:pic>
      <p:pic>
        <p:nvPicPr>
          <p:cNvPr id="11" name="Picture 10" descr="Bandiera Nera Spiaggia di segnalazione in vendita | Bandiere.it">
            <a:extLst>
              <a:ext uri="{FF2B5EF4-FFF2-40B4-BE49-F238E27FC236}">
                <a16:creationId xmlns:a16="http://schemas.microsoft.com/office/drawing/2014/main" id="{A660A33F-AFE0-9E58-993E-D7CECB0D1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738" y="2317794"/>
            <a:ext cx="1930400" cy="1843405"/>
          </a:xfrm>
          <a:prstGeom prst="rect">
            <a:avLst/>
          </a:prstGeom>
        </p:spPr>
      </p:pic>
      <p:pic>
        <p:nvPicPr>
          <p:cNvPr id="12" name="Picture 11" descr="Bandiera Nera Spiaggia di segnalazione in vendita | Bandiere.it">
            <a:extLst>
              <a:ext uri="{FF2B5EF4-FFF2-40B4-BE49-F238E27FC236}">
                <a16:creationId xmlns:a16="http://schemas.microsoft.com/office/drawing/2014/main" id="{F060F24F-E307-B09B-417E-9A59865F4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59" y="5240917"/>
            <a:ext cx="416560" cy="268605"/>
          </a:xfrm>
          <a:prstGeom prst="rect">
            <a:avLst/>
          </a:prstGeom>
        </p:spPr>
      </p:pic>
      <p:pic>
        <p:nvPicPr>
          <p:cNvPr id="13" name="Picture 12" descr="Bandiera Nera Spiaggia di segnalazione in vendita | Bandiere.it">
            <a:extLst>
              <a:ext uri="{FF2B5EF4-FFF2-40B4-BE49-F238E27FC236}">
                <a16:creationId xmlns:a16="http://schemas.microsoft.com/office/drawing/2014/main" id="{015F86CB-391E-73AE-C747-5725B13B5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73" y="6084710"/>
            <a:ext cx="416560" cy="26860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2C9595-A4E2-AA68-6CE2-D3568A21BBCB}"/>
              </a:ext>
            </a:extLst>
          </p:cNvPr>
          <p:cNvCxnSpPr/>
          <p:nvPr/>
        </p:nvCxnSpPr>
        <p:spPr>
          <a:xfrm flipV="1">
            <a:off x="1961395" y="3148055"/>
            <a:ext cx="40640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B1290D-D113-1083-D5C1-DFFE05B45E07}"/>
              </a:ext>
            </a:extLst>
          </p:cNvPr>
          <p:cNvCxnSpPr/>
          <p:nvPr/>
        </p:nvCxnSpPr>
        <p:spPr>
          <a:xfrm flipV="1">
            <a:off x="1600907" y="4086249"/>
            <a:ext cx="30223" cy="37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49771B8-459F-B0C4-BEEB-F40551D44CEE}"/>
              </a:ext>
            </a:extLst>
          </p:cNvPr>
          <p:cNvCxnSpPr>
            <a:cxnSpLocks/>
          </p:cNvCxnSpPr>
          <p:nvPr/>
        </p:nvCxnSpPr>
        <p:spPr>
          <a:xfrm flipH="1" flipV="1">
            <a:off x="1541747" y="3430864"/>
            <a:ext cx="27650" cy="242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AACBAF-BD38-0D29-340E-D4C7DDFC9B43}"/>
              </a:ext>
            </a:extLst>
          </p:cNvPr>
          <p:cNvCxnSpPr>
            <a:cxnSpLocks/>
          </p:cNvCxnSpPr>
          <p:nvPr/>
        </p:nvCxnSpPr>
        <p:spPr>
          <a:xfrm flipV="1">
            <a:off x="1600907" y="4858924"/>
            <a:ext cx="30223" cy="37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EAFB65-1E09-785B-D8B1-76A01F0B53A3}"/>
              </a:ext>
            </a:extLst>
          </p:cNvPr>
          <p:cNvCxnSpPr>
            <a:cxnSpLocks/>
          </p:cNvCxnSpPr>
          <p:nvPr/>
        </p:nvCxnSpPr>
        <p:spPr>
          <a:xfrm flipV="1">
            <a:off x="1600907" y="5606262"/>
            <a:ext cx="30223" cy="37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76AFDB-4E93-24E8-6E81-0E82A2BFC6D7}"/>
              </a:ext>
            </a:extLst>
          </p:cNvPr>
          <p:cNvCxnSpPr>
            <a:cxnSpLocks/>
          </p:cNvCxnSpPr>
          <p:nvPr/>
        </p:nvCxnSpPr>
        <p:spPr>
          <a:xfrm>
            <a:off x="3047743" y="3139438"/>
            <a:ext cx="655769" cy="18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068AAA7-E67E-2026-B30E-144FE396BB88}"/>
              </a:ext>
            </a:extLst>
          </p:cNvPr>
          <p:cNvGraphicFramePr>
            <a:graphicFrameLocks noGrp="1"/>
          </p:cNvGraphicFramePr>
          <p:nvPr/>
        </p:nvGraphicFramePr>
        <p:xfrm>
          <a:off x="9966960" y="2458720"/>
          <a:ext cx="1097330" cy="1519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330">
                  <a:extLst>
                    <a:ext uri="{9D8B030D-6E8A-4147-A177-3AD203B41FA5}">
                      <a16:colId xmlns:a16="http://schemas.microsoft.com/office/drawing/2014/main" val="694673884"/>
                    </a:ext>
                  </a:extLst>
                </a:gridCol>
              </a:tblGrid>
              <a:tr h="15191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333730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BFAE17-6E85-4624-28BF-1627FB41C224}"/>
              </a:ext>
            </a:extLst>
          </p:cNvPr>
          <p:cNvCxnSpPr/>
          <p:nvPr/>
        </p:nvCxnSpPr>
        <p:spPr>
          <a:xfrm>
            <a:off x="8534400" y="3180080"/>
            <a:ext cx="1117600" cy="101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B4BFDF9-6B14-4D89-1946-240B86CB6AFA}"/>
              </a:ext>
            </a:extLst>
          </p:cNvPr>
          <p:cNvSpPr txBox="1"/>
          <p:nvPr/>
        </p:nvSpPr>
        <p:spPr>
          <a:xfrm>
            <a:off x="9875520" y="1645920"/>
            <a:ext cx="12801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Uscita</a:t>
            </a:r>
            <a:r>
              <a:rPr lang="en-US" b="1" dirty="0"/>
              <a:t> job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277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3776-A658-A1BD-A111-0EBC66887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DFE6-E09E-ACC1-8EC4-D96341B3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Batang"/>
              </a:rPr>
              <a:t>Frammentazione esterna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CA31AA-EEF6-A409-CA14-EF0471B5FF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60455" y="2298603"/>
          <a:ext cx="4135929" cy="1851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5929">
                  <a:extLst>
                    <a:ext uri="{9D8B030D-6E8A-4147-A177-3AD203B41FA5}">
                      <a16:colId xmlns:a16="http://schemas.microsoft.com/office/drawing/2014/main" val="3128699114"/>
                    </a:ext>
                  </a:extLst>
                </a:gridCol>
              </a:tblGrid>
              <a:tr h="185194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4380"/>
                  </a:ext>
                </a:extLst>
              </a:tr>
            </a:tbl>
          </a:graphicData>
        </a:graphic>
      </p:graphicFrame>
      <p:pic>
        <p:nvPicPr>
          <p:cNvPr id="6" name="Picture 5" descr="Bandiera Nera Spiaggia di segnalazione in vendita | Bandiere.it">
            <a:extLst>
              <a:ext uri="{FF2B5EF4-FFF2-40B4-BE49-F238E27FC236}">
                <a16:creationId xmlns:a16="http://schemas.microsoft.com/office/drawing/2014/main" id="{506030BB-1610-0840-ECBB-4F79AD3E2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740" y="2299018"/>
            <a:ext cx="1544320" cy="1863725"/>
          </a:xfrm>
          <a:prstGeom prst="rect">
            <a:avLst/>
          </a:prstGeom>
        </p:spPr>
      </p:pic>
      <p:pic>
        <p:nvPicPr>
          <p:cNvPr id="8" name="Picture 7" descr="Bandiera Nera Spiaggia di segnalazione in vendita | Bandiere.it">
            <a:extLst>
              <a:ext uri="{FF2B5EF4-FFF2-40B4-BE49-F238E27FC236}">
                <a16:creationId xmlns:a16="http://schemas.microsoft.com/office/drawing/2014/main" id="{2F327D88-5289-0E34-5996-09328E6FB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659" y="2291945"/>
            <a:ext cx="619760" cy="1853565"/>
          </a:xfrm>
          <a:prstGeom prst="rect">
            <a:avLst/>
          </a:prstGeom>
        </p:spPr>
      </p:pic>
      <p:pic>
        <p:nvPicPr>
          <p:cNvPr id="10" name="Picture 9" descr="Bandiera Nera Spiaggia di segnalazione in vendita | Bandiere.it">
            <a:extLst>
              <a:ext uri="{FF2B5EF4-FFF2-40B4-BE49-F238E27FC236}">
                <a16:creationId xmlns:a16="http://schemas.microsoft.com/office/drawing/2014/main" id="{D2B9B609-5E89-362A-9C0D-8D7A486DB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569" y="2642914"/>
            <a:ext cx="792480" cy="1243965"/>
          </a:xfrm>
          <a:prstGeom prst="rect">
            <a:avLst/>
          </a:prstGeom>
        </p:spPr>
      </p:pic>
      <p:pic>
        <p:nvPicPr>
          <p:cNvPr id="11" name="Picture 10" descr="Bandiera Nera Spiaggia di segnalazione in vendita | Bandiere.it">
            <a:extLst>
              <a:ext uri="{FF2B5EF4-FFF2-40B4-BE49-F238E27FC236}">
                <a16:creationId xmlns:a16="http://schemas.microsoft.com/office/drawing/2014/main" id="{8D259D1C-5914-B312-35DB-F9AF69717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738" y="2978194"/>
            <a:ext cx="995680" cy="1000125"/>
          </a:xfrm>
          <a:prstGeom prst="rect">
            <a:avLst/>
          </a:prstGeom>
        </p:spPr>
      </p:pic>
      <p:pic>
        <p:nvPicPr>
          <p:cNvPr id="12" name="Picture 11" descr="Bandiera Nera Spiaggia di segnalazione in vendita | Bandiere.it">
            <a:extLst>
              <a:ext uri="{FF2B5EF4-FFF2-40B4-BE49-F238E27FC236}">
                <a16:creationId xmlns:a16="http://schemas.microsoft.com/office/drawing/2014/main" id="{7F52F061-4FBC-4E82-8984-AAE42150C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619" y="2294517"/>
            <a:ext cx="873760" cy="1853565"/>
          </a:xfrm>
          <a:prstGeom prst="rect">
            <a:avLst/>
          </a:prstGeom>
        </p:spPr>
      </p:pic>
      <p:pic>
        <p:nvPicPr>
          <p:cNvPr id="13" name="Picture 12" descr="Bandiera Nera Spiaggia di segnalazione in vendita | Bandiere.it">
            <a:extLst>
              <a:ext uri="{FF2B5EF4-FFF2-40B4-BE49-F238E27FC236}">
                <a16:creationId xmlns:a16="http://schemas.microsoft.com/office/drawing/2014/main" id="{674A92EA-1820-9FC3-5CCA-878D38832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693" y="2996070"/>
            <a:ext cx="416560" cy="26860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2D11A0-9E53-44D9-9449-ADFCBB9B451D}"/>
              </a:ext>
            </a:extLst>
          </p:cNvPr>
          <p:cNvCxnSpPr/>
          <p:nvPr/>
        </p:nvCxnSpPr>
        <p:spPr>
          <a:xfrm flipV="1">
            <a:off x="1961395" y="3148055"/>
            <a:ext cx="40640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4C97B6-B32D-F146-CDFF-E72B542D2616}"/>
              </a:ext>
            </a:extLst>
          </p:cNvPr>
          <p:cNvCxnSpPr/>
          <p:nvPr/>
        </p:nvCxnSpPr>
        <p:spPr>
          <a:xfrm flipV="1">
            <a:off x="1600907" y="4086249"/>
            <a:ext cx="30223" cy="37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9670BD-7909-175B-CD81-36BC9E57889D}"/>
              </a:ext>
            </a:extLst>
          </p:cNvPr>
          <p:cNvCxnSpPr>
            <a:cxnSpLocks/>
          </p:cNvCxnSpPr>
          <p:nvPr/>
        </p:nvCxnSpPr>
        <p:spPr>
          <a:xfrm flipH="1" flipV="1">
            <a:off x="1541747" y="3430864"/>
            <a:ext cx="27650" cy="242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9AB1AF-94E7-29BB-1CEF-6C9686E72212}"/>
              </a:ext>
            </a:extLst>
          </p:cNvPr>
          <p:cNvCxnSpPr>
            <a:cxnSpLocks/>
          </p:cNvCxnSpPr>
          <p:nvPr/>
        </p:nvCxnSpPr>
        <p:spPr>
          <a:xfrm flipV="1">
            <a:off x="1600907" y="4858924"/>
            <a:ext cx="30223" cy="37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B52708-4522-6A80-AC6E-E916A169B964}"/>
              </a:ext>
            </a:extLst>
          </p:cNvPr>
          <p:cNvCxnSpPr>
            <a:cxnSpLocks/>
          </p:cNvCxnSpPr>
          <p:nvPr/>
        </p:nvCxnSpPr>
        <p:spPr>
          <a:xfrm flipV="1">
            <a:off x="1600907" y="5606262"/>
            <a:ext cx="30223" cy="37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D4F0D2-9E1A-E854-E4DF-95AD9DB0A73A}"/>
              </a:ext>
            </a:extLst>
          </p:cNvPr>
          <p:cNvCxnSpPr>
            <a:cxnSpLocks/>
          </p:cNvCxnSpPr>
          <p:nvPr/>
        </p:nvCxnSpPr>
        <p:spPr>
          <a:xfrm>
            <a:off x="3047743" y="3139438"/>
            <a:ext cx="655769" cy="18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A00FEF8-026E-D224-C1C7-42EEDA8504F2}"/>
              </a:ext>
            </a:extLst>
          </p:cNvPr>
          <p:cNvGraphicFramePr>
            <a:graphicFrameLocks noGrp="1"/>
          </p:cNvGraphicFramePr>
          <p:nvPr/>
        </p:nvGraphicFramePr>
        <p:xfrm>
          <a:off x="9966960" y="2458720"/>
          <a:ext cx="1097330" cy="1519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330">
                  <a:extLst>
                    <a:ext uri="{9D8B030D-6E8A-4147-A177-3AD203B41FA5}">
                      <a16:colId xmlns:a16="http://schemas.microsoft.com/office/drawing/2014/main" val="694673884"/>
                    </a:ext>
                  </a:extLst>
                </a:gridCol>
              </a:tblGrid>
              <a:tr h="15191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333730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8BDBBE2-6C5E-6AD4-B2AD-F2D6E401DA1C}"/>
              </a:ext>
            </a:extLst>
          </p:cNvPr>
          <p:cNvCxnSpPr/>
          <p:nvPr/>
        </p:nvCxnSpPr>
        <p:spPr>
          <a:xfrm>
            <a:off x="8534400" y="3180080"/>
            <a:ext cx="1117600" cy="101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D578D14-B8E0-CD3C-93AE-365CDEFBC1DA}"/>
              </a:ext>
            </a:extLst>
          </p:cNvPr>
          <p:cNvSpPr txBox="1"/>
          <p:nvPr/>
        </p:nvSpPr>
        <p:spPr>
          <a:xfrm>
            <a:off x="9875520" y="1645920"/>
            <a:ext cx="12801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Uscita</a:t>
            </a:r>
            <a:r>
              <a:rPr lang="en-US" b="1" dirty="0"/>
              <a:t> job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622DD-C46C-7B2E-62B9-8651ADAA627C}"/>
              </a:ext>
            </a:extLst>
          </p:cNvPr>
          <p:cNvSpPr txBox="1"/>
          <p:nvPr/>
        </p:nvSpPr>
        <p:spPr>
          <a:xfrm>
            <a:off x="2031999" y="1717040"/>
            <a:ext cx="1676400" cy="666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Non </a:t>
            </a:r>
            <a:r>
              <a:rPr lang="en-US" b="1" dirty="0" err="1"/>
              <a:t>puo</a:t>
            </a:r>
            <a:r>
              <a:rPr lang="en-US" b="1" dirty="0"/>
              <a:t> </a:t>
            </a:r>
            <a:r>
              <a:rPr lang="en-US" b="1" dirty="0" err="1"/>
              <a:t>andare</a:t>
            </a:r>
            <a:r>
              <a:rPr lang="en-US" b="1" dirty="0"/>
              <a:t> in </a:t>
            </a:r>
            <a:r>
              <a:rPr lang="en-US" b="1" dirty="0" err="1"/>
              <a:t>esecuzione</a:t>
            </a:r>
            <a:endParaRPr lang="en-US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74E8CA9-7B91-C545-7992-B1D3A3A87BF2}"/>
              </a:ext>
            </a:extLst>
          </p:cNvPr>
          <p:cNvCxnSpPr/>
          <p:nvPr/>
        </p:nvCxnSpPr>
        <p:spPr>
          <a:xfrm>
            <a:off x="2804160" y="2458720"/>
            <a:ext cx="20320" cy="416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FE04D7-B298-603F-CE03-3DD5A172E582}"/>
              </a:ext>
            </a:extLst>
          </p:cNvPr>
          <p:cNvCxnSpPr>
            <a:cxnSpLocks/>
          </p:cNvCxnSpPr>
          <p:nvPr/>
        </p:nvCxnSpPr>
        <p:spPr>
          <a:xfrm flipH="1">
            <a:off x="5242559" y="1869440"/>
            <a:ext cx="57912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CD7FCC-9FAD-84E3-D03C-1A18685FD6D9}"/>
              </a:ext>
            </a:extLst>
          </p:cNvPr>
          <p:cNvCxnSpPr>
            <a:cxnSpLocks/>
          </p:cNvCxnSpPr>
          <p:nvPr/>
        </p:nvCxnSpPr>
        <p:spPr>
          <a:xfrm>
            <a:off x="6278879" y="1869440"/>
            <a:ext cx="833120" cy="386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18EE21-FB43-6D6A-C7AB-2C77DB8181B0}"/>
              </a:ext>
            </a:extLst>
          </p:cNvPr>
          <p:cNvCxnSpPr>
            <a:cxnSpLocks/>
          </p:cNvCxnSpPr>
          <p:nvPr/>
        </p:nvCxnSpPr>
        <p:spPr>
          <a:xfrm>
            <a:off x="7061199" y="1869440"/>
            <a:ext cx="1026160" cy="386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702884B-610C-35FE-1713-6B31DAAFC5C2}"/>
              </a:ext>
            </a:extLst>
          </p:cNvPr>
          <p:cNvSpPr txBox="1"/>
          <p:nvPr/>
        </p:nvSpPr>
        <p:spPr>
          <a:xfrm>
            <a:off x="5547360" y="153416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Spreco</a:t>
            </a:r>
            <a:r>
              <a:rPr lang="en-US" b="1" dirty="0"/>
              <a:t> di memoria</a:t>
            </a:r>
          </a:p>
        </p:txBody>
      </p:sp>
    </p:spTree>
    <p:extLst>
      <p:ext uri="{BB962C8B-B14F-4D97-AF65-F5344CB8AC3E}">
        <p14:creationId xmlns:p14="http://schemas.microsoft.com/office/powerpoint/2010/main" val="35672229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0819F-EEFF-ADAC-3358-93202DEA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US" dirty="0">
                <a:ea typeface="Batang"/>
              </a:rPr>
              <a:t>Schema a </a:t>
            </a:r>
            <a:r>
              <a:rPr lang="en-US" dirty="0" err="1">
                <a:ea typeface="Batang"/>
              </a:rPr>
              <a:t>partizione</a:t>
            </a:r>
            <a:r>
              <a:rPr lang="en-US" dirty="0">
                <a:ea typeface="Batang"/>
              </a:rPr>
              <a:t> </a:t>
            </a:r>
            <a:r>
              <a:rPr lang="en-US" dirty="0" err="1">
                <a:ea typeface="Batang"/>
              </a:rPr>
              <a:t>variabile</a:t>
            </a:r>
            <a:r>
              <a:rPr lang="en-US" dirty="0">
                <a:ea typeface="Batang"/>
              </a:rPr>
              <a:t> o </a:t>
            </a:r>
            <a:r>
              <a:rPr lang="en-US" dirty="0" err="1">
                <a:ea typeface="Batang"/>
              </a:rPr>
              <a:t>dinamico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8D8F5-ABFC-87D0-30E4-5064E98F5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296161"/>
            <a:ext cx="4788505" cy="38460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Batang"/>
              </a:rPr>
              <a:t>Possibile</a:t>
            </a:r>
            <a:r>
              <a:rPr lang="en-US" dirty="0">
                <a:ea typeface="Batang"/>
              </a:rPr>
              <a:t> </a:t>
            </a:r>
            <a:r>
              <a:rPr lang="en-US" dirty="0" err="1">
                <a:ea typeface="Batang"/>
              </a:rPr>
              <a:t>modificare</a:t>
            </a:r>
            <a:r>
              <a:rPr lang="en-US" dirty="0">
                <a:ea typeface="Batang"/>
              </a:rPr>
              <a:t> </a:t>
            </a:r>
            <a:r>
              <a:rPr lang="en-US" dirty="0" err="1">
                <a:ea typeface="Batang"/>
              </a:rPr>
              <a:t>sia</a:t>
            </a:r>
            <a:r>
              <a:rPr lang="en-US" dirty="0">
                <a:ea typeface="Batang"/>
              </a:rPr>
              <a:t> il </a:t>
            </a:r>
            <a:r>
              <a:rPr lang="en-US" dirty="0" err="1">
                <a:ea typeface="Batang"/>
              </a:rPr>
              <a:t>numero</a:t>
            </a:r>
            <a:r>
              <a:rPr lang="en-US" dirty="0">
                <a:ea typeface="Batang"/>
              </a:rPr>
              <a:t> </a:t>
            </a:r>
            <a:r>
              <a:rPr lang="en-US" dirty="0" err="1">
                <a:ea typeface="Batang"/>
              </a:rPr>
              <a:t>che</a:t>
            </a:r>
            <a:r>
              <a:rPr lang="en-US" dirty="0">
                <a:ea typeface="Batang"/>
              </a:rPr>
              <a:t> la </a:t>
            </a:r>
            <a:r>
              <a:rPr lang="en-US" dirty="0" err="1">
                <a:ea typeface="Batang"/>
              </a:rPr>
              <a:t>dimensioni</a:t>
            </a:r>
            <a:r>
              <a:rPr lang="en-US" dirty="0">
                <a:ea typeface="Batang"/>
              </a:rPr>
              <a:t> delle </a:t>
            </a:r>
            <a:r>
              <a:rPr lang="en-US" dirty="0" err="1">
                <a:ea typeface="Batang"/>
              </a:rPr>
              <a:t>partizioni</a:t>
            </a:r>
            <a:r>
              <a:rPr lang="en-US" dirty="0">
                <a:ea typeface="Batang"/>
              </a:rPr>
              <a:t>;</a:t>
            </a:r>
            <a:endParaRPr lang="en-US" dirty="0"/>
          </a:p>
          <a:p>
            <a:r>
              <a:rPr lang="en-US" dirty="0">
                <a:ea typeface="Batang"/>
              </a:rPr>
              <a:t>L'SO </a:t>
            </a:r>
            <a:r>
              <a:rPr lang="en-US" dirty="0" err="1">
                <a:ea typeface="Batang"/>
              </a:rPr>
              <a:t>svolge</a:t>
            </a:r>
            <a:r>
              <a:rPr lang="en-US" dirty="0">
                <a:ea typeface="Batang"/>
              </a:rPr>
              <a:t> un </a:t>
            </a:r>
            <a:r>
              <a:rPr lang="en-US" dirty="0" err="1">
                <a:ea typeface="Batang"/>
              </a:rPr>
              <a:t>lavoro</a:t>
            </a:r>
            <a:r>
              <a:rPr lang="en-US" dirty="0">
                <a:ea typeface="Batang"/>
              </a:rPr>
              <a:t> </a:t>
            </a:r>
            <a:r>
              <a:rPr lang="en-US" dirty="0" err="1">
                <a:ea typeface="Batang"/>
              </a:rPr>
              <a:t>complesso</a:t>
            </a:r>
            <a:r>
              <a:rPr lang="en-US" dirty="0">
                <a:ea typeface="Batang"/>
              </a:rPr>
              <a:t>;</a:t>
            </a:r>
          </a:p>
          <a:p>
            <a:r>
              <a:rPr lang="en-US" dirty="0" err="1">
                <a:ea typeface="Batang"/>
              </a:rPr>
              <a:t>Strategie</a:t>
            </a:r>
            <a:r>
              <a:rPr lang="en-US" dirty="0">
                <a:ea typeface="Batang"/>
              </a:rPr>
              <a:t> </a:t>
            </a:r>
            <a:r>
              <a:rPr lang="en-US" dirty="0" err="1">
                <a:ea typeface="Batang"/>
              </a:rPr>
              <a:t>risolutive</a:t>
            </a:r>
            <a:r>
              <a:rPr lang="en-US" dirty="0">
                <a:ea typeface="Batang"/>
              </a:rPr>
              <a:t>:</a:t>
            </a:r>
          </a:p>
          <a:p>
            <a:pPr marL="0" indent="0">
              <a:buNone/>
            </a:pPr>
            <a:r>
              <a:rPr lang="en-US">
                <a:ea typeface="Batang"/>
              </a:rPr>
              <a:t>1. first-fit</a:t>
            </a:r>
          </a:p>
          <a:p>
            <a:pPr marL="0" indent="0">
              <a:buNone/>
            </a:pPr>
            <a:r>
              <a:rPr lang="en-US">
                <a:ea typeface="Batang"/>
              </a:rPr>
              <a:t>2. next-fit</a:t>
            </a:r>
          </a:p>
          <a:p>
            <a:pPr marL="0" indent="0">
              <a:buNone/>
            </a:pPr>
            <a:r>
              <a:rPr lang="en-US">
                <a:ea typeface="Batang"/>
              </a:rPr>
              <a:t>3.best-fit</a:t>
            </a:r>
            <a:endParaRPr lang="en-US" dirty="0"/>
          </a:p>
          <a:p>
            <a:pPr marL="0" indent="0">
              <a:buNone/>
            </a:pPr>
            <a:r>
              <a:rPr lang="en-US">
                <a:ea typeface="Batang"/>
              </a:rPr>
              <a:t>4.worst-fit</a:t>
            </a:r>
            <a:endParaRPr lang="en-US" dirty="0">
              <a:ea typeface="Batang"/>
            </a:endParaRPr>
          </a:p>
        </p:txBody>
      </p:sp>
      <p:pic>
        <p:nvPicPr>
          <p:cNvPr id="4" name="Picture 3" descr="Notizie tecnologia: ultime notizie su cellulari, computer, videogiochi,  internet e social network | Il Sole 24 Ore">
            <a:extLst>
              <a:ext uri="{FF2B5EF4-FFF2-40B4-BE49-F238E27FC236}">
                <a16:creationId xmlns:a16="http://schemas.microsoft.com/office/drawing/2014/main" id="{815B608D-6928-4BD3-83FD-8DFFAB935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550" y="1978172"/>
            <a:ext cx="4690257" cy="3846011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29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 descr="4.016.300+ Sfondi Tecnologici Foto stock, immagini e fotografie  royalty-free - iStock | Sfondi astratti, Disturbo psicologico, Sfondi  colorati">
            <a:extLst>
              <a:ext uri="{FF2B5EF4-FFF2-40B4-BE49-F238E27FC236}">
                <a16:creationId xmlns:a16="http://schemas.microsoft.com/office/drawing/2014/main" id="{8881DAEA-0F01-9332-0D7C-D48351105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>
          <a:xfrm>
            <a:off x="20" y="1"/>
            <a:ext cx="12191979" cy="685799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F3677B-A97D-4CAD-A971-B22755F56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4516342"/>
          </a:xfrm>
          <a:prstGeom prst="rect">
            <a:avLst/>
          </a:prstGeom>
          <a:gradFill>
            <a:gsLst>
              <a:gs pos="47000">
                <a:srgbClr val="000000">
                  <a:alpha val="22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4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7CB2D59-1001-AE83-1CEA-CCE462DF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763" y="2265239"/>
            <a:ext cx="8512448" cy="138437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ea typeface="Batang"/>
              </a:rPr>
              <a:t>Grazie per </a:t>
            </a:r>
            <a:r>
              <a:rPr lang="en-US" err="1">
                <a:solidFill>
                  <a:srgbClr val="FFFFFF"/>
                </a:solidFill>
                <a:ea typeface="Batang"/>
              </a:rPr>
              <a:t>l'attenzione</a:t>
            </a:r>
            <a:endParaRPr lang="en-US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0668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chiveVTI">
  <a:themeElements>
    <a:clrScheme name="Archive">
      <a:dk1>
        <a:sysClr val="windowText" lastClr="000000"/>
      </a:dk1>
      <a:lt1>
        <a:sysClr val="window" lastClr="FFFFFF"/>
      </a:lt1>
      <a:dk2>
        <a:srgbClr val="353B3D"/>
      </a:dk2>
      <a:lt2>
        <a:srgbClr val="EEECEA"/>
      </a:lt2>
      <a:accent1>
        <a:srgbClr val="A65E5E"/>
      </a:accent1>
      <a:accent2>
        <a:srgbClr val="9D6053"/>
      </a:accent2>
      <a:accent3>
        <a:srgbClr val="968274"/>
      </a:accent3>
      <a:accent4>
        <a:srgbClr val="878079"/>
      </a:accent4>
      <a:accent5>
        <a:srgbClr val="6C737A"/>
      </a:accent5>
      <a:accent6>
        <a:srgbClr val="697777"/>
      </a:accent6>
      <a:hlink>
        <a:srgbClr val="A25872"/>
      </a:hlink>
      <a:folHlink>
        <a:srgbClr val="667A7E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ArchiveVTI</vt:lpstr>
      <vt:lpstr>LA GESTIONE DELLA MEMORIA</vt:lpstr>
      <vt:lpstr>Sommario</vt:lpstr>
      <vt:lpstr>LA MEMORIA CENTRALE (ram)</vt:lpstr>
      <vt:lpstr>I vari tipi di memora</vt:lpstr>
      <vt:lpstr>Caricamento del programma</vt:lpstr>
      <vt:lpstr>Caricamento del programma</vt:lpstr>
      <vt:lpstr>RILOCAZIONE STATICA</vt:lpstr>
      <vt:lpstr>RILOCAZIONE STATICA</vt:lpstr>
      <vt:lpstr>Rilocazione dinamica</vt:lpstr>
      <vt:lpstr>Rilocazione dinamica</vt:lpstr>
      <vt:lpstr>BINDING e linking</vt:lpstr>
      <vt:lpstr>Quali sono le tecniche per ottimizzare l'utilizzo della memoria?</vt:lpstr>
      <vt:lpstr>Tecniche di allocazione della memoria centrale</vt:lpstr>
      <vt:lpstr>Partizionamento</vt:lpstr>
      <vt:lpstr>Frammentazione interna</vt:lpstr>
      <vt:lpstr>Frammentazione interna</vt:lpstr>
      <vt:lpstr>Frammentazione esterna</vt:lpstr>
      <vt:lpstr>Frammentazione esterna</vt:lpstr>
      <vt:lpstr>Frammentazione esterna</vt:lpstr>
      <vt:lpstr>Schema a partizione variabile o dinamico</vt:lpstr>
      <vt:lpstr>Grazie per l'attenzione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928</cp:revision>
  <dcterms:created xsi:type="dcterms:W3CDTF">2026-02-15T19:55:59Z</dcterms:created>
  <dcterms:modified xsi:type="dcterms:W3CDTF">2026-03-11T21:48:55Z</dcterms:modified>
</cp:coreProperties>
</file>