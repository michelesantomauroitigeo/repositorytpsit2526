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2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3D24A7-9C65-486F-CEDE-A90146723E62}" v="265" dt="2026-02-15T17:22:27.632"/>
  </p1510:revLst>
</p1510:revInfo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>
        <p:scale>
          <a:sx n="125" d="100"/>
          <a:sy n="125" d="100"/>
        </p:scale>
        <p:origin x="-342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A0315-AB91-42BB-B4E1-FAC864053F08}" type="datetimeFigureOut">
              <a:rPr lang="it-IT" smtClean="0"/>
              <a:t>12/04/2026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BEE1C-5A38-4F60-A043-0082E6CBB8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406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E1AA-7750-41E1-8655-1AAE09A604D1}" type="datetime1">
              <a:rPr lang="it-IT" smtClean="0"/>
              <a:t>12/04/2026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9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92521-F359-4416-B703-1D6311607461}" type="datetime1">
              <a:rPr lang="it-IT" smtClean="0"/>
              <a:t>12/04/2026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87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8135-DE0F-4E83-A4C9-FEC634C57DBA}" type="datetime1">
              <a:rPr lang="it-IT" smtClean="0"/>
              <a:t>12/04/2026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17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8BDF6-99D5-4D3F-92C4-7528D8635F42}" type="datetime1">
              <a:rPr lang="it-IT" smtClean="0"/>
              <a:t>12/04/2026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54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B7B6-7EF4-4572-9743-FDCA2C59F339}" type="datetime1">
              <a:rPr lang="it-IT" smtClean="0"/>
              <a:t>12/04/2026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65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2CCE-49C5-4DAC-BBBF-413498642E51}" type="datetime1">
              <a:rPr lang="it-IT" smtClean="0"/>
              <a:t>12/04/2026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2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C131-9FC8-4B4A-B198-5764DD09F762}" type="datetime1">
              <a:rPr lang="it-IT" smtClean="0"/>
              <a:t>12/04/2026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21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B0FF-AAB2-49E9-A785-765060CA9DC1}" type="datetime1">
              <a:rPr lang="it-IT" smtClean="0"/>
              <a:t>12/04/2026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91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047F-5CFF-40EF-8A9D-C0DECB40C345}" type="datetime1">
              <a:rPr lang="it-IT" smtClean="0"/>
              <a:t>12/04/2026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4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A5500-4136-4AB9-9087-ADAFE989EAF3}" type="datetime1">
              <a:rPr lang="it-IT" smtClean="0"/>
              <a:t>12/04/2026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84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D5AA-7CFC-4F5E-9B64-63ECA51A1816}" type="datetime1">
              <a:rPr lang="it-IT" smtClean="0"/>
              <a:t>12/04/2026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60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5F36A129-ED9F-4E58-BE13-1ABCD9F0794C}" type="datetime1">
              <a:rPr lang="it-IT" smtClean="0"/>
              <a:t>12/04/2026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3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5303E-1D59-4477-A849-22C7FEACD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12648" y="557783"/>
            <a:ext cx="3901736" cy="313080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100">
                <a:solidFill>
                  <a:srgbClr val="FFFFFF"/>
                </a:solidFill>
              </a:rPr>
              <a:t>LA GESTIONE DELLA MEMORIA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3901736" cy="224052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endParaRPr lang="de-DE" sz="2800">
              <a:solidFill>
                <a:srgbClr val="FFFFFF"/>
              </a:solidFill>
            </a:endParaRPr>
          </a:p>
          <a:p>
            <a:endParaRPr lang="de-DE" sz="2800" dirty="0">
              <a:solidFill>
                <a:srgbClr val="FFFFFF"/>
              </a:solidFill>
            </a:endParaRPr>
          </a:p>
          <a:p>
            <a:endParaRPr lang="de-DE" sz="2800" dirty="0">
              <a:solidFill>
                <a:srgbClr val="FFFFFF"/>
              </a:solidFill>
            </a:endParaRPr>
          </a:p>
          <a:p>
            <a:r>
              <a:rPr lang="de-DE" sz="2800">
                <a:solidFill>
                  <a:srgbClr val="FFFFFF"/>
                </a:solidFill>
              </a:rPr>
              <a:t>VITO SANSONE 3I</a:t>
            </a:r>
            <a:endParaRPr lang="de-DE" sz="28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F0E5B-7370-4A0A-474F-CBBCAA55F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86" r="13" b="13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29FE05D-C1E6-2525-BF7F-E5011182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9A7C-9B03-415C-A20A-13DDF9531281}" type="datetime1">
              <a:rPr lang="it-IT" sz="1400" smtClean="0"/>
              <a:t>12/04/2026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D28ACE-41DC-B94C-826B-B275E07CA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4606456" cy="1154711"/>
          </a:xfrm>
        </p:spPr>
        <p:txBody>
          <a:bodyPr>
            <a:normAutofit/>
          </a:bodyPr>
          <a:lstStyle/>
          <a:p>
            <a:r>
              <a:rPr lang="it-IT" sz="6000" b="1" dirty="0">
                <a:cs typeface="Posterama"/>
              </a:rPr>
              <a:t>SOMMARIO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F11702-CC29-51FD-1AFA-1EAD6D92D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2036394"/>
            <a:ext cx="5265951" cy="379290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 sz="2400" dirty="0"/>
              <a:t>DI CHE TIPO PUO ESSERE LA MEMORIA?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 sz="2400" dirty="0"/>
              <a:t>CARICAMENTO DI UN PROGRAMMA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 sz="2400" dirty="0"/>
              <a:t>RILOCAZIONE STATICA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 sz="2400" dirty="0"/>
              <a:t>RILOCAZIONE DINAMICA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 sz="2400" dirty="0">
                <a:cs typeface="Posterama"/>
              </a:rPr>
              <a:t>BINDING E LINKING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 sz="2400" dirty="0"/>
              <a:t>L'OTTIMIZZAZIONE DELLA MEMORIA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 sz="2400" dirty="0"/>
              <a:t>TECNICHE DI OTTIMIZZAZIONE DELLA MEMORIA​</a:t>
            </a:r>
          </a:p>
        </p:txBody>
      </p:sp>
      <p:pic>
        <p:nvPicPr>
          <p:cNvPr id="4" name="Immagine 3" descr="Differenza tra memoria CPU, memoria RAM e memoria di massa | Informatica e  Ingegneria Online">
            <a:extLst>
              <a:ext uri="{FF2B5EF4-FFF2-40B4-BE49-F238E27FC236}">
                <a16:creationId xmlns:a16="http://schemas.microsoft.com/office/drawing/2014/main" id="{9F8B4362-DB5C-8218-CCA8-FA14956973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96" r="20539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AAD945B-5B82-25EB-3789-223A539E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1CC2-EADB-47E7-B633-708926E6AA91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27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C43D22-E0D4-4183-835A-F9AF4C394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A4E2873-E99E-65E4-C7DD-B7A73075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30303"/>
            <a:ext cx="5303520" cy="2498697"/>
          </a:xfrm>
        </p:spPr>
        <p:txBody>
          <a:bodyPr anchor="t">
            <a:normAutofit/>
          </a:bodyPr>
          <a:lstStyle/>
          <a:p>
            <a:r>
              <a:rPr lang="it-IT" b="1">
                <a:cs typeface="Posterama"/>
              </a:rPr>
              <a:t>DI CHE TIPO PUO ESSERE LA MEMORIA?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B79880-7F47-2157-C5DB-E23974ED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0" y="930303"/>
            <a:ext cx="5303520" cy="24986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/>
              <a:t>CACHE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/>
              <a:t>MEMORIA PRINCIPALE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/>
              <a:t>NASTRO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/>
              <a:t>REGISTRI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it-IT"/>
              <a:t>DISCO</a:t>
            </a:r>
            <a:endParaRPr lang="it-IT" dirty="0"/>
          </a:p>
        </p:txBody>
      </p:sp>
      <p:pic>
        <p:nvPicPr>
          <p:cNvPr id="6" name="Immagine 5" descr="Immagine che contiene elettronica, Ingegneria elettronica, Componente elettrico, Componente di circuito&#10;&#10;Il contenuto generato dall&amp;#39;IA potrebbe non essere corretto.">
            <a:extLst>
              <a:ext uri="{FF2B5EF4-FFF2-40B4-BE49-F238E27FC236}">
                <a16:creationId xmlns:a16="http://schemas.microsoft.com/office/drawing/2014/main" id="{CB151815-B19C-6BC2-9CA2-34C5A94E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06" r="9631" b="2"/>
          <a:stretch>
            <a:fillRect/>
          </a:stretch>
        </p:blipFill>
        <p:spPr>
          <a:xfrm>
            <a:off x="20" y="4436366"/>
            <a:ext cx="2897320" cy="2421634"/>
          </a:xfrm>
          <a:custGeom>
            <a:avLst/>
            <a:gdLst/>
            <a:ahLst/>
            <a:cxnLst/>
            <a:rect l="l" t="t" r="r" b="b"/>
            <a:pathLst>
              <a:path w="3590528" h="3001010">
                <a:moveTo>
                  <a:pt x="2332186" y="61"/>
                </a:moveTo>
                <a:cubicBezTo>
                  <a:pt x="2388949" y="756"/>
                  <a:pt x="2446518" y="7453"/>
                  <a:pt x="2505156" y="21165"/>
                </a:cubicBezTo>
                <a:cubicBezTo>
                  <a:pt x="2872858" y="107252"/>
                  <a:pt x="3101258" y="363516"/>
                  <a:pt x="3286556" y="674197"/>
                </a:cubicBezTo>
                <a:cubicBezTo>
                  <a:pt x="3361633" y="824206"/>
                  <a:pt x="3463145" y="966663"/>
                  <a:pt x="3507125" y="1124665"/>
                </a:cubicBezTo>
                <a:cubicBezTo>
                  <a:pt x="3717665" y="1876331"/>
                  <a:pt x="3535468" y="2581165"/>
                  <a:pt x="2893586" y="2985850"/>
                </a:cubicBezTo>
                <a:lnTo>
                  <a:pt x="2866639" y="3001010"/>
                </a:lnTo>
                <a:lnTo>
                  <a:pt x="0" y="3001010"/>
                </a:lnTo>
                <a:lnTo>
                  <a:pt x="0" y="22667"/>
                </a:lnTo>
                <a:lnTo>
                  <a:pt x="118263" y="51103"/>
                </a:lnTo>
                <a:cubicBezTo>
                  <a:pt x="234924" y="88414"/>
                  <a:pt x="353681" y="144662"/>
                  <a:pt x="473597" y="219100"/>
                </a:cubicBezTo>
                <a:cubicBezTo>
                  <a:pt x="665981" y="338593"/>
                  <a:pt x="868606" y="474517"/>
                  <a:pt x="1102154" y="412028"/>
                </a:cubicBezTo>
                <a:cubicBezTo>
                  <a:pt x="1354254" y="344490"/>
                  <a:pt x="1600027" y="241983"/>
                  <a:pt x="1835926" y="128420"/>
                </a:cubicBezTo>
                <a:cubicBezTo>
                  <a:pt x="1998857" y="49890"/>
                  <a:pt x="2161896" y="-2027"/>
                  <a:pt x="2332186" y="61"/>
                </a:cubicBezTo>
                <a:close/>
              </a:path>
            </a:pathLst>
          </a:custGeom>
        </p:spPr>
      </p:pic>
      <p:pic>
        <p:nvPicPr>
          <p:cNvPr id="8" name="Immagine 7" descr="Supporti di memoria - Historybit">
            <a:extLst>
              <a:ext uri="{FF2B5EF4-FFF2-40B4-BE49-F238E27FC236}">
                <a16:creationId xmlns:a16="http://schemas.microsoft.com/office/drawing/2014/main" id="{A9E89F32-C1F5-E7BF-5C34-C327B240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3" r="2" b="2"/>
          <a:stretch>
            <a:fillRect/>
          </a:stretch>
        </p:blipFill>
        <p:spPr>
          <a:xfrm>
            <a:off x="6700995" y="3612279"/>
            <a:ext cx="2810633" cy="2874537"/>
          </a:xfrm>
          <a:custGeom>
            <a:avLst/>
            <a:gdLst/>
            <a:ahLst/>
            <a:cxnLst/>
            <a:rect l="l" t="t" r="r" b="b"/>
            <a:pathLst>
              <a:path w="2810633" h="2874537">
                <a:moveTo>
                  <a:pt x="1726361" y="93392"/>
                </a:moveTo>
                <a:cubicBezTo>
                  <a:pt x="1932103" y="90448"/>
                  <a:pt x="2136447" y="185152"/>
                  <a:pt x="2264111" y="364199"/>
                </a:cubicBezTo>
                <a:cubicBezTo>
                  <a:pt x="2325141" y="449562"/>
                  <a:pt x="2364389" y="548506"/>
                  <a:pt x="2378427" y="652393"/>
                </a:cubicBezTo>
                <a:cubicBezTo>
                  <a:pt x="2391434" y="748718"/>
                  <a:pt x="2453771" y="832662"/>
                  <a:pt x="2543813" y="869535"/>
                </a:cubicBezTo>
                <a:cubicBezTo>
                  <a:pt x="2622371" y="901751"/>
                  <a:pt x="2689640" y="956499"/>
                  <a:pt x="2737137" y="1026888"/>
                </a:cubicBezTo>
                <a:cubicBezTo>
                  <a:pt x="2864293" y="1214742"/>
                  <a:pt x="2822472" y="1472126"/>
                  <a:pt x="2642499" y="1609210"/>
                </a:cubicBezTo>
                <a:cubicBezTo>
                  <a:pt x="2641077" y="1610269"/>
                  <a:pt x="2639713" y="1611324"/>
                  <a:pt x="2638317" y="1612352"/>
                </a:cubicBezTo>
                <a:cubicBezTo>
                  <a:pt x="2547448" y="1679817"/>
                  <a:pt x="2506186" y="1796056"/>
                  <a:pt x="2537891" y="1904933"/>
                </a:cubicBezTo>
                <a:cubicBezTo>
                  <a:pt x="2629888" y="2220865"/>
                  <a:pt x="2508234" y="2559605"/>
                  <a:pt x="2236466" y="2744202"/>
                </a:cubicBezTo>
                <a:cubicBezTo>
                  <a:pt x="1905695" y="2969207"/>
                  <a:pt x="1451105" y="2895947"/>
                  <a:pt x="1206616" y="2577986"/>
                </a:cubicBezTo>
                <a:cubicBezTo>
                  <a:pt x="1163505" y="2522049"/>
                  <a:pt x="1128317" y="2460388"/>
                  <a:pt x="1102132" y="2394834"/>
                </a:cubicBezTo>
                <a:cubicBezTo>
                  <a:pt x="1061163" y="2292037"/>
                  <a:pt x="963938" y="2222207"/>
                  <a:pt x="853369" y="2220388"/>
                </a:cubicBezTo>
                <a:cubicBezTo>
                  <a:pt x="645479" y="2216974"/>
                  <a:pt x="440752" y="2138501"/>
                  <a:pt x="282318" y="1992292"/>
                </a:cubicBezTo>
                <a:cubicBezTo>
                  <a:pt x="187258" y="1904567"/>
                  <a:pt x="108864" y="1792458"/>
                  <a:pt x="56451" y="1657545"/>
                </a:cubicBezTo>
                <a:cubicBezTo>
                  <a:pt x="-58868" y="1360657"/>
                  <a:pt x="5867" y="1023100"/>
                  <a:pt x="219826" y="787952"/>
                </a:cubicBezTo>
                <a:cubicBezTo>
                  <a:pt x="418379" y="569553"/>
                  <a:pt x="687359" y="479790"/>
                  <a:pt x="944038" y="504467"/>
                </a:cubicBezTo>
                <a:cubicBezTo>
                  <a:pt x="1044136" y="514098"/>
                  <a:pt x="1142690" y="469747"/>
                  <a:pt x="1197311" y="385463"/>
                </a:cubicBezTo>
                <a:lnTo>
                  <a:pt x="1197341" y="385490"/>
                </a:lnTo>
                <a:cubicBezTo>
                  <a:pt x="1242945" y="315248"/>
                  <a:pt x="1301855" y="254620"/>
                  <a:pt x="1370778" y="207027"/>
                </a:cubicBezTo>
                <a:cubicBezTo>
                  <a:pt x="1478968" y="132079"/>
                  <a:pt x="1602916" y="95159"/>
                  <a:pt x="1726361" y="93392"/>
                </a:cubicBezTo>
                <a:close/>
                <a:moveTo>
                  <a:pt x="989051" y="322"/>
                </a:moveTo>
                <a:cubicBezTo>
                  <a:pt x="1034270" y="-2397"/>
                  <a:pt x="1080569" y="12132"/>
                  <a:pt x="1117228" y="44553"/>
                </a:cubicBezTo>
                <a:cubicBezTo>
                  <a:pt x="1190546" y="109396"/>
                  <a:pt x="1197542" y="221256"/>
                  <a:pt x="1132854" y="294398"/>
                </a:cubicBezTo>
                <a:cubicBezTo>
                  <a:pt x="1068166" y="367540"/>
                  <a:pt x="956291" y="374268"/>
                  <a:pt x="882973" y="309425"/>
                </a:cubicBezTo>
                <a:cubicBezTo>
                  <a:pt x="809655" y="244581"/>
                  <a:pt x="802659" y="132722"/>
                  <a:pt x="867346" y="59580"/>
                </a:cubicBezTo>
                <a:cubicBezTo>
                  <a:pt x="899690" y="23009"/>
                  <a:pt x="943831" y="3042"/>
                  <a:pt x="989051" y="322"/>
                </a:cubicBezTo>
                <a:close/>
              </a:path>
            </a:pathLst>
          </a:custGeom>
        </p:spPr>
      </p:pic>
      <p:pic>
        <p:nvPicPr>
          <p:cNvPr id="9" name="Immagine 8" descr="Che cos'è un disco rigido?">
            <a:extLst>
              <a:ext uri="{FF2B5EF4-FFF2-40B4-BE49-F238E27FC236}">
                <a16:creationId xmlns:a16="http://schemas.microsoft.com/office/drawing/2014/main" id="{31BCD8B2-DAFB-BE87-F58D-0802283699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20" r="1" b="14701"/>
          <a:stretch>
            <a:fillRect/>
          </a:stretch>
        </p:blipFill>
        <p:spPr>
          <a:xfrm>
            <a:off x="3007291" y="4796832"/>
            <a:ext cx="3827007" cy="2061168"/>
          </a:xfrm>
          <a:custGeom>
            <a:avLst/>
            <a:gdLst/>
            <a:ahLst/>
            <a:cxnLst/>
            <a:rect l="l" t="t" r="r" b="b"/>
            <a:pathLst>
              <a:path w="4169283" h="2245513">
                <a:moveTo>
                  <a:pt x="1170184" y="264603"/>
                </a:moveTo>
                <a:cubicBezTo>
                  <a:pt x="1170200" y="264603"/>
                  <a:pt x="1170218" y="264603"/>
                  <a:pt x="1170235" y="264603"/>
                </a:cubicBezTo>
                <a:cubicBezTo>
                  <a:pt x="1266233" y="266129"/>
                  <a:pt x="1342774" y="345423"/>
                  <a:pt x="1341161" y="441353"/>
                </a:cubicBezTo>
                <a:cubicBezTo>
                  <a:pt x="1342774" y="537452"/>
                  <a:pt x="1266233" y="616576"/>
                  <a:pt x="1170184" y="618271"/>
                </a:cubicBezTo>
                <a:cubicBezTo>
                  <a:pt x="1074134" y="616576"/>
                  <a:pt x="997593" y="537452"/>
                  <a:pt x="999206" y="441353"/>
                </a:cubicBezTo>
                <a:cubicBezTo>
                  <a:pt x="997627" y="345253"/>
                  <a:pt x="1074167" y="266129"/>
                  <a:pt x="1170184" y="264603"/>
                </a:cubicBezTo>
                <a:close/>
                <a:moveTo>
                  <a:pt x="3424673" y="84802"/>
                </a:moveTo>
                <a:cubicBezTo>
                  <a:pt x="3592168" y="84802"/>
                  <a:pt x="3727949" y="220583"/>
                  <a:pt x="3727949" y="388078"/>
                </a:cubicBezTo>
                <a:cubicBezTo>
                  <a:pt x="3727949" y="555573"/>
                  <a:pt x="3592168" y="691354"/>
                  <a:pt x="3424673" y="691354"/>
                </a:cubicBezTo>
                <a:cubicBezTo>
                  <a:pt x="3257178" y="691354"/>
                  <a:pt x="3121397" y="555573"/>
                  <a:pt x="3121397" y="388078"/>
                </a:cubicBezTo>
                <a:cubicBezTo>
                  <a:pt x="3121397" y="220583"/>
                  <a:pt x="3257178" y="84802"/>
                  <a:pt x="3424673" y="84802"/>
                </a:cubicBezTo>
                <a:close/>
                <a:moveTo>
                  <a:pt x="2114523" y="3232"/>
                </a:moveTo>
                <a:cubicBezTo>
                  <a:pt x="2211224" y="-5629"/>
                  <a:pt x="2310656" y="3551"/>
                  <a:pt x="2408285" y="33009"/>
                </a:cubicBezTo>
                <a:cubicBezTo>
                  <a:pt x="2604799" y="92605"/>
                  <a:pt x="2771108" y="225041"/>
                  <a:pt x="2873167" y="403320"/>
                </a:cubicBezTo>
                <a:cubicBezTo>
                  <a:pt x="2994736" y="618611"/>
                  <a:pt x="3210810" y="763782"/>
                  <a:pt x="3456054" y="795194"/>
                </a:cubicBezTo>
                <a:cubicBezTo>
                  <a:pt x="3518026" y="802663"/>
                  <a:pt x="3578913" y="817437"/>
                  <a:pt x="3637388" y="839337"/>
                </a:cubicBezTo>
                <a:cubicBezTo>
                  <a:pt x="4040807" y="989262"/>
                  <a:pt x="4261193" y="1448032"/>
                  <a:pt x="4132662" y="1870977"/>
                </a:cubicBezTo>
                <a:cubicBezTo>
                  <a:pt x="4093577" y="2001373"/>
                  <a:pt x="4023148" y="2120226"/>
                  <a:pt x="3927557" y="2217177"/>
                </a:cubicBezTo>
                <a:lnTo>
                  <a:pt x="3895951" y="2245513"/>
                </a:lnTo>
                <a:lnTo>
                  <a:pt x="154670" y="2245513"/>
                </a:lnTo>
                <a:lnTo>
                  <a:pt x="148419" y="2054221"/>
                </a:lnTo>
                <a:cubicBezTo>
                  <a:pt x="137298" y="1991314"/>
                  <a:pt x="117254" y="1929978"/>
                  <a:pt x="88628" y="1872164"/>
                </a:cubicBezTo>
                <a:cubicBezTo>
                  <a:pt x="-113931" y="1462295"/>
                  <a:pt x="42445" y="961079"/>
                  <a:pt x="438224" y="751557"/>
                </a:cubicBezTo>
                <a:cubicBezTo>
                  <a:pt x="631341" y="648834"/>
                  <a:pt x="858672" y="631855"/>
                  <a:pt x="1064915" y="704695"/>
                </a:cubicBezTo>
                <a:lnTo>
                  <a:pt x="1075441" y="708430"/>
                </a:lnTo>
                <a:cubicBezTo>
                  <a:pt x="1218573" y="761067"/>
                  <a:pt x="1376647" y="681266"/>
                  <a:pt x="1430810" y="534396"/>
                </a:cubicBezTo>
                <a:cubicBezTo>
                  <a:pt x="1433866" y="526587"/>
                  <a:pt x="1437092" y="517757"/>
                  <a:pt x="1440488" y="509608"/>
                </a:cubicBezTo>
                <a:cubicBezTo>
                  <a:pt x="1558915" y="218758"/>
                  <a:pt x="1824423" y="29815"/>
                  <a:pt x="2114523" y="3232"/>
                </a:cubicBezTo>
                <a:close/>
              </a:path>
            </a:pathLst>
          </a:custGeom>
        </p:spPr>
      </p:pic>
      <p:pic>
        <p:nvPicPr>
          <p:cNvPr id="7" name="Immagine 6" descr="Corsair Gaming Pc Best Ram For 2020 Quanta Memoria Ram Serve Nel 2025 Per I  Computer">
            <a:extLst>
              <a:ext uri="{FF2B5EF4-FFF2-40B4-BE49-F238E27FC236}">
                <a16:creationId xmlns:a16="http://schemas.microsoft.com/office/drawing/2014/main" id="{5915AD7B-6384-9B11-2BB0-796FF7A41A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45" r="14884" b="1"/>
          <a:stretch>
            <a:fillRect/>
          </a:stretch>
        </p:blipFill>
        <p:spPr>
          <a:xfrm>
            <a:off x="9657771" y="4387467"/>
            <a:ext cx="2534229" cy="2470533"/>
          </a:xfrm>
          <a:custGeom>
            <a:avLst/>
            <a:gdLst/>
            <a:ahLst/>
            <a:cxnLst/>
            <a:rect l="l" t="t" r="r" b="b"/>
            <a:pathLst>
              <a:path w="3016378" h="2940564">
                <a:moveTo>
                  <a:pt x="226406" y="1632132"/>
                </a:moveTo>
                <a:cubicBezTo>
                  <a:pt x="323122" y="1632132"/>
                  <a:pt x="401527" y="1710537"/>
                  <a:pt x="401527" y="1807253"/>
                </a:cubicBezTo>
                <a:cubicBezTo>
                  <a:pt x="401527" y="1903970"/>
                  <a:pt x="323122" y="1982375"/>
                  <a:pt x="226406" y="1982375"/>
                </a:cubicBezTo>
                <a:cubicBezTo>
                  <a:pt x="129689" y="1982375"/>
                  <a:pt x="51284" y="1903970"/>
                  <a:pt x="51284" y="1807253"/>
                </a:cubicBezTo>
                <a:cubicBezTo>
                  <a:pt x="51284" y="1710537"/>
                  <a:pt x="129689" y="1632132"/>
                  <a:pt x="226406" y="1632132"/>
                </a:cubicBezTo>
                <a:close/>
                <a:moveTo>
                  <a:pt x="2093308" y="52"/>
                </a:moveTo>
                <a:cubicBezTo>
                  <a:pt x="2164051" y="1079"/>
                  <a:pt x="2236158" y="17676"/>
                  <a:pt x="2312026" y="57744"/>
                </a:cubicBezTo>
                <a:cubicBezTo>
                  <a:pt x="2582665" y="200620"/>
                  <a:pt x="2627866" y="481721"/>
                  <a:pt x="2836559" y="535100"/>
                </a:cubicBezTo>
                <a:cubicBezTo>
                  <a:pt x="2899432" y="551181"/>
                  <a:pt x="2954873" y="544839"/>
                  <a:pt x="3007251" y="526999"/>
                </a:cubicBezTo>
                <a:lnTo>
                  <a:pt x="3016378" y="522958"/>
                </a:lnTo>
                <a:lnTo>
                  <a:pt x="3016378" y="2940564"/>
                </a:lnTo>
                <a:lnTo>
                  <a:pt x="378377" y="2940564"/>
                </a:lnTo>
                <a:lnTo>
                  <a:pt x="378365" y="2940529"/>
                </a:lnTo>
                <a:cubicBezTo>
                  <a:pt x="304965" y="2770990"/>
                  <a:pt x="42056" y="2649200"/>
                  <a:pt x="45208" y="2429427"/>
                </a:cubicBezTo>
                <a:cubicBezTo>
                  <a:pt x="49295" y="2147461"/>
                  <a:pt x="487611" y="2096114"/>
                  <a:pt x="513552" y="1809906"/>
                </a:cubicBezTo>
                <a:cubicBezTo>
                  <a:pt x="541628" y="1500166"/>
                  <a:pt x="43558" y="1396938"/>
                  <a:pt x="2688" y="971786"/>
                </a:cubicBezTo>
                <a:cubicBezTo>
                  <a:pt x="-18322" y="752607"/>
                  <a:pt x="84747" y="471039"/>
                  <a:pt x="281119" y="370303"/>
                </a:cubicBezTo>
                <a:cubicBezTo>
                  <a:pt x="599417" y="207189"/>
                  <a:pt x="919050" y="631594"/>
                  <a:pt x="1296484" y="465627"/>
                </a:cubicBezTo>
                <a:cubicBezTo>
                  <a:pt x="1517201" y="368613"/>
                  <a:pt x="1477380" y="192406"/>
                  <a:pt x="1739860" y="88081"/>
                </a:cubicBezTo>
                <a:cubicBezTo>
                  <a:pt x="1861286" y="39876"/>
                  <a:pt x="1975403" y="-1660"/>
                  <a:pt x="2093308" y="52"/>
                </a:cubicBezTo>
                <a:close/>
              </a:path>
            </a:pathLst>
          </a:cu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729481-3B67-CE2B-22D4-27655C22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F1E96-7AF7-41BB-ACC2-A09D9B8137F7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81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88DAF2-837B-7DEC-8483-39186C9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>
                <a:cs typeface="Posterama"/>
              </a:rPr>
              <a:t>CARICAMENTO DI UN PROGRAMMA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BD287F-59CC-F16D-ECD6-FB03732F2ADE}"/>
              </a:ext>
            </a:extLst>
          </p:cNvPr>
          <p:cNvSpPr txBox="1"/>
          <p:nvPr/>
        </p:nvSpPr>
        <p:spPr>
          <a:xfrm>
            <a:off x="832391" y="2294789"/>
            <a:ext cx="4311175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PROGRAMMA ESEGUIBILE</a:t>
            </a:r>
          </a:p>
          <a:p>
            <a:pPr algn="ctr"/>
            <a:r>
              <a:rPr lang="it-IT" sz="2800" b="1" dirty="0"/>
              <a:t>(memoria di massa)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B79BD7-1F28-C025-4F26-1A2ED6AF5912}"/>
              </a:ext>
            </a:extLst>
          </p:cNvPr>
          <p:cNvSpPr txBox="1"/>
          <p:nvPr/>
        </p:nvSpPr>
        <p:spPr>
          <a:xfrm>
            <a:off x="6441425" y="2294789"/>
            <a:ext cx="4649362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PROGRAMMA IN ESECUZIONE</a:t>
            </a:r>
          </a:p>
          <a:p>
            <a:pPr algn="ctr"/>
            <a:r>
              <a:rPr lang="it-IT" sz="2800" b="1" dirty="0"/>
              <a:t>(memoria </a:t>
            </a:r>
            <a:r>
              <a:rPr lang="it-IT" sz="2800" b="1" dirty="0" err="1"/>
              <a:t>ram</a:t>
            </a:r>
            <a:r>
              <a:rPr lang="it-IT" sz="2800" b="1" dirty="0"/>
              <a:t>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F753881-7326-F25A-44AD-55D343951F2E}"/>
              </a:ext>
            </a:extLst>
          </p:cNvPr>
          <p:cNvSpPr txBox="1"/>
          <p:nvPr/>
        </p:nvSpPr>
        <p:spPr>
          <a:xfrm>
            <a:off x="2139431" y="3530494"/>
            <a:ext cx="1697094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b="1" dirty="0"/>
              <a:t>PROGRAMMA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6AF56BB-8E94-A974-F8DA-4F36AE2E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9E7D-CFB0-4B19-A891-2ECEF7C99B45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63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1.48148E-6 L 0.47435 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3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ACB7-A4E8-729E-4E85-D2B29B7F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318970-1B00-5673-8A29-FD7A48D9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>
                <a:cs typeface="Posterama"/>
              </a:rPr>
              <a:t>RILOCAZIONE STATICA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4D52BE6-FEA9-CDF1-F94E-40103BE651DA}"/>
              </a:ext>
            </a:extLst>
          </p:cNvPr>
          <p:cNvSpPr txBox="1"/>
          <p:nvPr/>
        </p:nvSpPr>
        <p:spPr>
          <a:xfrm>
            <a:off x="832391" y="2294789"/>
            <a:ext cx="4311175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INDIRIZZO LOGICO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4105F04-F201-17F0-097F-8B0A195B40FA}"/>
              </a:ext>
            </a:extLst>
          </p:cNvPr>
          <p:cNvSpPr txBox="1"/>
          <p:nvPr/>
        </p:nvSpPr>
        <p:spPr>
          <a:xfrm>
            <a:off x="6441425" y="2294789"/>
            <a:ext cx="4649362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INDIRIZZO FISICO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C3BAF65-F3B2-26F3-B8B8-31A37DE8ECEE}"/>
              </a:ext>
            </a:extLst>
          </p:cNvPr>
          <p:cNvSpPr txBox="1"/>
          <p:nvPr/>
        </p:nvSpPr>
        <p:spPr>
          <a:xfrm>
            <a:off x="831344" y="3354943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#100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0E011DA-CFEB-8BDC-5D36-E8B9F8B76AA1}"/>
              </a:ext>
            </a:extLst>
          </p:cNvPr>
          <p:cNvSpPr txBox="1"/>
          <p:nvPr/>
        </p:nvSpPr>
        <p:spPr>
          <a:xfrm>
            <a:off x="832391" y="3724275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#101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51D304D5-C590-6644-72CC-DCE82E330C99}"/>
              </a:ext>
            </a:extLst>
          </p:cNvPr>
          <p:cNvSpPr txBox="1"/>
          <p:nvPr/>
        </p:nvSpPr>
        <p:spPr>
          <a:xfrm>
            <a:off x="832391" y="4093607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#102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ABFE747-B33F-9BC1-9425-93F44E20F9A1}"/>
              </a:ext>
            </a:extLst>
          </p:cNvPr>
          <p:cNvSpPr txBox="1"/>
          <p:nvPr/>
        </p:nvSpPr>
        <p:spPr>
          <a:xfrm>
            <a:off x="832391" y="4462939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#103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9F4DD143-809C-ED69-F30F-487E88F6EA10}"/>
              </a:ext>
            </a:extLst>
          </p:cNvPr>
          <p:cNvSpPr txBox="1"/>
          <p:nvPr/>
        </p:nvSpPr>
        <p:spPr>
          <a:xfrm>
            <a:off x="1969581" y="3354943"/>
            <a:ext cx="682084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a=5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443A522-B884-71D3-7C3D-D0813135C11D}"/>
              </a:ext>
            </a:extLst>
          </p:cNvPr>
          <p:cNvSpPr txBox="1"/>
          <p:nvPr/>
        </p:nvSpPr>
        <p:spPr>
          <a:xfrm>
            <a:off x="1969581" y="3724275"/>
            <a:ext cx="682084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b=7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0B438103-65B9-5231-2DF5-45F3158E9E59}"/>
              </a:ext>
            </a:extLst>
          </p:cNvPr>
          <p:cNvSpPr txBox="1"/>
          <p:nvPr/>
        </p:nvSpPr>
        <p:spPr>
          <a:xfrm>
            <a:off x="1969581" y="4093607"/>
            <a:ext cx="1345119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somma=</a:t>
            </a:r>
            <a:r>
              <a:rPr lang="it-IT" dirty="0" err="1"/>
              <a:t>a+b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99E8FA3F-2113-8EB1-682E-B2151DEE37BE}"/>
              </a:ext>
            </a:extLst>
          </p:cNvPr>
          <p:cNvSpPr txBox="1"/>
          <p:nvPr/>
        </p:nvSpPr>
        <p:spPr>
          <a:xfrm>
            <a:off x="1969581" y="4462939"/>
            <a:ext cx="1259394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 err="1"/>
              <a:t>moltip</a:t>
            </a:r>
            <a:r>
              <a:rPr lang="it-IT" dirty="0"/>
              <a:t>=a*b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8B3441EA-3385-D5A8-E482-4EA4926EBD4D}"/>
              </a:ext>
            </a:extLst>
          </p:cNvPr>
          <p:cNvSpPr txBox="1"/>
          <p:nvPr/>
        </p:nvSpPr>
        <p:spPr>
          <a:xfrm>
            <a:off x="10618281" y="3354943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0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562DF94F-E301-7631-3FC5-9C1E1E5E1748}"/>
              </a:ext>
            </a:extLst>
          </p:cNvPr>
          <p:cNvSpPr txBox="1"/>
          <p:nvPr/>
        </p:nvSpPr>
        <p:spPr>
          <a:xfrm>
            <a:off x="10619328" y="3724275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1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5732B13-EA04-BEA2-10E2-ED3FF046F02B}"/>
              </a:ext>
            </a:extLst>
          </p:cNvPr>
          <p:cNvSpPr txBox="1"/>
          <p:nvPr/>
        </p:nvSpPr>
        <p:spPr>
          <a:xfrm>
            <a:off x="10619328" y="4093607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2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BAF4CAD-160E-D900-038C-643DE61FEDAC}"/>
              </a:ext>
            </a:extLst>
          </p:cNvPr>
          <p:cNvSpPr txBox="1"/>
          <p:nvPr/>
        </p:nvSpPr>
        <p:spPr>
          <a:xfrm>
            <a:off x="10619328" y="4462939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3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306413-7099-1F40-56AE-2CDE8A8B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9383A-CAA6-40B2-8F13-B4F67D7829BC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41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0.00116 L 0.55495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47" y="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0.00116 L 0.55495 -0.000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47" y="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115 L 0.55494 -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47" y="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0.00116 L 0.55495 -0.0002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4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3" grpId="0" animBg="1"/>
      <p:bldP spid="44" grpId="0" animBg="1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7098-6CF4-2C41-6143-D4BE307E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FFB783-B370-1634-AF7E-AF682A6D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>
                <a:cs typeface="Posterama"/>
              </a:rPr>
              <a:t>RILOCAZIONE DINAMICA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B05AF03-7EF1-FFAE-2E69-067E1A92FE5C}"/>
              </a:ext>
            </a:extLst>
          </p:cNvPr>
          <p:cNvSpPr txBox="1"/>
          <p:nvPr/>
        </p:nvSpPr>
        <p:spPr>
          <a:xfrm>
            <a:off x="832391" y="2294789"/>
            <a:ext cx="4311175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INDIRIZZO LOGICO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587B6A4-E3C8-322E-67D2-118A156F2757}"/>
              </a:ext>
            </a:extLst>
          </p:cNvPr>
          <p:cNvSpPr txBox="1"/>
          <p:nvPr/>
        </p:nvSpPr>
        <p:spPr>
          <a:xfrm>
            <a:off x="6441425" y="2294789"/>
            <a:ext cx="4649362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INDIRIZZO FISICO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56D49B0E-1E72-97D7-C440-A841F8C35832}"/>
              </a:ext>
            </a:extLst>
          </p:cNvPr>
          <p:cNvSpPr txBox="1"/>
          <p:nvPr/>
        </p:nvSpPr>
        <p:spPr>
          <a:xfrm>
            <a:off x="832391" y="3593068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#233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65977089-F9FB-147F-71CD-A5D86400CEBC}"/>
              </a:ext>
            </a:extLst>
          </p:cNvPr>
          <p:cNvSpPr txBox="1"/>
          <p:nvPr/>
        </p:nvSpPr>
        <p:spPr>
          <a:xfrm>
            <a:off x="833438" y="3962400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#234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742799F-D1D7-F7C3-3DBD-44F13A683E76}"/>
              </a:ext>
            </a:extLst>
          </p:cNvPr>
          <p:cNvSpPr txBox="1"/>
          <p:nvPr/>
        </p:nvSpPr>
        <p:spPr>
          <a:xfrm>
            <a:off x="833438" y="4331732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#235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99E2218-7EBF-A785-E5D1-CF07B18128C4}"/>
              </a:ext>
            </a:extLst>
          </p:cNvPr>
          <p:cNvSpPr txBox="1"/>
          <p:nvPr/>
        </p:nvSpPr>
        <p:spPr>
          <a:xfrm>
            <a:off x="833438" y="4701064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#236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9F5512A-8D6C-B544-5C69-5E7E6BB7CEA7}"/>
              </a:ext>
            </a:extLst>
          </p:cNvPr>
          <p:cNvSpPr txBox="1"/>
          <p:nvPr/>
        </p:nvSpPr>
        <p:spPr>
          <a:xfrm>
            <a:off x="1970628" y="3593068"/>
            <a:ext cx="682084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a=5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BE6D5D2-BFDC-CD47-DEEF-C2B21F045EA1}"/>
              </a:ext>
            </a:extLst>
          </p:cNvPr>
          <p:cNvSpPr txBox="1"/>
          <p:nvPr/>
        </p:nvSpPr>
        <p:spPr>
          <a:xfrm>
            <a:off x="1970628" y="3962400"/>
            <a:ext cx="682084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b=7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8994FEEA-3F03-AEE7-FD6B-97C7094031AD}"/>
              </a:ext>
            </a:extLst>
          </p:cNvPr>
          <p:cNvSpPr txBox="1"/>
          <p:nvPr/>
        </p:nvSpPr>
        <p:spPr>
          <a:xfrm>
            <a:off x="1970628" y="4331732"/>
            <a:ext cx="1345119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somma=</a:t>
            </a:r>
            <a:r>
              <a:rPr lang="it-IT" dirty="0" err="1"/>
              <a:t>a+b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15B7B10-941B-7AFB-0072-F0656C8D0128}"/>
              </a:ext>
            </a:extLst>
          </p:cNvPr>
          <p:cNvSpPr txBox="1"/>
          <p:nvPr/>
        </p:nvSpPr>
        <p:spPr>
          <a:xfrm>
            <a:off x="1970628" y="4701064"/>
            <a:ext cx="1259394" cy="36933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 err="1"/>
              <a:t>moltip</a:t>
            </a:r>
            <a:r>
              <a:rPr lang="it-IT" dirty="0"/>
              <a:t>=a*b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932CC594-D3F3-3CD3-A359-7EA60788EF13}"/>
              </a:ext>
            </a:extLst>
          </p:cNvPr>
          <p:cNvSpPr txBox="1"/>
          <p:nvPr/>
        </p:nvSpPr>
        <p:spPr>
          <a:xfrm>
            <a:off x="8194170" y="3593068"/>
            <a:ext cx="682085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0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6348EFA9-B3FB-1BC9-D8A7-5D2B3BC5A527}"/>
              </a:ext>
            </a:extLst>
          </p:cNvPr>
          <p:cNvSpPr txBox="1"/>
          <p:nvPr/>
        </p:nvSpPr>
        <p:spPr>
          <a:xfrm>
            <a:off x="8195218" y="4331732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2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CD2ACCC4-9918-0FB1-9972-E1969706E217}"/>
              </a:ext>
            </a:extLst>
          </p:cNvPr>
          <p:cNvSpPr txBox="1"/>
          <p:nvPr/>
        </p:nvSpPr>
        <p:spPr>
          <a:xfrm>
            <a:off x="8195218" y="4701064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4E2C8D-2372-B46A-345E-A39D6FA5D1FA}"/>
              </a:ext>
            </a:extLst>
          </p:cNvPr>
          <p:cNvSpPr txBox="1"/>
          <p:nvPr/>
        </p:nvSpPr>
        <p:spPr>
          <a:xfrm>
            <a:off x="831344" y="3223736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2034881-3213-BACE-E35C-6F6B81969A32}"/>
              </a:ext>
            </a:extLst>
          </p:cNvPr>
          <p:cNvSpPr txBox="1"/>
          <p:nvPr/>
        </p:nvSpPr>
        <p:spPr>
          <a:xfrm>
            <a:off x="840869" y="5070396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#237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53087FE-82DC-D6E6-CBE6-DA50D6B20F0A}"/>
              </a:ext>
            </a:extLst>
          </p:cNvPr>
          <p:cNvSpPr txBox="1"/>
          <p:nvPr/>
        </p:nvSpPr>
        <p:spPr>
          <a:xfrm>
            <a:off x="9467706" y="3610565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C1388B9-C7C5-8D8D-3A41-4227F1B3F737}"/>
              </a:ext>
            </a:extLst>
          </p:cNvPr>
          <p:cNvSpPr txBox="1"/>
          <p:nvPr/>
        </p:nvSpPr>
        <p:spPr>
          <a:xfrm>
            <a:off x="9468753" y="3979897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51BE296-E322-C36B-41D1-AA700C4059E8}"/>
              </a:ext>
            </a:extLst>
          </p:cNvPr>
          <p:cNvSpPr txBox="1"/>
          <p:nvPr/>
        </p:nvSpPr>
        <p:spPr>
          <a:xfrm>
            <a:off x="9468753" y="4349229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#235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3F6F5FD-50B4-CE74-117D-A7E38EADFA2F}"/>
              </a:ext>
            </a:extLst>
          </p:cNvPr>
          <p:cNvSpPr txBox="1"/>
          <p:nvPr/>
        </p:nvSpPr>
        <p:spPr>
          <a:xfrm>
            <a:off x="9468753" y="4718561"/>
            <a:ext cx="682084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#236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653676B-6951-07CF-DFCA-519B9209716A}"/>
              </a:ext>
            </a:extLst>
          </p:cNvPr>
          <p:cNvSpPr txBox="1"/>
          <p:nvPr/>
        </p:nvSpPr>
        <p:spPr>
          <a:xfrm>
            <a:off x="8193646" y="3962399"/>
            <a:ext cx="682085" cy="369332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0893D9C-3775-622E-A441-3F4EBC4A12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>
            <a:off x="8856157" y="3594706"/>
            <a:ext cx="610502" cy="370693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B8A01763-D537-3117-8E85-0959D293F7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>
            <a:off x="8875731" y="4698065"/>
            <a:ext cx="585591" cy="368592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A7E06100-2225-5A7C-7FC6-C82D92EA5C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>
            <a:off x="8856157" y="3964038"/>
            <a:ext cx="610502" cy="378451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A9D8F2EB-491E-D608-E333-1BD64D47F6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>
            <a:off x="8874683" y="4342489"/>
            <a:ext cx="610502" cy="361575"/>
          </a:xfrm>
          <a:prstGeom prst="rect">
            <a:avLst/>
          </a:pr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572BD8-71FD-EF1B-458F-39E2ABC6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0C34-CF68-4BDA-AF73-0AAB4A470C1F}" type="datetime1">
              <a:rPr lang="it-IT" smtClean="0"/>
              <a:t>12/04/2026</a:t>
            </a:fld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AF670B-BD70-9A40-2348-FE3FE4756D63}"/>
              </a:ext>
            </a:extLst>
          </p:cNvPr>
          <p:cNvSpPr txBox="1"/>
          <p:nvPr/>
        </p:nvSpPr>
        <p:spPr>
          <a:xfrm>
            <a:off x="9461322" y="3223854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Registro base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30948CA-6859-316A-5158-F31E52C9935E}"/>
              </a:ext>
            </a:extLst>
          </p:cNvPr>
          <p:cNvSpPr txBox="1"/>
          <p:nvPr/>
        </p:nvSpPr>
        <p:spPr>
          <a:xfrm>
            <a:off x="9485185" y="5098532"/>
            <a:ext cx="199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Registro limite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322F971-DC07-D4D8-AF08-C7D8449313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 rot="1283482">
            <a:off x="10245635" y="5010809"/>
            <a:ext cx="285489" cy="17969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D152AF0-753F-9E0F-4BB2-C1247CFE49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 rot="9113441" flipH="1">
            <a:off x="10167960" y="3574243"/>
            <a:ext cx="362636" cy="20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32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49" grpId="0" animBg="1"/>
      <p:bldP spid="12" grpId="0" animBg="1"/>
      <p:bldP spid="13" grpId="0" animBg="1"/>
      <p:bldP spid="14" grpId="0" animBg="1"/>
      <p:bldP spid="15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5173-1F17-21E5-0AB0-6447E96F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7C92FD-97DB-3BD4-D308-A24CF0CA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89415"/>
            <a:ext cx="10972800" cy="1325563"/>
          </a:xfrm>
        </p:spPr>
        <p:txBody>
          <a:bodyPr>
            <a:normAutofit/>
          </a:bodyPr>
          <a:lstStyle/>
          <a:p>
            <a:r>
              <a:rPr lang="it-IT" sz="6600" b="1" dirty="0">
                <a:cs typeface="Posterama"/>
              </a:rPr>
              <a:t>BINDING E LINKING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A3D1F0C-50DC-1267-BAA8-FA95C5BA7879}"/>
              </a:ext>
            </a:extLst>
          </p:cNvPr>
          <p:cNvSpPr txBox="1"/>
          <p:nvPr/>
        </p:nvSpPr>
        <p:spPr>
          <a:xfrm>
            <a:off x="715992" y="2303253"/>
            <a:ext cx="929478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/>
              <a:t>BINDING</a:t>
            </a:r>
            <a:r>
              <a:rPr lang="it-IT" sz="3600" dirty="0"/>
              <a:t>	</a:t>
            </a:r>
            <a:r>
              <a:rPr lang="it-IT" sz="2800" dirty="0"/>
              <a:t>Passaggio da indirizzo Logico a Fisico</a:t>
            </a:r>
            <a:r>
              <a:rPr lang="it-IT" sz="3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/>
              <a:t>LINKING</a:t>
            </a:r>
            <a:r>
              <a:rPr lang="it-IT" sz="3600" dirty="0"/>
              <a:t>	</a:t>
            </a:r>
            <a:r>
              <a:rPr lang="it-IT" sz="2800" dirty="0"/>
              <a:t>Aggiunge al programma compilato le librerie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3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DE3D9EC-6DF8-761A-E878-28864FBF86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>
            <a:off x="2733336" y="2404498"/>
            <a:ext cx="806618" cy="45205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AB15253-8ED9-243F-C3E3-B26BCAD02B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4" b="19033"/>
          <a:stretch>
            <a:fillRect/>
          </a:stretch>
        </p:blipFill>
        <p:spPr>
          <a:xfrm>
            <a:off x="2676186" y="4044079"/>
            <a:ext cx="806618" cy="452050"/>
          </a:xfrm>
          <a:prstGeom prst="rect">
            <a:avLst/>
          </a:prstGeom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12EB79E-CA7A-93AF-0DC1-22A7CD0D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08F3-56F4-4EA0-8272-7E9C1F0B1327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01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F5F2-49BC-16B9-D93B-85CB7CE8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1C524B-9E0B-4229-9B2B-FBDB3FDE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22766"/>
            <a:ext cx="5715000" cy="242297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b="1" dirty="0"/>
              <a:t>L'OTTIMIZZAZIONE</a:t>
            </a:r>
            <a:br>
              <a:rPr lang="it-IT" sz="6000" b="1" dirty="0"/>
            </a:br>
            <a:r>
              <a:rPr lang="it-IT" sz="6000" b="1" dirty="0"/>
              <a:t> DELLA MEMORIA</a:t>
            </a:r>
            <a:r>
              <a:rPr lang="it-IT" sz="6000" dirty="0"/>
              <a:t>​</a:t>
            </a:r>
            <a:endParaRPr lang="it-IT" sz="8000" b="1" dirty="0">
              <a:cs typeface="Posterama"/>
            </a:endParaRPr>
          </a:p>
        </p:txBody>
      </p:sp>
      <p:pic>
        <p:nvPicPr>
          <p:cNvPr id="2050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96AFE8BC-79A1-4DE0-AA6B-E09751083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63923">
            <a:off x="3760788" y="2419589"/>
            <a:ext cx="860425" cy="86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5875C68-8CBF-9444-D303-73A001EB29CE}"/>
              </a:ext>
            </a:extLst>
          </p:cNvPr>
          <p:cNvSpPr txBox="1"/>
          <p:nvPr/>
        </p:nvSpPr>
        <p:spPr>
          <a:xfrm>
            <a:off x="990600" y="2549619"/>
            <a:ext cx="1026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SWAPPING</a:t>
            </a:r>
            <a:endParaRPr lang="it-IT" sz="3200" b="1" dirty="0">
              <a:ln>
                <a:solidFill>
                  <a:sysClr val="windowText" lastClr="000000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1019E3B-6AD2-405A-885E-AF7E88FA41BB}"/>
              </a:ext>
            </a:extLst>
          </p:cNvPr>
          <p:cNvSpPr txBox="1"/>
          <p:nvPr/>
        </p:nvSpPr>
        <p:spPr>
          <a:xfrm>
            <a:off x="5130800" y="2395732"/>
            <a:ext cx="706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CARICAMENTO TEMPORANEO DEI PROCESSI INATTIVI SD DALLA RAM AL DISCO FISSO   </a:t>
            </a:r>
          </a:p>
        </p:txBody>
      </p:sp>
      <p:pic>
        <p:nvPicPr>
          <p:cNvPr id="8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6E0820F0-C0A0-B852-8868-4848156D8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63923">
            <a:off x="4052888" y="4588962"/>
            <a:ext cx="860425" cy="86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9492DF4-45E8-E6BD-88A4-01E09C3A0FF9}"/>
              </a:ext>
            </a:extLst>
          </p:cNvPr>
          <p:cNvSpPr txBox="1"/>
          <p:nvPr/>
        </p:nvSpPr>
        <p:spPr>
          <a:xfrm>
            <a:off x="990600" y="4366214"/>
            <a:ext cx="349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CARICAMENTODINAMICO</a:t>
            </a:r>
            <a:endParaRPr lang="it-IT" sz="3200" b="1" dirty="0">
              <a:ln>
                <a:solidFill>
                  <a:sysClr val="windowText" lastClr="000000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9BDDC02-478B-7455-6CBC-10F052307150}"/>
              </a:ext>
            </a:extLst>
          </p:cNvPr>
          <p:cNvSpPr txBox="1"/>
          <p:nvPr/>
        </p:nvSpPr>
        <p:spPr>
          <a:xfrm>
            <a:off x="5130800" y="4366214"/>
            <a:ext cx="7061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CARICAMENTO IN MEMORIA SOLO DELLE PARTI FONDAMENTALI DEL PROGRAMMA CON IL RESTO SUL DISCO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5446D4-2A50-B0AD-AC43-1A7AD205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58E3-D429-48E3-834C-882648955D5B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5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D4BF-E4DA-C6F2-DBEE-3325933A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F6DECA-BD05-A87F-A06E-D210C406E394}"/>
              </a:ext>
            </a:extLst>
          </p:cNvPr>
          <p:cNvSpPr txBox="1"/>
          <p:nvPr/>
        </p:nvSpPr>
        <p:spPr>
          <a:xfrm>
            <a:off x="716245" y="1507908"/>
            <a:ext cx="1026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5400" b="1" dirty="0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OVERLAY</a:t>
            </a:r>
            <a:endParaRPr lang="it-IT" sz="4800" b="1" dirty="0">
              <a:ln>
                <a:solidFill>
                  <a:sysClr val="windowText" lastClr="000000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1574ED9-7803-13E8-7853-EA3AB00DE8DD}"/>
              </a:ext>
            </a:extLst>
          </p:cNvPr>
          <p:cNvSpPr txBox="1"/>
          <p:nvPr/>
        </p:nvSpPr>
        <p:spPr>
          <a:xfrm>
            <a:off x="5095982" y="1494971"/>
            <a:ext cx="65880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NELLA STESSA ZONA DI MEMORIA VENGONO SOVRAPPOSTE PIU SEZIONI DI PROGRAMMA</a:t>
            </a:r>
          </a:p>
        </p:txBody>
      </p:sp>
      <p:pic>
        <p:nvPicPr>
          <p:cNvPr id="8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2263068A-F497-C41B-59AF-8C2004836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17244">
            <a:off x="6751001" y="3717534"/>
            <a:ext cx="1025663" cy="102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6D0D837-B95A-6BE2-80D9-3F2957DA00DF}"/>
              </a:ext>
            </a:extLst>
          </p:cNvPr>
          <p:cNvSpPr txBox="1"/>
          <p:nvPr/>
        </p:nvSpPr>
        <p:spPr>
          <a:xfrm>
            <a:off x="716245" y="3562994"/>
            <a:ext cx="6722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5400" b="1" dirty="0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PARTIZIONAMENTO</a:t>
            </a:r>
            <a:endParaRPr lang="it-IT" sz="3600" b="1" dirty="0">
              <a:ln>
                <a:solidFill>
                  <a:sysClr val="windowText" lastClr="000000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774045B-9D1E-9D51-A239-F2D621287D88}"/>
              </a:ext>
            </a:extLst>
          </p:cNvPr>
          <p:cNvSpPr txBox="1"/>
          <p:nvPr/>
        </p:nvSpPr>
        <p:spPr>
          <a:xfrm>
            <a:off x="5095982" y="4530604"/>
            <a:ext cx="65880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A OGNI PROCESSO VIENE RISERVATA UNA DIMENSIONE FISSA DI MEMORIA</a:t>
            </a:r>
          </a:p>
        </p:txBody>
      </p:sp>
      <p:pic>
        <p:nvPicPr>
          <p:cNvPr id="4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32FDFA25-E7EE-A7B2-E8E9-BC85DCCB4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223" y="1456741"/>
            <a:ext cx="1257759" cy="102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A276CF7-5A9E-A9DA-B083-151C2B48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B854-0826-4A8D-AE2F-3DC5E0F029A1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92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4D6B-182D-1AEB-EC6C-8336DF66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A7E162-2A2C-1581-41A1-E140E053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65" y="776038"/>
            <a:ext cx="10972800" cy="1325563"/>
          </a:xfrm>
        </p:spPr>
        <p:txBody>
          <a:bodyPr>
            <a:normAutofit fontScale="90000"/>
          </a:bodyPr>
          <a:lstStyle/>
          <a:p>
            <a:r>
              <a:rPr lang="it-IT" sz="5400" b="1" dirty="0">
                <a:cs typeface="Posterama"/>
              </a:rPr>
              <a:t>TECNICHE DI ALLOCAZIONE </a:t>
            </a:r>
            <a:br>
              <a:rPr lang="it-IT" sz="5400" b="1" dirty="0">
                <a:cs typeface="Posterama"/>
              </a:rPr>
            </a:br>
            <a:r>
              <a:rPr lang="it-IT" sz="5400" b="1" dirty="0">
                <a:cs typeface="Posterama"/>
              </a:rPr>
              <a:t>DELLA MEMORIA CENTRALE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6D2070F-49DF-07EB-3096-A7D84EDC9126}"/>
              </a:ext>
            </a:extLst>
          </p:cNvPr>
          <p:cNvSpPr txBox="1"/>
          <p:nvPr/>
        </p:nvSpPr>
        <p:spPr>
          <a:xfrm>
            <a:off x="791295" y="2623562"/>
            <a:ext cx="4311175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MONOPROGRAMMATO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1863857-4CAC-01B0-50B7-466D8DBD59B1}"/>
              </a:ext>
            </a:extLst>
          </p:cNvPr>
          <p:cNvSpPr txBox="1"/>
          <p:nvPr/>
        </p:nvSpPr>
        <p:spPr>
          <a:xfrm>
            <a:off x="6400329" y="2623562"/>
            <a:ext cx="4649362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MULTIPROGRAMMATO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4F5E909-88C4-5C55-5D82-084A7174E05F}"/>
              </a:ext>
            </a:extLst>
          </p:cNvPr>
          <p:cNvSpPr txBox="1"/>
          <p:nvPr/>
        </p:nvSpPr>
        <p:spPr>
          <a:xfrm>
            <a:off x="791295" y="3308279"/>
            <a:ext cx="431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ALLOCAZIONE CONTIGUA</a:t>
            </a:r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12EEEA6-BF28-BED1-54B0-2FBD5A425E0D}"/>
              </a:ext>
            </a:extLst>
          </p:cNvPr>
          <p:cNvSpPr txBox="1"/>
          <p:nvPr/>
        </p:nvSpPr>
        <p:spPr>
          <a:xfrm>
            <a:off x="6400329" y="3360518"/>
            <a:ext cx="431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ALLOCAZIONE CONTIGUA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4B9A672-DDB2-627E-9CA5-058878AAE75D}"/>
              </a:ext>
            </a:extLst>
          </p:cNvPr>
          <p:cNvSpPr txBox="1"/>
          <p:nvPr/>
        </p:nvSpPr>
        <p:spPr>
          <a:xfrm>
            <a:off x="8938518" y="3785697"/>
            <a:ext cx="29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(a partizioni fisse e variabili)</a:t>
            </a:r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4F52FEB-876B-D846-BD22-7C7726A1B5A5}"/>
              </a:ext>
            </a:extLst>
          </p:cNvPr>
          <p:cNvSpPr txBox="1"/>
          <p:nvPr/>
        </p:nvSpPr>
        <p:spPr>
          <a:xfrm>
            <a:off x="6400329" y="4371914"/>
            <a:ext cx="431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ALLOCAZIONE NON CONTIGUA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F2AA836-56AF-D87D-6307-5F8045DB51C1}"/>
              </a:ext>
            </a:extLst>
          </p:cNvPr>
          <p:cNvSpPr txBox="1"/>
          <p:nvPr/>
        </p:nvSpPr>
        <p:spPr>
          <a:xfrm>
            <a:off x="8938518" y="4797093"/>
            <a:ext cx="2907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(paginazione, segmentazione e segmentazione con paginazione)</a:t>
            </a:r>
          </a:p>
        </p:txBody>
      </p:sp>
      <p:pic>
        <p:nvPicPr>
          <p:cNvPr id="26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D0B2BE35-DCD2-E0BF-418A-F76799B62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17244">
            <a:off x="9219975" y="3392824"/>
            <a:ext cx="571889" cy="57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378FE73B-1704-1DC7-8CD4-EB039A75C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17244">
            <a:off x="9692578" y="4423686"/>
            <a:ext cx="532221" cy="53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283BF11-722C-E871-CC4C-3E4FA6284FCF}"/>
              </a:ext>
            </a:extLst>
          </p:cNvPr>
          <p:cNvSpPr txBox="1"/>
          <p:nvPr/>
        </p:nvSpPr>
        <p:spPr>
          <a:xfrm>
            <a:off x="3298005" y="3729850"/>
            <a:ext cx="2268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(a partizione singola)</a:t>
            </a:r>
            <a:endParaRPr lang="it-IT" dirty="0"/>
          </a:p>
        </p:txBody>
      </p:sp>
      <p:pic>
        <p:nvPicPr>
          <p:cNvPr id="29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E446AC47-D211-8551-99B0-F06A39CEF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17244">
            <a:off x="3586684" y="3335987"/>
            <a:ext cx="571889" cy="57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D42179-3B5D-4631-900A-DF9D8941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02ACF-52CC-4020-BE7D-B5B6895516DC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90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40015-C1AC-8A3B-6B3C-5CD77DE2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288E86-EB39-D1DE-AAC0-35B484C9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89415"/>
            <a:ext cx="10972800" cy="1325563"/>
          </a:xfrm>
        </p:spPr>
        <p:txBody>
          <a:bodyPr>
            <a:normAutofit/>
          </a:bodyPr>
          <a:lstStyle/>
          <a:p>
            <a:r>
              <a:rPr lang="it-IT" sz="6600" b="1" dirty="0"/>
              <a:t>PARTIZIONE FISSA </a:t>
            </a:r>
            <a:endParaRPr lang="it-IT" sz="6600" b="1" dirty="0">
              <a:cs typeface="Posterama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0A7D63-18ED-CFA7-939D-778AF44ABA9B}"/>
              </a:ext>
            </a:extLst>
          </p:cNvPr>
          <p:cNvSpPr txBox="1"/>
          <p:nvPr/>
        </p:nvSpPr>
        <p:spPr>
          <a:xfrm>
            <a:off x="609600" y="2490281"/>
            <a:ext cx="929478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b="1" dirty="0"/>
              <a:t>LA DIMENSIONE DELLA PARTIZIONE È GIÀ DEFINITA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b="1" dirty="0"/>
              <a:t>Frammentazione interna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b="1" dirty="0"/>
              <a:t>Frammentazione esterna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3600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A162EE9-67C8-0B0C-4C49-4F1876F2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6690C-7C63-4D9C-BB1C-7BE3C87A4DA0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4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E2ED-E64E-6C50-76EF-8349B6F3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250072-3FB2-AE3A-8125-3BFF8D73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" y="812923"/>
            <a:ext cx="10972800" cy="1325563"/>
          </a:xfrm>
        </p:spPr>
        <p:txBody>
          <a:bodyPr>
            <a:normAutofit/>
          </a:bodyPr>
          <a:lstStyle/>
          <a:p>
            <a:r>
              <a:rPr lang="it-IT" sz="6600" b="1" dirty="0"/>
              <a:t>PARTIZIONE VARIABILE </a:t>
            </a:r>
            <a:endParaRPr lang="it-IT" sz="6600" b="1" dirty="0">
              <a:cs typeface="Posterama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1F57201-87BF-F66B-63EF-9627A7B9672A}"/>
              </a:ext>
            </a:extLst>
          </p:cNvPr>
          <p:cNvSpPr txBox="1"/>
          <p:nvPr/>
        </p:nvSpPr>
        <p:spPr>
          <a:xfrm>
            <a:off x="1030514" y="2461252"/>
            <a:ext cx="101309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b="1" dirty="0"/>
              <a:t>LA DIMENSIONE DELLA PARTIZIONE Può ESSERE MODIFICATA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800" b="1" dirty="0"/>
              <a:t>First </a:t>
            </a:r>
            <a:r>
              <a:rPr lang="it-IT" sz="2800" b="1" dirty="0" err="1"/>
              <a:t>fit</a:t>
            </a:r>
            <a:endParaRPr lang="it-IT" sz="2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800" b="1" dirty="0"/>
              <a:t>Best </a:t>
            </a:r>
            <a:r>
              <a:rPr lang="it-IT" sz="2800" b="1" dirty="0" err="1"/>
              <a:t>fit</a:t>
            </a:r>
            <a:endParaRPr lang="it-IT" sz="2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800" b="1" dirty="0"/>
              <a:t>Next </a:t>
            </a:r>
            <a:r>
              <a:rPr lang="it-IT" sz="2800" b="1" dirty="0" err="1"/>
              <a:t>fit</a:t>
            </a:r>
            <a:endParaRPr lang="it-IT" sz="2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800" b="1" dirty="0" err="1"/>
              <a:t>Worst</a:t>
            </a:r>
            <a:r>
              <a:rPr lang="it-IT" sz="2800" b="1" dirty="0"/>
              <a:t> </a:t>
            </a:r>
            <a:r>
              <a:rPr lang="it-IT" sz="2800" b="1" dirty="0" err="1"/>
              <a:t>fit</a:t>
            </a:r>
            <a:endParaRPr lang="it-IT" sz="2800" b="1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F905636-194A-F47B-8F3F-62DE5B83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12B2-0025-4A86-BE42-B942EACE0A5F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99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68BE-6774-552D-32F2-D1781CDC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7BB4D-7E3A-5798-3593-8D0B524CF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" y="812923"/>
            <a:ext cx="10972800" cy="1325563"/>
          </a:xfrm>
        </p:spPr>
        <p:txBody>
          <a:bodyPr>
            <a:normAutofit/>
          </a:bodyPr>
          <a:lstStyle/>
          <a:p>
            <a:r>
              <a:rPr lang="it-IT" sz="6600" b="1" dirty="0"/>
              <a:t>PAGINAZIONE</a:t>
            </a:r>
            <a:endParaRPr lang="it-IT" sz="6600" b="1" dirty="0">
              <a:cs typeface="Posterama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A293B1D-10A7-69CA-1664-5B7FE460F724}"/>
              </a:ext>
            </a:extLst>
          </p:cNvPr>
          <p:cNvSpPr txBox="1"/>
          <p:nvPr/>
        </p:nvSpPr>
        <p:spPr>
          <a:xfrm>
            <a:off x="1030514" y="2461252"/>
            <a:ext cx="10130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b="1" dirty="0"/>
              <a:t>Programmi e memoria sono organizzati in pagine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B066ED1-00A6-A747-0BAF-D059B417F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12B2-0025-4A86-BE42-B942EACE0A5F}" type="datetime1">
              <a:rPr lang="it-IT" smtClean="0"/>
              <a:t>12/04/2026</a:t>
            </a:fld>
            <a:endParaRPr lang="en-US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A295571-F329-7348-4CB1-F748AA28C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924990"/>
              </p:ext>
            </p:extLst>
          </p:nvPr>
        </p:nvGraphicFramePr>
        <p:xfrm>
          <a:off x="1342934" y="3177697"/>
          <a:ext cx="8128000" cy="695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6942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8768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6070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848601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839488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8120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54747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93988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810742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5393176"/>
                    </a:ext>
                  </a:extLst>
                </a:gridCol>
              </a:tblGrid>
              <a:tr h="69583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609398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5905293-202E-7DF3-C79E-26B06C2E1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217959"/>
              </p:ext>
            </p:extLst>
          </p:nvPr>
        </p:nvGraphicFramePr>
        <p:xfrm>
          <a:off x="1342934" y="3891336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6942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8768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6070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848601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839488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8120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54747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93988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810742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5393176"/>
                    </a:ext>
                  </a:extLst>
                </a:gridCol>
              </a:tblGrid>
              <a:tr h="284508">
                <a:tc>
                  <a:txBody>
                    <a:bodyPr/>
                    <a:lstStyle/>
                    <a:p>
                      <a:r>
                        <a:rPr lang="it-IT" dirty="0"/>
                        <a:t>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609398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C04D29A0-0CE7-D29A-F58F-5679D5C26BBB}"/>
              </a:ext>
            </a:extLst>
          </p:cNvPr>
          <p:cNvSpPr txBox="1"/>
          <p:nvPr/>
        </p:nvSpPr>
        <p:spPr>
          <a:xfrm>
            <a:off x="548640" y="3177697"/>
            <a:ext cx="79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RAM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94192945-4448-BF1F-082E-59F4D3E36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352746"/>
              </p:ext>
            </p:extLst>
          </p:nvPr>
        </p:nvGraphicFramePr>
        <p:xfrm>
          <a:off x="1342934" y="4621308"/>
          <a:ext cx="2438400" cy="695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6458105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0279475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01697394"/>
                    </a:ext>
                  </a:extLst>
                </a:gridCol>
              </a:tblGrid>
              <a:tr h="69583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91775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7177BC68-62AA-E842-65A9-46268413F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449280"/>
              </p:ext>
            </p:extLst>
          </p:nvPr>
        </p:nvGraphicFramePr>
        <p:xfrm>
          <a:off x="4631875" y="4621308"/>
          <a:ext cx="1625600" cy="695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89864266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62646468"/>
                    </a:ext>
                  </a:extLst>
                </a:gridCol>
              </a:tblGrid>
              <a:tr h="69583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627667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F758EE3-10E0-D48F-A1D2-F916F0693968}"/>
              </a:ext>
            </a:extLst>
          </p:cNvPr>
          <p:cNvSpPr txBox="1"/>
          <p:nvPr/>
        </p:nvSpPr>
        <p:spPr>
          <a:xfrm>
            <a:off x="1698171" y="5424461"/>
            <a:ext cx="172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PROGRAMMA 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127126D-D684-73DE-5FCA-0DCD5D5A4A7B}"/>
              </a:ext>
            </a:extLst>
          </p:cNvPr>
          <p:cNvSpPr txBox="1"/>
          <p:nvPr/>
        </p:nvSpPr>
        <p:spPr>
          <a:xfrm>
            <a:off x="4551774" y="5433218"/>
            <a:ext cx="178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PROGRAMMA 2</a:t>
            </a:r>
          </a:p>
        </p:txBody>
      </p:sp>
      <p:pic>
        <p:nvPicPr>
          <p:cNvPr id="13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011E3851-97AD-0F90-B13F-484D7D1CA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79497">
            <a:off x="1669143" y="4320262"/>
            <a:ext cx="282651" cy="28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AAF40F63-9D29-F24A-727F-50A5BC711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79497">
            <a:off x="2398480" y="4314117"/>
            <a:ext cx="282651" cy="28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C4034877-387B-02ED-DC4A-22057993D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79497">
            <a:off x="3165212" y="4320262"/>
            <a:ext cx="282651" cy="28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3628BDAF-A6FC-A9F9-A587-E1D1896A0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472107">
            <a:off x="4368411" y="4278226"/>
            <a:ext cx="366725" cy="3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5B5451EA-3ABC-D5D2-B07F-23D24D78B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81379">
            <a:off x="5303348" y="4333039"/>
            <a:ext cx="282651" cy="28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837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F4BE-77E4-4EB9-D249-2BDF03CB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CCB8C7-E4BF-426C-AEA8-0ABB8362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" y="812923"/>
            <a:ext cx="10972800" cy="1325563"/>
          </a:xfrm>
        </p:spPr>
        <p:txBody>
          <a:bodyPr>
            <a:normAutofit/>
          </a:bodyPr>
          <a:lstStyle/>
          <a:p>
            <a:r>
              <a:rPr lang="it-IT" sz="6600" b="1" dirty="0"/>
              <a:t>PAGINAZIONE</a:t>
            </a:r>
            <a:endParaRPr lang="it-IT" sz="6600" b="1" dirty="0">
              <a:cs typeface="Posterama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BFCE07-C01F-9DCF-F750-F2F3325489C1}"/>
              </a:ext>
            </a:extLst>
          </p:cNvPr>
          <p:cNvSpPr txBox="1"/>
          <p:nvPr/>
        </p:nvSpPr>
        <p:spPr>
          <a:xfrm>
            <a:off x="1030514" y="2461252"/>
            <a:ext cx="1013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/>
              <a:t>Se voglio usare solo un contenuto del programma 1 le pagine si scambiano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F556B6-A3CF-52AD-451E-0356F372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12B2-0025-4A86-BE42-B942EACE0A5F}" type="datetime1">
              <a:rPr lang="it-IT" smtClean="0"/>
              <a:t>12/04/2026</a:t>
            </a:fld>
            <a:endParaRPr lang="en-US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1CF885D-4EB7-300F-A17A-0D1AE12BF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903403"/>
              </p:ext>
            </p:extLst>
          </p:nvPr>
        </p:nvGraphicFramePr>
        <p:xfrm>
          <a:off x="1342934" y="3177697"/>
          <a:ext cx="8128000" cy="695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6942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8768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6070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848601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839488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8120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54747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93988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810742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5393176"/>
                    </a:ext>
                  </a:extLst>
                </a:gridCol>
              </a:tblGrid>
              <a:tr h="69583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609398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D2FD036-1865-4255-8A8F-FE87D115E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709170"/>
              </p:ext>
            </p:extLst>
          </p:nvPr>
        </p:nvGraphicFramePr>
        <p:xfrm>
          <a:off x="1342934" y="3891336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6942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8768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6070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848601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839488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8120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54747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93988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810742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5393176"/>
                    </a:ext>
                  </a:extLst>
                </a:gridCol>
              </a:tblGrid>
              <a:tr h="284508">
                <a:tc>
                  <a:txBody>
                    <a:bodyPr/>
                    <a:lstStyle/>
                    <a:p>
                      <a:r>
                        <a:rPr lang="it-IT" dirty="0"/>
                        <a:t>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609398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37BF15-615A-E29D-0E9A-D48A01A59CA6}"/>
              </a:ext>
            </a:extLst>
          </p:cNvPr>
          <p:cNvSpPr txBox="1"/>
          <p:nvPr/>
        </p:nvSpPr>
        <p:spPr>
          <a:xfrm>
            <a:off x="548640" y="3177697"/>
            <a:ext cx="79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RAM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900302A-FFA5-32C6-A437-0238222C8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04274"/>
              </p:ext>
            </p:extLst>
          </p:nvPr>
        </p:nvGraphicFramePr>
        <p:xfrm>
          <a:off x="1342934" y="4621308"/>
          <a:ext cx="2438400" cy="695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6458105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0279475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01697394"/>
                    </a:ext>
                  </a:extLst>
                </a:gridCol>
              </a:tblGrid>
              <a:tr h="69583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91775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FCA45C8-7350-60AB-FB2F-DC89E97CC203}"/>
              </a:ext>
            </a:extLst>
          </p:cNvPr>
          <p:cNvSpPr txBox="1"/>
          <p:nvPr/>
        </p:nvSpPr>
        <p:spPr>
          <a:xfrm>
            <a:off x="1698171" y="5424461"/>
            <a:ext cx="172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PROGRAMMA 1</a:t>
            </a:r>
          </a:p>
        </p:txBody>
      </p:sp>
      <p:pic>
        <p:nvPicPr>
          <p:cNvPr id="13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43D0F0E9-5F81-95BD-98DC-5EA2CE594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79497">
            <a:off x="1669143" y="4320262"/>
            <a:ext cx="282651" cy="28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9A8BA453-3E0F-4848-11D2-BD7117BF2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04506"/>
              </p:ext>
            </p:extLst>
          </p:nvPr>
        </p:nvGraphicFramePr>
        <p:xfrm>
          <a:off x="1342934" y="4621308"/>
          <a:ext cx="2438400" cy="696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6458105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0279475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01697394"/>
                    </a:ext>
                  </a:extLst>
                </a:gridCol>
              </a:tblGrid>
              <a:tr h="69680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91775"/>
                  </a:ext>
                </a:extLst>
              </a:tr>
            </a:tbl>
          </a:graphicData>
        </a:graphic>
      </p:graphicFrame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05BD9557-8F76-6630-3827-5037405A4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25368"/>
              </p:ext>
            </p:extLst>
          </p:nvPr>
        </p:nvGraphicFramePr>
        <p:xfrm>
          <a:off x="1342934" y="3176719"/>
          <a:ext cx="8128000" cy="695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6942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8768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6070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848601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839488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8120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54747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93988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810742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5393176"/>
                    </a:ext>
                  </a:extLst>
                </a:gridCol>
              </a:tblGrid>
              <a:tr h="69583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609398"/>
                  </a:ext>
                </a:extLst>
              </a:tr>
            </a:tbl>
          </a:graphicData>
        </a:graphic>
      </p:graphicFrame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4D936B82-FAD3-3049-BAD6-D98115FFA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640260"/>
              </p:ext>
            </p:extLst>
          </p:nvPr>
        </p:nvGraphicFramePr>
        <p:xfrm>
          <a:off x="1342934" y="3883265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6942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8768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6070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848601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839488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81206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54747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93988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810742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5393176"/>
                    </a:ext>
                  </a:extLst>
                </a:gridCol>
              </a:tblGrid>
              <a:tr h="284508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609398"/>
                  </a:ext>
                </a:extLst>
              </a:tr>
            </a:tbl>
          </a:graphicData>
        </a:graphic>
      </p:graphicFrame>
      <p:pic>
        <p:nvPicPr>
          <p:cNvPr id="20" name="Picture 2" descr="Immagine che contiene schizzo, disegno, nero, bianco e nero&#10;&#10;Il contenuto generato dall&amp;#39;IA potrebbe non essere corretto.">
            <a:extLst>
              <a:ext uri="{FF2B5EF4-FFF2-40B4-BE49-F238E27FC236}">
                <a16:creationId xmlns:a16="http://schemas.microsoft.com/office/drawing/2014/main" id="{CC2301D5-B7E9-8871-A60C-55529F1CE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79497">
            <a:off x="2398479" y="4320262"/>
            <a:ext cx="282651" cy="28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77E6A8D-8FAE-AC47-87C1-64F72709401B}"/>
              </a:ext>
            </a:extLst>
          </p:cNvPr>
          <p:cNvSpPr txBox="1"/>
          <p:nvPr/>
        </p:nvSpPr>
        <p:spPr>
          <a:xfrm>
            <a:off x="1030514" y="5732238"/>
            <a:ext cx="1013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/>
              <a:t>Il programma crede così di avere tutta la memoria disponibile</a:t>
            </a:r>
          </a:p>
        </p:txBody>
      </p:sp>
    </p:spTree>
    <p:extLst>
      <p:ext uri="{BB962C8B-B14F-4D97-AF65-F5344CB8AC3E}">
        <p14:creationId xmlns:p14="http://schemas.microsoft.com/office/powerpoint/2010/main" val="825017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132D-FCBF-AB0D-1853-C7810B66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3C0C26-0FC9-85A0-5567-B53D9833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7277" y="2766218"/>
            <a:ext cx="7237445" cy="1325563"/>
          </a:xfrm>
        </p:spPr>
        <p:txBody>
          <a:bodyPr>
            <a:noAutofit/>
          </a:bodyPr>
          <a:lstStyle/>
          <a:p>
            <a:pPr algn="ctr"/>
            <a:r>
              <a:rPr lang="it-IT" sz="8000" b="1" dirty="0">
                <a:cs typeface="Posterama"/>
              </a:rPr>
              <a:t>FINE</a:t>
            </a:r>
            <a:br>
              <a:rPr lang="it-IT" sz="8000" b="1" dirty="0">
                <a:cs typeface="Posterama"/>
              </a:rPr>
            </a:br>
            <a:r>
              <a:rPr lang="it-IT" sz="3600" b="1" dirty="0">
                <a:cs typeface="Posterama"/>
              </a:rPr>
              <a:t>GRAZIE PER L’ATTENZIONE</a:t>
            </a:r>
            <a:endParaRPr lang="it-IT" sz="8000" b="1" dirty="0">
              <a:cs typeface="Posterama"/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A643BA-5F94-C720-F759-BC005AB5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2DA-0DE7-4704-BBA6-56F1DF2C8487}" type="datetime1">
              <a:rPr lang="it-IT" smtClean="0"/>
              <a:t>12/04/2026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83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3B8F851-1D72-4639-9084-5EC3F6D6E3BA}">
  <we:reference id="wa200005566" version="3.0.0.3" store="it-IT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362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Arial</vt:lpstr>
      <vt:lpstr>Avenir Next LT Pro</vt:lpstr>
      <vt:lpstr>Calibri</vt:lpstr>
      <vt:lpstr>Posterama</vt:lpstr>
      <vt:lpstr>SplashVTI</vt:lpstr>
      <vt:lpstr>LA GESTIONE DELLA MEMORIA</vt:lpstr>
      <vt:lpstr>SOMMARIO</vt:lpstr>
      <vt:lpstr>DI CHE TIPO PUO ESSERE LA MEMORIA?</vt:lpstr>
      <vt:lpstr>CARICAMENTO DI UN PROGRAMMA</vt:lpstr>
      <vt:lpstr>RILOCAZIONE STATICA</vt:lpstr>
      <vt:lpstr>RILOCAZIONE DINAMICA</vt:lpstr>
      <vt:lpstr>BINDING E LINKING</vt:lpstr>
      <vt:lpstr>L'OTTIMIZZAZIONE  DELLA MEMORIA​</vt:lpstr>
      <vt:lpstr>Presentazione standard di PowerPoint</vt:lpstr>
      <vt:lpstr>TECNICHE DI ALLOCAZIONE  DELLA MEMORIA CENTRALE</vt:lpstr>
      <vt:lpstr>PARTIZIONE FISSA </vt:lpstr>
      <vt:lpstr>PARTIZIONE VARIABILE </vt:lpstr>
      <vt:lpstr>PAGINAZIONE</vt:lpstr>
      <vt:lpstr>PAGINAZIONE</vt:lpstr>
      <vt:lpstr>FINE 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</dc:creator>
  <cp:lastModifiedBy>pizza party</cp:lastModifiedBy>
  <cp:revision>72</cp:revision>
  <dcterms:created xsi:type="dcterms:W3CDTF">2026-02-15T16:52:43Z</dcterms:created>
  <dcterms:modified xsi:type="dcterms:W3CDTF">2026-04-12T20:16:36Z</dcterms:modified>
</cp:coreProperties>
</file>