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3" r:id="rId10"/>
    <p:sldId id="269" r:id="rId11"/>
    <p:sldId id="264" r:id="rId12"/>
    <p:sldId id="266" r:id="rId13"/>
    <p:sldId id="267" r:id="rId14"/>
    <p:sldId id="270" r:id="rId15"/>
    <p:sldId id="271" r:id="rId16"/>
    <p:sldId id="272" r:id="rId17"/>
    <p:sldId id="273" r:id="rId18"/>
    <p:sldId id="274" r:id="rId19"/>
    <p:sldId id="275" r:id="rId20"/>
    <p:sldId id="26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2269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2158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7769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18740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14253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5478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3700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983263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1745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3207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6984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303354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95210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32302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357430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84119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7248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8BAD376-706C-4750-A206-47FBF02B259E}" type="datetimeFigureOut">
              <a:rPr lang="it-IT" smtClean="0"/>
              <a:t>18/03/2026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98C200-B65C-4651-AAC1-4A979A686B3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09423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3" Type="http://schemas.microsoft.com/office/2007/relationships/hdphoto" Target="../media/hdphoto1.wdp"/><Relationship Id="rId7" Type="http://schemas.openxmlformats.org/officeDocument/2006/relationships/hyperlink" Target="https://commons.wikimedia.org/wiki/File:Hard_Drive_(11644419853).jpg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11" Type="http://schemas.openxmlformats.org/officeDocument/2006/relationships/hyperlink" Target="https://www.techyv.com/article/cache-memory-types-and-importance/" TargetMode="External"/><Relationship Id="rId5" Type="http://schemas.openxmlformats.org/officeDocument/2006/relationships/image" Target="../media/image7.png"/><Relationship Id="rId10" Type="http://schemas.openxmlformats.org/officeDocument/2006/relationships/image" Target="../media/image9.jpg"/><Relationship Id="rId4" Type="http://schemas.openxmlformats.org/officeDocument/2006/relationships/hyperlink" Target="https://it.dreamstime.com/fotografia-stock-tecnologia-di-archiviazione-di-dati-del-nastro-magnetico-lto-image63315127" TargetMode="External"/><Relationship Id="rId9" Type="http://schemas.openxmlformats.org/officeDocument/2006/relationships/hyperlink" Target="https://www.publicdomainpictures.net/view-image.php?image=18285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kist.com/free-photo-iosaa" TargetMode="Externa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ublicdomainpictures.net/view-image.php?image=18285" TargetMode="Externa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9286FA-EE70-4E6C-B4C2-92DC0DE3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832" y="1261536"/>
            <a:ext cx="7197726" cy="2421464"/>
          </a:xfrm>
        </p:spPr>
        <p:txBody>
          <a:bodyPr/>
          <a:lstStyle/>
          <a:p>
            <a:pPr algn="l"/>
            <a:r>
              <a:rPr lang="it-IT" dirty="0">
                <a:latin typeface="Arial Black" panose="020B0A04020102020204" pitchFamily="34" charset="0"/>
              </a:rPr>
              <a:t>GESTIONE</a:t>
            </a:r>
            <a:br>
              <a:rPr lang="it-IT" dirty="0">
                <a:latin typeface="Arial Black" panose="020B0A04020102020204" pitchFamily="34" charset="0"/>
              </a:rPr>
            </a:br>
            <a:r>
              <a:rPr lang="it-IT" dirty="0">
                <a:latin typeface="Arial Black" panose="020B0A04020102020204" pitchFamily="34" charset="0"/>
              </a:rPr>
              <a:t>DELLA MEMORIA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B66F7A3-484D-4D49-9E02-D8036DFA1F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27133" y="5596464"/>
            <a:ext cx="7197726" cy="1405467"/>
          </a:xfrm>
        </p:spPr>
        <p:txBody>
          <a:bodyPr/>
          <a:lstStyle/>
          <a:p>
            <a:r>
              <a:rPr lang="it-IT" dirty="0"/>
              <a:t>Pietro barone</a:t>
            </a:r>
          </a:p>
        </p:txBody>
      </p:sp>
    </p:spTree>
    <p:extLst>
      <p:ext uri="{BB962C8B-B14F-4D97-AF65-F5344CB8AC3E}">
        <p14:creationId xmlns:p14="http://schemas.microsoft.com/office/powerpoint/2010/main" val="241025613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B63D7A-54D7-4E5C-9AE7-E7F0A81EE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INDICE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544EC8-8DC9-4FE4-8FF8-ED0CECE577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VARI TIPI DI MEMORIA</a:t>
            </a:r>
          </a:p>
          <a:p>
            <a:r>
              <a:rPr lang="it-IT" dirty="0"/>
              <a:t>CARICAMENTO DEL PROGRAMMA</a:t>
            </a:r>
          </a:p>
          <a:p>
            <a:r>
              <a:rPr lang="it-IT" dirty="0"/>
              <a:t>INDIRIZZI</a:t>
            </a:r>
          </a:p>
          <a:p>
            <a:r>
              <a:rPr lang="it-IT" dirty="0"/>
              <a:t>RILOCAZIONE STATICA/ DINAMICA</a:t>
            </a:r>
          </a:p>
          <a:p>
            <a:r>
              <a:rPr lang="it-IT" dirty="0"/>
              <a:t>BINDING E LINKING </a:t>
            </a:r>
          </a:p>
          <a:p>
            <a:r>
              <a:rPr lang="it-IT" dirty="0"/>
              <a:t>PARTIZIONAMENTO</a:t>
            </a:r>
          </a:p>
        </p:txBody>
      </p:sp>
    </p:spTree>
    <p:extLst>
      <p:ext uri="{BB962C8B-B14F-4D97-AF65-F5344CB8AC3E}">
        <p14:creationId xmlns:p14="http://schemas.microsoft.com/office/powerpoint/2010/main" val="29935409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0607FB-1E78-45DA-9D95-99C57FB93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Diversi tipi di memoria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8AE88C-42E2-487C-A83A-B7B662238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 hanno diversi tempi di accesso e capacità</a:t>
            </a:r>
          </a:p>
          <a:p>
            <a:r>
              <a:rPr lang="it-IT" dirty="0"/>
              <a:t>Nastro</a:t>
            </a:r>
          </a:p>
          <a:p>
            <a:r>
              <a:rPr lang="it-IT" dirty="0"/>
              <a:t>Disco rigido</a:t>
            </a:r>
          </a:p>
          <a:p>
            <a:r>
              <a:rPr lang="it-IT" dirty="0" err="1"/>
              <a:t>ssd</a:t>
            </a:r>
            <a:endParaRPr lang="it-IT" dirty="0"/>
          </a:p>
          <a:p>
            <a:r>
              <a:rPr lang="it-IT" dirty="0"/>
              <a:t>Memoria principale</a:t>
            </a:r>
          </a:p>
          <a:p>
            <a:r>
              <a:rPr lang="it-IT" dirty="0"/>
              <a:t>Cache </a:t>
            </a:r>
          </a:p>
          <a:p>
            <a:r>
              <a:rPr lang="it-IT" dirty="0"/>
              <a:t>registri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033F6E6-64EF-46D9-98D0-9ECB9E30A3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867164" y="1541190"/>
            <a:ext cx="2600588" cy="17358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3AB5B36-83A1-4847-9775-6656827810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6367244" y="3372133"/>
            <a:ext cx="2441197" cy="183089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CDE8F68-8FB5-4BA6-A364-E4975B0319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9012713" y="3722055"/>
            <a:ext cx="2309489" cy="16796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ECE4295-C55A-443C-A8A4-80706464861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5972882" y="5368059"/>
            <a:ext cx="2206226" cy="1241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587452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5D00EA56-422F-46C9-A366-3483B50C4050}"/>
              </a:ext>
            </a:extLst>
          </p:cNvPr>
          <p:cNvSpPr/>
          <p:nvPr/>
        </p:nvSpPr>
        <p:spPr>
          <a:xfrm>
            <a:off x="7231310" y="2197629"/>
            <a:ext cx="2407640" cy="1140903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3010DAB-85D9-418F-99AF-B4BE3EEA13AC}"/>
              </a:ext>
            </a:extLst>
          </p:cNvPr>
          <p:cNvSpPr txBox="1"/>
          <p:nvPr/>
        </p:nvSpPr>
        <p:spPr>
          <a:xfrm>
            <a:off x="5144863" y="2583414"/>
            <a:ext cx="1260249" cy="369332"/>
          </a:xfrm>
          <a:prstGeom prst="rect">
            <a:avLst/>
          </a:prstGeom>
          <a:solidFill>
            <a:schemeClr val="tx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processo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A455C8A5-9243-4D51-81D1-E8D407D14F76}"/>
              </a:ext>
            </a:extLst>
          </p:cNvPr>
          <p:cNvSpPr/>
          <p:nvPr/>
        </p:nvSpPr>
        <p:spPr>
          <a:xfrm>
            <a:off x="1786855" y="2251006"/>
            <a:ext cx="2281806" cy="1140903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EF1C8687-739B-4D9F-A185-737F126E024E}"/>
              </a:ext>
            </a:extLst>
          </p:cNvPr>
          <p:cNvSpPr txBox="1"/>
          <p:nvPr/>
        </p:nvSpPr>
        <p:spPr>
          <a:xfrm>
            <a:off x="2278583" y="4036542"/>
            <a:ext cx="1577130" cy="369332"/>
          </a:xfrm>
          <a:prstGeom prst="rect">
            <a:avLst/>
          </a:prstGeom>
          <a:solidFill>
            <a:schemeClr val="bg1">
              <a:lumMod val="50000"/>
              <a:lumOff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it-IT" dirty="0"/>
              <a:t>programma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A9F11B6-8131-474E-BDBE-29832ECB7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Caricamento del programma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678061-4627-4A29-805C-18E3112502A2}"/>
              </a:ext>
            </a:extLst>
          </p:cNvPr>
          <p:cNvSpPr txBox="1"/>
          <p:nvPr/>
        </p:nvSpPr>
        <p:spPr>
          <a:xfrm>
            <a:off x="4894859" y="2583414"/>
            <a:ext cx="1678469" cy="369332"/>
          </a:xfrm>
          <a:prstGeom prst="rect">
            <a:avLst/>
          </a:prstGeom>
          <a:solidFill>
            <a:schemeClr val="bg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dirty="0" err="1"/>
              <a:t>loader</a:t>
            </a:r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FC76F8-65C2-4520-B1BD-F84903D18DED}"/>
              </a:ext>
            </a:extLst>
          </p:cNvPr>
          <p:cNvSpPr txBox="1"/>
          <p:nvPr/>
        </p:nvSpPr>
        <p:spPr>
          <a:xfrm>
            <a:off x="1954635" y="1828297"/>
            <a:ext cx="2055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Coda di entrata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39EDBD7-15BF-4807-994B-86724799EB2A}"/>
              </a:ext>
            </a:extLst>
          </p:cNvPr>
          <p:cNvSpPr txBox="1"/>
          <p:nvPr/>
        </p:nvSpPr>
        <p:spPr>
          <a:xfrm>
            <a:off x="7231310" y="1803346"/>
            <a:ext cx="2466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Lista processi pronti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97C91CD0-649F-42FA-B3FA-909C0FF37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142412" y="5571728"/>
            <a:ext cx="1713301" cy="1140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Fumetto: rettangolo 8">
            <a:extLst>
              <a:ext uri="{FF2B5EF4-FFF2-40B4-BE49-F238E27FC236}">
                <a16:creationId xmlns:a16="http://schemas.microsoft.com/office/drawing/2014/main" id="{19023C6A-7CA2-4E18-BF9F-C25E0D917C81}"/>
              </a:ext>
            </a:extLst>
          </p:cNvPr>
          <p:cNvSpPr/>
          <p:nvPr/>
        </p:nvSpPr>
        <p:spPr>
          <a:xfrm>
            <a:off x="7276582" y="4326799"/>
            <a:ext cx="1969586" cy="735469"/>
          </a:xfrm>
          <a:prstGeom prst="wedgeRectCallout">
            <a:avLst>
              <a:gd name="adj1" fmla="val 54500"/>
              <a:gd name="adj2" fmla="val 78921"/>
            </a:avLst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9CD2AB3-770F-46B6-B2AA-088CE80DA36F}"/>
              </a:ext>
            </a:extLst>
          </p:cNvPr>
          <p:cNvSpPr txBox="1"/>
          <p:nvPr/>
        </p:nvSpPr>
        <p:spPr>
          <a:xfrm>
            <a:off x="7231310" y="4371369"/>
            <a:ext cx="2060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Ho bisogno di un programma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8F52E9C6-C728-4971-BB08-D99D157EC0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448315" y="4814828"/>
            <a:ext cx="2309489" cy="16796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810499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4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729 0.25787 L -2.5E-6 -0.25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65" y="-25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63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0.25 L 0.22188 -0.21181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094" y="189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0023 L 0.21471 -0.00231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742" y="-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1" grpId="0" animBg="1"/>
      <p:bldP spid="11" grpId="1" animBg="1"/>
      <p:bldP spid="9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04FF00-EAEE-46E9-8B1F-9A9ED3E99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Caricamento del programma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8EFB183-BB45-4971-8B17-CE10A2ABB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Durante il caricamento compilatore e </a:t>
            </a:r>
            <a:r>
              <a:rPr lang="it-IT" dirty="0" err="1"/>
              <a:t>linker</a:t>
            </a:r>
            <a:r>
              <a:rPr lang="it-IT" dirty="0"/>
              <a:t> generano</a:t>
            </a:r>
          </a:p>
          <a:p>
            <a:r>
              <a:rPr lang="it-IT" dirty="0"/>
              <a:t>Collegamenti tra:</a:t>
            </a:r>
          </a:p>
          <a:p>
            <a:r>
              <a:rPr lang="it-IT" dirty="0"/>
              <a:t>Istruzioni</a:t>
            </a:r>
          </a:p>
          <a:p>
            <a:r>
              <a:rPr lang="it-IT" dirty="0"/>
              <a:t>Indirizzi</a:t>
            </a:r>
          </a:p>
          <a:p>
            <a:r>
              <a:rPr lang="it-IT" dirty="0"/>
              <a:t>Senza sapere dove saranno caricati in memoria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223127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FA355-50A3-40C8-9A17-4F8A2D3B9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Indirizzi logici/fisici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EDD1FD-B7B9-46FE-92D0-44CD5DCC9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Vengono generati degli</a:t>
            </a:r>
          </a:p>
          <a:p>
            <a:pPr marL="0" indent="0">
              <a:buNone/>
            </a:pPr>
            <a:r>
              <a:rPr lang="it-IT" sz="2400" dirty="0"/>
              <a:t>    Indirizzi relativi(indirizzi logici)</a:t>
            </a:r>
          </a:p>
          <a:p>
            <a:r>
              <a:rPr lang="it-IT" sz="2400" dirty="0"/>
              <a:t>trasformati al caricamento </a:t>
            </a:r>
          </a:p>
          <a:p>
            <a:r>
              <a:rPr lang="it-IT" sz="2400" dirty="0"/>
              <a:t>Indirizzi assoluti(fisici)</a:t>
            </a:r>
          </a:p>
        </p:txBody>
      </p:sp>
    </p:spTree>
    <p:extLst>
      <p:ext uri="{BB962C8B-B14F-4D97-AF65-F5344CB8AC3E}">
        <p14:creationId xmlns:p14="http://schemas.microsoft.com/office/powerpoint/2010/main" val="306081741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54E848-18E0-4A85-A8A6-F45CC6007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RILOCAZIONE STATICA/DINAMICA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E44C59-4045-41F4-918E-761EE565B0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dirty="0"/>
              <a:t>Ogni processo ha un proprio spazio di indirizzamento logico</a:t>
            </a:r>
          </a:p>
          <a:p>
            <a:pPr marL="0" indent="0">
              <a:buNone/>
            </a:pPr>
            <a:r>
              <a:rPr lang="it-IT" dirty="0"/>
              <a:t>    allocato in memoria fisica:</a:t>
            </a:r>
          </a:p>
          <a:p>
            <a:r>
              <a:rPr lang="it-IT" dirty="0"/>
              <a:t>Il compilatore genera gli indirizzi</a:t>
            </a:r>
          </a:p>
          <a:p>
            <a:pPr marL="0" indent="0">
              <a:buNone/>
            </a:pPr>
            <a:r>
              <a:rPr lang="it-IT" dirty="0"/>
              <a:t>    ipotizzando di essere caricati dall’indirizzo 0</a:t>
            </a:r>
          </a:p>
          <a:p>
            <a:pPr marL="0" indent="0">
              <a:buNone/>
            </a:pPr>
            <a:r>
              <a:rPr lang="it-IT" dirty="0"/>
              <a:t>     In base a questo:</a:t>
            </a:r>
          </a:p>
          <a:p>
            <a:pPr marL="0" indent="0">
              <a:buNone/>
            </a:pPr>
            <a:endParaRPr lang="it-IT" dirty="0"/>
          </a:p>
          <a:p>
            <a:r>
              <a:rPr lang="it-IT" dirty="0"/>
              <a:t>Vengono generati:</a:t>
            </a:r>
          </a:p>
          <a:p>
            <a:r>
              <a:rPr lang="it-IT" dirty="0"/>
              <a:t> collegamenti dati/Istruzioni</a:t>
            </a:r>
          </a:p>
          <a:p>
            <a:r>
              <a:rPr lang="it-IT" dirty="0"/>
              <a:t>Secondo 2 modalità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85E3DE5-0A41-4ADE-AC59-CA356AE01AD5}"/>
              </a:ext>
            </a:extLst>
          </p:cNvPr>
          <p:cNvSpPr txBox="1"/>
          <p:nvPr/>
        </p:nvSpPr>
        <p:spPr>
          <a:xfrm>
            <a:off x="7322522" y="3799936"/>
            <a:ext cx="37093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indirizzi logici </a:t>
            </a:r>
          </a:p>
          <a:p>
            <a:r>
              <a:rPr lang="it-IT" dirty="0"/>
              <a:t>     0   a=2</a:t>
            </a:r>
          </a:p>
          <a:p>
            <a:r>
              <a:rPr lang="it-IT" dirty="0"/>
              <a:t>     1   b=6</a:t>
            </a:r>
          </a:p>
          <a:p>
            <a:r>
              <a:rPr lang="it-IT" dirty="0"/>
              <a:t>     2   somma </a:t>
            </a:r>
          </a:p>
          <a:p>
            <a:r>
              <a:rPr lang="it-IT" dirty="0"/>
              <a:t>     3   </a:t>
            </a:r>
            <a:r>
              <a:rPr lang="it-IT" dirty="0" err="1"/>
              <a:t>moltipl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77871817"/>
      </p:ext>
    </p:extLst>
  </p:cSld>
  <p:clrMapOvr>
    <a:masterClrMapping/>
  </p:clrMapOvr>
  <p:transition spd="slow">
    <p:comb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1DCEB2-6BDF-41DD-BC25-341336DB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Rilocazione statica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DAD412-F639-4CBE-95BA-835D77F6F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dirty="0"/>
              <a:t>Gli indirizzi vengono fissati prima dell’esecuzione</a:t>
            </a:r>
          </a:p>
          <a:p>
            <a:r>
              <a:rPr lang="it-IT" dirty="0"/>
              <a:t>Non può essere spostato</a:t>
            </a:r>
          </a:p>
          <a:p>
            <a:endParaRPr lang="it-IT" dirty="0"/>
          </a:p>
          <a:p>
            <a:pPr marL="0" indent="0">
              <a:buNone/>
            </a:pPr>
            <a:r>
              <a:rPr lang="it-IT" dirty="0"/>
              <a:t>    indirizzi logici </a:t>
            </a:r>
          </a:p>
          <a:p>
            <a:pPr marL="0" indent="0">
              <a:buNone/>
            </a:pPr>
            <a:r>
              <a:rPr lang="it-IT" dirty="0"/>
              <a:t>     0   a=2</a:t>
            </a:r>
          </a:p>
          <a:p>
            <a:pPr marL="0" indent="0">
              <a:buNone/>
            </a:pPr>
            <a:r>
              <a:rPr lang="it-IT" dirty="0"/>
              <a:t>     1   b=6</a:t>
            </a:r>
          </a:p>
          <a:p>
            <a:pPr marL="0" indent="0">
              <a:buNone/>
            </a:pPr>
            <a:r>
              <a:rPr lang="it-IT" dirty="0"/>
              <a:t>     2   somma </a:t>
            </a:r>
          </a:p>
          <a:p>
            <a:pPr marL="0" indent="0">
              <a:buNone/>
            </a:pPr>
            <a:r>
              <a:rPr lang="it-IT" dirty="0"/>
              <a:t>     3   </a:t>
            </a:r>
            <a:r>
              <a:rPr lang="it-IT" dirty="0" err="1"/>
              <a:t>moltipl</a:t>
            </a:r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E95636B-8ABC-4C5A-9E45-54D09B3443BE}"/>
              </a:ext>
            </a:extLst>
          </p:cNvPr>
          <p:cNvSpPr txBox="1"/>
          <p:nvPr/>
        </p:nvSpPr>
        <p:spPr>
          <a:xfrm>
            <a:off x="6392411" y="3573710"/>
            <a:ext cx="2114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#100  a=2</a:t>
            </a:r>
          </a:p>
          <a:p>
            <a:r>
              <a:rPr lang="it-IT" dirty="0"/>
              <a:t>#101  b=6</a:t>
            </a:r>
          </a:p>
          <a:p>
            <a:r>
              <a:rPr lang="it-IT" dirty="0"/>
              <a:t>#102  somma</a:t>
            </a:r>
          </a:p>
          <a:p>
            <a:r>
              <a:rPr lang="it-IT" dirty="0"/>
              <a:t>#103  </a:t>
            </a:r>
            <a:r>
              <a:rPr lang="it-IT" dirty="0" err="1"/>
              <a:t>moltipl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0CFC12C-61DF-4BE1-9A8B-B54D97F255EE}"/>
              </a:ext>
            </a:extLst>
          </p:cNvPr>
          <p:cNvSpPr txBox="1"/>
          <p:nvPr/>
        </p:nvSpPr>
        <p:spPr>
          <a:xfrm>
            <a:off x="6392411" y="3244334"/>
            <a:ext cx="2656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Indirizzi fisici</a:t>
            </a:r>
          </a:p>
        </p:txBody>
      </p:sp>
    </p:spTree>
    <p:extLst>
      <p:ext uri="{BB962C8B-B14F-4D97-AF65-F5344CB8AC3E}">
        <p14:creationId xmlns:p14="http://schemas.microsoft.com/office/powerpoint/2010/main" val="353193414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77E4D9-85E0-4613-ABA3-67F4D6C3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Rilocazione dinamica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20A150-6455-4237-94BC-CD75CB068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dirty="0"/>
              <a:t>Il programma usa indirizzi relativi</a:t>
            </a:r>
          </a:p>
          <a:p>
            <a:r>
              <a:rPr lang="it-IT" dirty="0"/>
              <a:t>Può essere spostato</a:t>
            </a:r>
          </a:p>
          <a:p>
            <a:pPr marL="0" indent="0">
              <a:buNone/>
            </a:pPr>
            <a:r>
              <a:rPr lang="it-IT" dirty="0"/>
              <a:t>indirizzi logici                                                 memoria fisica</a:t>
            </a:r>
          </a:p>
          <a:p>
            <a:pPr marL="0" indent="0">
              <a:buNone/>
            </a:pPr>
            <a:r>
              <a:rPr lang="it-IT" dirty="0"/>
              <a:t>     0   a=2</a:t>
            </a:r>
          </a:p>
          <a:p>
            <a:pPr marL="0" indent="0">
              <a:buNone/>
            </a:pPr>
            <a:r>
              <a:rPr lang="it-IT" dirty="0"/>
              <a:t>     1   b=6</a:t>
            </a:r>
          </a:p>
          <a:p>
            <a:pPr marL="0" indent="0">
              <a:buNone/>
            </a:pPr>
            <a:r>
              <a:rPr lang="it-IT" dirty="0"/>
              <a:t>     2   somma </a:t>
            </a:r>
          </a:p>
          <a:p>
            <a:pPr marL="0" indent="0">
              <a:buNone/>
            </a:pPr>
            <a:r>
              <a:rPr lang="it-IT" dirty="0"/>
              <a:t>     3   </a:t>
            </a:r>
            <a:r>
              <a:rPr lang="it-IT" dirty="0" err="1"/>
              <a:t>moltipl</a:t>
            </a:r>
            <a:endParaRPr lang="it-IT" dirty="0"/>
          </a:p>
          <a:p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EFF2159-27E0-4E4D-B75F-4D68950A0294}"/>
              </a:ext>
            </a:extLst>
          </p:cNvPr>
          <p:cNvSpPr txBox="1"/>
          <p:nvPr/>
        </p:nvSpPr>
        <p:spPr>
          <a:xfrm>
            <a:off x="6096000" y="3315317"/>
            <a:ext cx="210843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#234 //////</a:t>
            </a:r>
          </a:p>
          <a:p>
            <a:r>
              <a:rPr lang="it-IT" dirty="0"/>
              <a:t>#235 /////</a:t>
            </a:r>
          </a:p>
          <a:p>
            <a:r>
              <a:rPr lang="it-IT" dirty="0"/>
              <a:t>#236  a=2</a:t>
            </a:r>
          </a:p>
          <a:p>
            <a:r>
              <a:rPr lang="it-IT" dirty="0"/>
              <a:t>#237  b=6</a:t>
            </a:r>
          </a:p>
          <a:p>
            <a:r>
              <a:rPr lang="it-IT" dirty="0"/>
              <a:t>#238  somma</a:t>
            </a:r>
          </a:p>
          <a:p>
            <a:r>
              <a:rPr lang="it-IT" dirty="0"/>
              <a:t>#239  </a:t>
            </a:r>
            <a:r>
              <a:rPr lang="it-IT" dirty="0" err="1"/>
              <a:t>moltipl</a:t>
            </a:r>
            <a:endParaRPr lang="it-IT" dirty="0"/>
          </a:p>
          <a:p>
            <a:r>
              <a:rPr lang="it-IT" dirty="0"/>
              <a:t>#240 //////</a:t>
            </a: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CD3E966A-240A-4FB5-85E3-D5DD356E8C5A}"/>
              </a:ext>
            </a:extLst>
          </p:cNvPr>
          <p:cNvCxnSpPr/>
          <p:nvPr/>
        </p:nvCxnSpPr>
        <p:spPr>
          <a:xfrm flipH="1">
            <a:off x="7600426" y="3187817"/>
            <a:ext cx="1853967" cy="3439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73420289-1B29-46DA-B657-CCB3AB557EA1}"/>
              </a:ext>
            </a:extLst>
          </p:cNvPr>
          <p:cNvCxnSpPr>
            <a:cxnSpLocks/>
          </p:cNvCxnSpPr>
          <p:nvPr/>
        </p:nvCxnSpPr>
        <p:spPr>
          <a:xfrm flipH="1">
            <a:off x="7667538" y="3187817"/>
            <a:ext cx="1786855" cy="5436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arentesi quadra chiusa 13">
            <a:extLst>
              <a:ext uri="{FF2B5EF4-FFF2-40B4-BE49-F238E27FC236}">
                <a16:creationId xmlns:a16="http://schemas.microsoft.com/office/drawing/2014/main" id="{C20E6EE8-19DF-409D-B67B-F4AFEDA8B61B}"/>
              </a:ext>
            </a:extLst>
          </p:cNvPr>
          <p:cNvSpPr/>
          <p:nvPr/>
        </p:nvSpPr>
        <p:spPr>
          <a:xfrm flipH="1">
            <a:off x="6096000" y="3917659"/>
            <a:ext cx="396000" cy="1080000"/>
          </a:xfrm>
          <a:prstGeom prst="rightBracket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Parentesi quadra chiusa 14">
            <a:extLst>
              <a:ext uri="{FF2B5EF4-FFF2-40B4-BE49-F238E27FC236}">
                <a16:creationId xmlns:a16="http://schemas.microsoft.com/office/drawing/2014/main" id="{DC413908-5052-4CEF-B7E7-960422E09F7F}"/>
              </a:ext>
            </a:extLst>
          </p:cNvPr>
          <p:cNvSpPr/>
          <p:nvPr/>
        </p:nvSpPr>
        <p:spPr>
          <a:xfrm>
            <a:off x="7005984" y="3934437"/>
            <a:ext cx="604008" cy="241388"/>
          </a:xfrm>
          <a:prstGeom prst="righ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A8F24EC-C05A-4D04-8986-95178A4E07E1}"/>
              </a:ext>
            </a:extLst>
          </p:cNvPr>
          <p:cNvSpPr txBox="1"/>
          <p:nvPr/>
        </p:nvSpPr>
        <p:spPr>
          <a:xfrm>
            <a:off x="9659726" y="3870465"/>
            <a:ext cx="1971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Indirizzo base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9CE2959A-E76E-45CB-828F-EC2B4227F0CE}"/>
              </a:ext>
            </a:extLst>
          </p:cNvPr>
          <p:cNvCxnSpPr/>
          <p:nvPr/>
        </p:nvCxnSpPr>
        <p:spPr>
          <a:xfrm flipH="1">
            <a:off x="7843707" y="4055131"/>
            <a:ext cx="167779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616862C3-99BE-4A4F-AB03-C4F4B0BD4EB7}"/>
              </a:ext>
            </a:extLst>
          </p:cNvPr>
          <p:cNvSpPr txBox="1"/>
          <p:nvPr/>
        </p:nvSpPr>
        <p:spPr>
          <a:xfrm>
            <a:off x="9454156" y="3020037"/>
            <a:ext cx="1786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Spazi pieni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1413FD62-9304-4318-99C5-5094FF832C27}"/>
              </a:ext>
            </a:extLst>
          </p:cNvPr>
          <p:cNvSpPr txBox="1"/>
          <p:nvPr/>
        </p:nvSpPr>
        <p:spPr>
          <a:xfrm>
            <a:off x="9501529" y="4752594"/>
            <a:ext cx="22878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Indirizzo </a:t>
            </a:r>
            <a:r>
              <a:rPr lang="it-IT" dirty="0" err="1"/>
              <a:t>base+max</a:t>
            </a:r>
            <a:endParaRPr lang="it-IT" dirty="0"/>
          </a:p>
          <a:p>
            <a:endParaRPr lang="it-IT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2499F387-02EF-4FF9-B54E-A2852997E177}"/>
              </a:ext>
            </a:extLst>
          </p:cNvPr>
          <p:cNvCxnSpPr>
            <a:cxnSpLocks/>
          </p:cNvCxnSpPr>
          <p:nvPr/>
        </p:nvCxnSpPr>
        <p:spPr>
          <a:xfrm flipH="1" flipV="1">
            <a:off x="7843707" y="4890782"/>
            <a:ext cx="1654030" cy="6119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Parentesi quadra chiusa 22">
            <a:extLst>
              <a:ext uri="{FF2B5EF4-FFF2-40B4-BE49-F238E27FC236}">
                <a16:creationId xmlns:a16="http://schemas.microsoft.com/office/drawing/2014/main" id="{7EDD1CAD-02E4-464D-87F8-3BD7DE308411}"/>
              </a:ext>
            </a:extLst>
          </p:cNvPr>
          <p:cNvSpPr/>
          <p:nvPr/>
        </p:nvSpPr>
        <p:spPr>
          <a:xfrm>
            <a:off x="7084904" y="4770345"/>
            <a:ext cx="604008" cy="241388"/>
          </a:xfrm>
          <a:prstGeom prst="righ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1C0601C-0522-4D78-BE7F-D47A973865ED}"/>
              </a:ext>
            </a:extLst>
          </p:cNvPr>
          <p:cNvSpPr txBox="1"/>
          <p:nvPr/>
        </p:nvSpPr>
        <p:spPr>
          <a:xfrm>
            <a:off x="5008228" y="4055131"/>
            <a:ext cx="8540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Spazi</a:t>
            </a:r>
          </a:p>
          <a:p>
            <a:r>
              <a:rPr lang="it-IT" dirty="0"/>
              <a:t>liberi</a:t>
            </a:r>
          </a:p>
        </p:txBody>
      </p:sp>
    </p:spTree>
    <p:extLst>
      <p:ext uri="{BB962C8B-B14F-4D97-AF65-F5344CB8AC3E}">
        <p14:creationId xmlns:p14="http://schemas.microsoft.com/office/powerpoint/2010/main" val="259565651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638503-D3FB-4AF6-B740-CACA5B71F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mmu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AF7B45-80A3-4DBB-918A-F57305C82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Componente hardware</a:t>
            </a:r>
          </a:p>
          <a:p>
            <a:pPr marL="0" indent="0">
              <a:buNone/>
            </a:pPr>
            <a:endParaRPr lang="it-IT" dirty="0"/>
          </a:p>
          <a:p>
            <a:r>
              <a:rPr lang="it-IT" dirty="0"/>
              <a:t>Prende un indirizzo logico</a:t>
            </a:r>
          </a:p>
          <a:p>
            <a:r>
              <a:rPr lang="it-IT" dirty="0"/>
              <a:t>(es.)</a:t>
            </a:r>
          </a:p>
          <a:p>
            <a:r>
              <a:rPr lang="it-IT" dirty="0"/>
              <a:t>5  </a:t>
            </a:r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86510C6-1ED6-4F1F-9822-786E995B94F6}"/>
              </a:ext>
            </a:extLst>
          </p:cNvPr>
          <p:cNvSpPr txBox="1"/>
          <p:nvPr/>
        </p:nvSpPr>
        <p:spPr>
          <a:xfrm>
            <a:off x="1675886" y="3775409"/>
            <a:ext cx="1550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+ 100 =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CD80931-0F35-4434-87EE-EE7A0E329336}"/>
              </a:ext>
            </a:extLst>
          </p:cNvPr>
          <p:cNvSpPr txBox="1"/>
          <p:nvPr/>
        </p:nvSpPr>
        <p:spPr>
          <a:xfrm>
            <a:off x="2587924" y="3775409"/>
            <a:ext cx="1777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105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2D0570-AB44-47B1-95BA-FE0E0A19A02F}"/>
              </a:ext>
            </a:extLst>
          </p:cNvPr>
          <p:cNvSpPr txBox="1"/>
          <p:nvPr/>
        </p:nvSpPr>
        <p:spPr>
          <a:xfrm>
            <a:off x="3184018" y="3775409"/>
            <a:ext cx="3321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ym typeface="Wingdings" panose="05000000000000000000" pitchFamily="2" charset="2"/>
              </a:rPr>
              <a:t></a:t>
            </a:r>
            <a:r>
              <a:rPr lang="it-IT" dirty="0"/>
              <a:t>Indirizzo fisico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E932179-108F-4955-91CB-2B682F776A86}"/>
              </a:ext>
            </a:extLst>
          </p:cNvPr>
          <p:cNvSpPr txBox="1"/>
          <p:nvPr/>
        </p:nvSpPr>
        <p:spPr>
          <a:xfrm>
            <a:off x="1054732" y="4630985"/>
            <a:ext cx="447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Indirizzo fisico = indirizzo logico + base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9D01540F-6522-4CE4-8F88-893B4F1867FD}"/>
              </a:ext>
            </a:extLst>
          </p:cNvPr>
          <p:cNvSpPr txBox="1"/>
          <p:nvPr/>
        </p:nvSpPr>
        <p:spPr>
          <a:xfrm>
            <a:off x="7945931" y="3537208"/>
            <a:ext cx="407541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#234 //////</a:t>
            </a:r>
          </a:p>
          <a:p>
            <a:r>
              <a:rPr lang="it-IT" dirty="0"/>
              <a:t>#235 /////</a:t>
            </a:r>
          </a:p>
          <a:p>
            <a:r>
              <a:rPr lang="it-IT" dirty="0"/>
              <a:t>#236  a=2</a:t>
            </a:r>
          </a:p>
          <a:p>
            <a:r>
              <a:rPr lang="it-IT" dirty="0"/>
              <a:t>#237  b=6</a:t>
            </a:r>
          </a:p>
          <a:p>
            <a:r>
              <a:rPr lang="it-IT" dirty="0"/>
              <a:t>#238  somma</a:t>
            </a:r>
          </a:p>
          <a:p>
            <a:r>
              <a:rPr lang="it-IT" dirty="0"/>
              <a:t>#239  </a:t>
            </a:r>
            <a:r>
              <a:rPr lang="it-IT" dirty="0" err="1"/>
              <a:t>moltipl</a:t>
            </a:r>
            <a:endParaRPr lang="it-IT" dirty="0"/>
          </a:p>
          <a:p>
            <a:r>
              <a:rPr lang="it-IT" dirty="0"/>
              <a:t>#240 //////</a:t>
            </a:r>
          </a:p>
          <a:p>
            <a:endParaRPr lang="it-IT" dirty="0"/>
          </a:p>
        </p:txBody>
      </p:sp>
      <p:sp>
        <p:nvSpPr>
          <p:cNvPr id="9" name="Parentesi quadra chiusa 8">
            <a:extLst>
              <a:ext uri="{FF2B5EF4-FFF2-40B4-BE49-F238E27FC236}">
                <a16:creationId xmlns:a16="http://schemas.microsoft.com/office/drawing/2014/main" id="{D119AD15-02F3-4403-A218-7E679706E56E}"/>
              </a:ext>
            </a:extLst>
          </p:cNvPr>
          <p:cNvSpPr/>
          <p:nvPr/>
        </p:nvSpPr>
        <p:spPr>
          <a:xfrm flipH="1">
            <a:off x="7945931" y="4144741"/>
            <a:ext cx="725954" cy="241388"/>
          </a:xfrm>
          <a:prstGeom prst="righ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71B8328-6D47-434E-A49D-06B3BBC1A585}"/>
              </a:ext>
            </a:extLst>
          </p:cNvPr>
          <p:cNvSpPr txBox="1"/>
          <p:nvPr/>
        </p:nvSpPr>
        <p:spPr>
          <a:xfrm>
            <a:off x="6883879" y="4028536"/>
            <a:ext cx="943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Base </a:t>
            </a:r>
          </a:p>
        </p:txBody>
      </p:sp>
      <p:sp>
        <p:nvSpPr>
          <p:cNvPr id="12" name="Parentesi quadra chiusa 11">
            <a:extLst>
              <a:ext uri="{FF2B5EF4-FFF2-40B4-BE49-F238E27FC236}">
                <a16:creationId xmlns:a16="http://schemas.microsoft.com/office/drawing/2014/main" id="{348A736B-B22B-48BD-9D6D-C6B9134F3998}"/>
              </a:ext>
            </a:extLst>
          </p:cNvPr>
          <p:cNvSpPr/>
          <p:nvPr/>
        </p:nvSpPr>
        <p:spPr>
          <a:xfrm flipH="1">
            <a:off x="7945931" y="4993662"/>
            <a:ext cx="631063" cy="241388"/>
          </a:xfrm>
          <a:prstGeom prst="rightBracket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2611577-A7ED-4B77-B62A-62BBC7F85620}"/>
              </a:ext>
            </a:extLst>
          </p:cNvPr>
          <p:cNvSpPr txBox="1"/>
          <p:nvPr/>
        </p:nvSpPr>
        <p:spPr>
          <a:xfrm>
            <a:off x="6627714" y="4942903"/>
            <a:ext cx="1455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Base+max</a:t>
            </a:r>
            <a:r>
              <a:rPr lang="it-IT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4056125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95EC97-3C0D-4505-A29E-47778AA37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Binding</a:t>
            </a:r>
            <a:r>
              <a:rPr lang="it-IT" dirty="0"/>
              <a:t> e linking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820C490-839B-4862-92B4-CEF879D0A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 dirty="0"/>
              <a:t>Calcolo indirizzi logici</a:t>
            </a:r>
          </a:p>
          <a:p>
            <a:pPr marL="0" indent="0">
              <a:buNone/>
            </a:pPr>
            <a:r>
              <a:rPr lang="it-IT" dirty="0"/>
              <a:t>     effettuato nel linking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r>
              <a:rPr lang="it-IT" dirty="0"/>
              <a:t>Passaggio indirizzo fisico</a:t>
            </a:r>
          </a:p>
          <a:p>
            <a:pPr marL="0" indent="0">
              <a:buNone/>
            </a:pPr>
            <a:r>
              <a:rPr lang="it-IT" dirty="0"/>
              <a:t>      effettuato nel </a:t>
            </a:r>
            <a:r>
              <a:rPr lang="it-IT" dirty="0" err="1"/>
              <a:t>binding</a:t>
            </a:r>
            <a:r>
              <a:rPr lang="it-IT" dirty="0"/>
              <a:t>  in momenti diversi</a:t>
            </a:r>
          </a:p>
          <a:p>
            <a:pPr marL="0" indent="0">
              <a:buNone/>
            </a:pPr>
            <a:r>
              <a:rPr lang="it-IT" dirty="0"/>
              <a:t> </a:t>
            </a:r>
            <a:r>
              <a:rPr lang="it-IT" dirty="0">
                <a:sym typeface="Wingdings" panose="05000000000000000000" pitchFamily="2" charset="2"/>
              </a:rPr>
              <a:t></a:t>
            </a:r>
            <a:r>
              <a:rPr lang="it-IT" dirty="0"/>
              <a:t>Compile time</a:t>
            </a:r>
          </a:p>
          <a:p>
            <a:pPr marL="0" indent="0">
              <a:buNone/>
            </a:pPr>
            <a:r>
              <a:rPr lang="it-IT" dirty="0"/>
              <a:t> </a:t>
            </a:r>
            <a:r>
              <a:rPr lang="it-IT" dirty="0">
                <a:sym typeface="Wingdings" panose="05000000000000000000" pitchFamily="2" charset="2"/>
              </a:rPr>
              <a:t></a:t>
            </a:r>
            <a:r>
              <a:rPr lang="it-IT" dirty="0" err="1"/>
              <a:t>Load</a:t>
            </a:r>
            <a:r>
              <a:rPr lang="it-IT" dirty="0"/>
              <a:t> time(rilocazione statica) </a:t>
            </a:r>
          </a:p>
          <a:p>
            <a:pPr marL="0" indent="0">
              <a:buNone/>
            </a:pPr>
            <a:r>
              <a:rPr lang="it-IT" dirty="0">
                <a:sym typeface="Wingdings" panose="05000000000000000000" pitchFamily="2" charset="2"/>
              </a:rPr>
              <a:t></a:t>
            </a:r>
            <a:r>
              <a:rPr lang="it-IT" dirty="0" err="1"/>
              <a:t>Execution</a:t>
            </a:r>
            <a:r>
              <a:rPr lang="it-IT" dirty="0"/>
              <a:t> time</a:t>
            </a:r>
          </a:p>
          <a:p>
            <a:pPr marL="0" indent="0">
              <a:buNone/>
            </a:pPr>
            <a:r>
              <a:rPr lang="it-IT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1722215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BD33A4-6E7B-4D45-9265-472AB5F48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partizionamento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67ECBF-1426-4DE0-97FE-AF0A1AC1C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Tecnica usata dal sistema operativo per gestire la </a:t>
            </a:r>
            <a:r>
              <a:rPr lang="it-IT" dirty="0" err="1"/>
              <a:t>ram</a:t>
            </a:r>
            <a:endParaRPr lang="it-IT" dirty="0"/>
          </a:p>
          <a:p>
            <a:endParaRPr lang="it-IT" dirty="0"/>
          </a:p>
          <a:p>
            <a:r>
              <a:rPr lang="it-IT" dirty="0"/>
              <a:t>Memoria divisa in partizioni</a:t>
            </a:r>
          </a:p>
          <a:p>
            <a:r>
              <a:rPr lang="it-IT" dirty="0"/>
              <a:t>Una partizione= un processo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2308B8D-D96F-4604-9733-80E6EFB97F7C}"/>
              </a:ext>
            </a:extLst>
          </p:cNvPr>
          <p:cNvSpPr txBox="1"/>
          <p:nvPr/>
        </p:nvSpPr>
        <p:spPr>
          <a:xfrm>
            <a:off x="1368724" y="4078135"/>
            <a:ext cx="53771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Arial Rounded MT Bold" panose="020F0704030504030204" pitchFamily="34" charset="0"/>
              </a:rPr>
              <a:t>Cosa serve?</a:t>
            </a:r>
          </a:p>
          <a:p>
            <a:r>
              <a:rPr lang="it-IT" sz="2400" dirty="0">
                <a:latin typeface="Arial Rounded MT Bold" panose="020F0704030504030204" pitchFamily="34" charset="0"/>
              </a:rPr>
              <a:t>Eseguire più programmi insieme</a:t>
            </a:r>
          </a:p>
        </p:txBody>
      </p:sp>
      <p:pic>
        <p:nvPicPr>
          <p:cNvPr id="6" name="Elemento grafico 5" descr="Cervello">
            <a:extLst>
              <a:ext uri="{FF2B5EF4-FFF2-40B4-BE49-F238E27FC236}">
                <a16:creationId xmlns:a16="http://schemas.microsoft.com/office/drawing/2014/main" id="{43DEA68E-F556-4249-A1E8-6676C6EFEA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324" y="399473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645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2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D740BE-593C-4DE6-8B10-9CCD603CC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PARTIZIONE FISSA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5D0724-176E-4E3D-8F75-2A45DBA32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195481"/>
          </a:xfrm>
        </p:spPr>
        <p:txBody>
          <a:bodyPr/>
          <a:lstStyle/>
          <a:p>
            <a:r>
              <a:rPr lang="it-IT" dirty="0"/>
              <a:t>Numero di partizioni definita dal sistema</a:t>
            </a:r>
          </a:p>
          <a:p>
            <a:r>
              <a:rPr lang="it-IT" dirty="0"/>
              <a:t>Dimensione fissa</a:t>
            </a:r>
          </a:p>
          <a:p>
            <a:r>
              <a:rPr lang="it-IT" dirty="0"/>
              <a:t>Viene creata una tabella</a:t>
            </a:r>
          </a:p>
          <a:p>
            <a:pPr marL="0" indent="0">
              <a:buNone/>
            </a:pPr>
            <a:r>
              <a:rPr lang="it-IT" dirty="0"/>
              <a:t>         </a:t>
            </a:r>
            <a:r>
              <a:rPr lang="it-IT" dirty="0">
                <a:latin typeface="Arial Black" panose="020B0A04020102020204" pitchFamily="34" charset="0"/>
              </a:rPr>
              <a:t>stato partizioni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7D353BEF-7C9C-4EA9-A9A7-7154FD1F8918}"/>
              </a:ext>
            </a:extLst>
          </p:cNvPr>
          <p:cNvSpPr/>
          <p:nvPr/>
        </p:nvSpPr>
        <p:spPr>
          <a:xfrm>
            <a:off x="7306574" y="2570672"/>
            <a:ext cx="1095554" cy="2984739"/>
          </a:xfrm>
          <a:prstGeom prst="rect">
            <a:avLst/>
          </a:prstGeom>
          <a:noFill/>
          <a:ln w="38100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A099EAC6-4556-4B99-9563-FDCEDB9DCA9C}"/>
              </a:ext>
            </a:extLst>
          </p:cNvPr>
          <p:cNvCxnSpPr>
            <a:cxnSpLocks/>
          </p:cNvCxnSpPr>
          <p:nvPr/>
        </p:nvCxnSpPr>
        <p:spPr>
          <a:xfrm>
            <a:off x="7306574" y="3140015"/>
            <a:ext cx="109555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48DCC28D-2EC1-40AC-9BB5-1A395AC2788F}"/>
              </a:ext>
            </a:extLst>
          </p:cNvPr>
          <p:cNvCxnSpPr>
            <a:cxnSpLocks/>
          </p:cNvCxnSpPr>
          <p:nvPr/>
        </p:nvCxnSpPr>
        <p:spPr>
          <a:xfrm>
            <a:off x="7306574" y="3732362"/>
            <a:ext cx="109555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809B6E6-D5C6-4A8F-9F63-32E292F3DA4F}"/>
              </a:ext>
            </a:extLst>
          </p:cNvPr>
          <p:cNvCxnSpPr>
            <a:cxnSpLocks/>
          </p:cNvCxnSpPr>
          <p:nvPr/>
        </p:nvCxnSpPr>
        <p:spPr>
          <a:xfrm>
            <a:off x="7306574" y="4353464"/>
            <a:ext cx="109555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05A28E1A-2771-4447-8574-72EB7AD92DE8}"/>
              </a:ext>
            </a:extLst>
          </p:cNvPr>
          <p:cNvCxnSpPr>
            <a:cxnSpLocks/>
          </p:cNvCxnSpPr>
          <p:nvPr/>
        </p:nvCxnSpPr>
        <p:spPr>
          <a:xfrm>
            <a:off x="7306574" y="4905554"/>
            <a:ext cx="109555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arentesi graffa chiusa 11">
            <a:extLst>
              <a:ext uri="{FF2B5EF4-FFF2-40B4-BE49-F238E27FC236}">
                <a16:creationId xmlns:a16="http://schemas.microsoft.com/office/drawing/2014/main" id="{B54E9996-87A4-4879-A1A3-F626FE80D602}"/>
              </a:ext>
            </a:extLst>
          </p:cNvPr>
          <p:cNvSpPr/>
          <p:nvPr/>
        </p:nvSpPr>
        <p:spPr>
          <a:xfrm>
            <a:off x="8514272" y="2570672"/>
            <a:ext cx="120770" cy="56933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FF800F7-C2EA-4E64-81A5-C9F3987E898B}"/>
              </a:ext>
            </a:extLst>
          </p:cNvPr>
          <p:cNvSpPr txBox="1"/>
          <p:nvPr/>
        </p:nvSpPr>
        <p:spPr>
          <a:xfrm>
            <a:off x="8747185" y="2670673"/>
            <a:ext cx="1673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partizioni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E3F65038-D249-40A4-950F-45EF7B78324A}"/>
              </a:ext>
            </a:extLst>
          </p:cNvPr>
          <p:cNvSpPr/>
          <p:nvPr/>
        </p:nvSpPr>
        <p:spPr>
          <a:xfrm>
            <a:off x="1585743" y="3732993"/>
            <a:ext cx="2451419" cy="2515406"/>
          </a:xfrm>
          <a:prstGeom prst="rect">
            <a:avLst/>
          </a:prstGeom>
          <a:noFill/>
          <a:ln w="38100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0E9E8491-6D35-48EA-85BE-B8B196E2B961}"/>
              </a:ext>
            </a:extLst>
          </p:cNvPr>
          <p:cNvCxnSpPr>
            <a:cxnSpLocks/>
          </p:cNvCxnSpPr>
          <p:nvPr/>
        </p:nvCxnSpPr>
        <p:spPr>
          <a:xfrm>
            <a:off x="1585743" y="4063041"/>
            <a:ext cx="245141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AC92040D-28FB-4FAF-A900-A60339B72FDB}"/>
              </a:ext>
            </a:extLst>
          </p:cNvPr>
          <p:cNvCxnSpPr>
            <a:cxnSpLocks/>
          </p:cNvCxnSpPr>
          <p:nvPr/>
        </p:nvCxnSpPr>
        <p:spPr>
          <a:xfrm>
            <a:off x="1585743" y="4353464"/>
            <a:ext cx="245141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nettore diritto 20">
            <a:extLst>
              <a:ext uri="{FF2B5EF4-FFF2-40B4-BE49-F238E27FC236}">
                <a16:creationId xmlns:a16="http://schemas.microsoft.com/office/drawing/2014/main" id="{C55635EB-689F-4BCF-B52D-3E4634373775}"/>
              </a:ext>
            </a:extLst>
          </p:cNvPr>
          <p:cNvCxnSpPr>
            <a:cxnSpLocks/>
          </p:cNvCxnSpPr>
          <p:nvPr/>
        </p:nvCxnSpPr>
        <p:spPr>
          <a:xfrm>
            <a:off x="1585743" y="4681268"/>
            <a:ext cx="245141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2D8F67CD-0DDB-4292-8C72-F95DF11E683D}"/>
              </a:ext>
            </a:extLst>
          </p:cNvPr>
          <p:cNvCxnSpPr>
            <a:cxnSpLocks/>
          </p:cNvCxnSpPr>
          <p:nvPr/>
        </p:nvCxnSpPr>
        <p:spPr>
          <a:xfrm>
            <a:off x="1585743" y="5022326"/>
            <a:ext cx="245141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C81591E-1485-4B6C-8A9C-F60DC922C500}"/>
              </a:ext>
            </a:extLst>
          </p:cNvPr>
          <p:cNvCxnSpPr>
            <a:cxnSpLocks/>
          </p:cNvCxnSpPr>
          <p:nvPr/>
        </p:nvCxnSpPr>
        <p:spPr>
          <a:xfrm>
            <a:off x="1585743" y="5336875"/>
            <a:ext cx="245141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C54B77CC-D99C-43B7-81B8-F33B5414401D}"/>
              </a:ext>
            </a:extLst>
          </p:cNvPr>
          <p:cNvCxnSpPr>
            <a:cxnSpLocks/>
          </p:cNvCxnSpPr>
          <p:nvPr/>
        </p:nvCxnSpPr>
        <p:spPr>
          <a:xfrm>
            <a:off x="1585743" y="5647426"/>
            <a:ext cx="245141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5124348F-4CC2-487C-A644-5B79CFE83D5D}"/>
              </a:ext>
            </a:extLst>
          </p:cNvPr>
          <p:cNvCxnSpPr>
            <a:cxnSpLocks/>
          </p:cNvCxnSpPr>
          <p:nvPr/>
        </p:nvCxnSpPr>
        <p:spPr>
          <a:xfrm>
            <a:off x="1585743" y="5966603"/>
            <a:ext cx="245141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ttore diritto 27">
            <a:extLst>
              <a:ext uri="{FF2B5EF4-FFF2-40B4-BE49-F238E27FC236}">
                <a16:creationId xmlns:a16="http://schemas.microsoft.com/office/drawing/2014/main" id="{C069D24E-3F8E-448B-BF28-8B4E5EB920D7}"/>
              </a:ext>
            </a:extLst>
          </p:cNvPr>
          <p:cNvCxnSpPr/>
          <p:nvPr/>
        </p:nvCxnSpPr>
        <p:spPr>
          <a:xfrm>
            <a:off x="2398143" y="3732362"/>
            <a:ext cx="0" cy="2516037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diritto 29">
            <a:extLst>
              <a:ext uri="{FF2B5EF4-FFF2-40B4-BE49-F238E27FC236}">
                <a16:creationId xmlns:a16="http://schemas.microsoft.com/office/drawing/2014/main" id="{B8BE692B-B98E-41E0-86BB-F6D09371CBCA}"/>
              </a:ext>
            </a:extLst>
          </p:cNvPr>
          <p:cNvCxnSpPr/>
          <p:nvPr/>
        </p:nvCxnSpPr>
        <p:spPr>
          <a:xfrm>
            <a:off x="3249283" y="3764307"/>
            <a:ext cx="0" cy="2516037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87B01854-35C2-4DF7-9E10-2186EDB55935}"/>
              </a:ext>
            </a:extLst>
          </p:cNvPr>
          <p:cNvSpPr txBox="1"/>
          <p:nvPr/>
        </p:nvSpPr>
        <p:spPr>
          <a:xfrm>
            <a:off x="1585743" y="3764307"/>
            <a:ext cx="81239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</a:t>
            </a:r>
          </a:p>
          <a:p>
            <a:r>
              <a:rPr lang="it-IT" dirty="0"/>
              <a:t>2</a:t>
            </a:r>
          </a:p>
          <a:p>
            <a:r>
              <a:rPr lang="it-IT" dirty="0"/>
              <a:t>3</a:t>
            </a:r>
          </a:p>
          <a:p>
            <a:r>
              <a:rPr lang="it-IT" dirty="0"/>
              <a:t>4</a:t>
            </a:r>
          </a:p>
          <a:p>
            <a:r>
              <a:rPr lang="it-IT" dirty="0"/>
              <a:t>5</a:t>
            </a:r>
          </a:p>
          <a:p>
            <a:r>
              <a:rPr lang="it-IT" dirty="0"/>
              <a:t>6</a:t>
            </a:r>
          </a:p>
          <a:p>
            <a:r>
              <a:rPr lang="it-IT" dirty="0"/>
              <a:t>7</a:t>
            </a:r>
          </a:p>
          <a:p>
            <a:r>
              <a:rPr lang="it-IT" dirty="0"/>
              <a:t>8</a:t>
            </a:r>
          </a:p>
          <a:p>
            <a:endParaRPr lang="it-IT" dirty="0"/>
          </a:p>
        </p:txBody>
      </p:sp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D778FA2C-A046-40D3-8375-B9E7EBDC1174}"/>
              </a:ext>
            </a:extLst>
          </p:cNvPr>
          <p:cNvSpPr txBox="1"/>
          <p:nvPr/>
        </p:nvSpPr>
        <p:spPr>
          <a:xfrm>
            <a:off x="2488721" y="3729663"/>
            <a:ext cx="669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</a:t>
            </a:r>
          </a:p>
          <a:p>
            <a:pPr algn="ctr"/>
            <a:r>
              <a:rPr lang="it-IT" dirty="0"/>
              <a:t>O</a:t>
            </a:r>
          </a:p>
          <a:p>
            <a:pPr algn="ctr"/>
            <a:r>
              <a:rPr lang="it-IT" dirty="0"/>
              <a:t>L</a:t>
            </a:r>
          </a:p>
          <a:p>
            <a:endParaRPr lang="it-IT" dirty="0"/>
          </a:p>
        </p:txBody>
      </p:sp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BA5CF882-1445-4E52-BC02-38960270ED62}"/>
              </a:ext>
            </a:extLst>
          </p:cNvPr>
          <p:cNvSpPr txBox="1"/>
          <p:nvPr/>
        </p:nvSpPr>
        <p:spPr>
          <a:xfrm>
            <a:off x="3249283" y="4028659"/>
            <a:ext cx="787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3345</a:t>
            </a: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07624E6E-6DA4-45A2-BC9D-AAC3BD7A8994}"/>
              </a:ext>
            </a:extLst>
          </p:cNvPr>
          <p:cNvSpPr txBox="1"/>
          <p:nvPr/>
        </p:nvSpPr>
        <p:spPr>
          <a:xfrm>
            <a:off x="3249270" y="5001001"/>
            <a:ext cx="787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3346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0143E81-8008-40A3-819D-0DE25BABC57F}"/>
              </a:ext>
            </a:extLst>
          </p:cNvPr>
          <p:cNvSpPr txBox="1"/>
          <p:nvPr/>
        </p:nvSpPr>
        <p:spPr>
          <a:xfrm>
            <a:off x="3282336" y="5928816"/>
            <a:ext cx="787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3347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3806269-A35A-4C40-AD41-1C1600465C4B}"/>
              </a:ext>
            </a:extLst>
          </p:cNvPr>
          <p:cNvSpPr txBox="1"/>
          <p:nvPr/>
        </p:nvSpPr>
        <p:spPr>
          <a:xfrm>
            <a:off x="2513157" y="4688320"/>
            <a:ext cx="549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CFDE1B03-DAD3-48EA-B449-FAE92E526B1B}"/>
              </a:ext>
            </a:extLst>
          </p:cNvPr>
          <p:cNvSpPr txBox="1"/>
          <p:nvPr/>
        </p:nvSpPr>
        <p:spPr>
          <a:xfrm>
            <a:off x="2488715" y="5012113"/>
            <a:ext cx="648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6B993DC-FBEF-43DC-8BFD-500DC5F8E6E3}"/>
              </a:ext>
            </a:extLst>
          </p:cNvPr>
          <p:cNvSpPr txBox="1"/>
          <p:nvPr/>
        </p:nvSpPr>
        <p:spPr>
          <a:xfrm>
            <a:off x="2474362" y="5328248"/>
            <a:ext cx="64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6DE60F7-29B2-4060-9DC8-B71B72ED3381}"/>
              </a:ext>
            </a:extLst>
          </p:cNvPr>
          <p:cNvSpPr txBox="1"/>
          <p:nvPr/>
        </p:nvSpPr>
        <p:spPr>
          <a:xfrm>
            <a:off x="2480085" y="5639998"/>
            <a:ext cx="6757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L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1D3E0C84-E5DD-4982-B55A-82CB3E957537}"/>
              </a:ext>
            </a:extLst>
          </p:cNvPr>
          <p:cNvSpPr txBox="1"/>
          <p:nvPr/>
        </p:nvSpPr>
        <p:spPr>
          <a:xfrm>
            <a:off x="2461382" y="5960948"/>
            <a:ext cx="697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36144333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2321B9-ECE1-4E06-B127-9313D7321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PROBLEMI</a:t>
            </a:r>
          </a:p>
        </p:txBody>
      </p:sp>
      <p:pic>
        <p:nvPicPr>
          <p:cNvPr id="5" name="Segnaposto contenuto 4" descr="Avvertenza">
            <a:extLst>
              <a:ext uri="{FF2B5EF4-FFF2-40B4-BE49-F238E27FC236}">
                <a16:creationId xmlns:a16="http://schemas.microsoft.com/office/drawing/2014/main" id="{58C05137-95B3-4A24-B61F-FC26F5C159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91356" y="0"/>
            <a:ext cx="1099957" cy="1099957"/>
          </a:xfr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80E3962-307D-4D28-BB28-4D2C96207C06}"/>
              </a:ext>
            </a:extLst>
          </p:cNvPr>
          <p:cNvSpPr txBox="1"/>
          <p:nvPr/>
        </p:nvSpPr>
        <p:spPr>
          <a:xfrm>
            <a:off x="490836" y="1859340"/>
            <a:ext cx="106976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FRAMMENTAZIONE INTERNA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FRAMMENTAZIONE ESETRNA</a:t>
            </a:r>
          </a:p>
        </p:txBody>
      </p:sp>
    </p:spTree>
    <p:extLst>
      <p:ext uri="{BB962C8B-B14F-4D97-AF65-F5344CB8AC3E}">
        <p14:creationId xmlns:p14="http://schemas.microsoft.com/office/powerpoint/2010/main" val="39589226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C54351-ABBF-413F-AEE0-F3B0F12C8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FRAMMENTAZIONE INTERNA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9380B5-E1B5-4150-94C4-DB614362D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Cos è?</a:t>
            </a:r>
          </a:p>
          <a:p>
            <a:r>
              <a:rPr lang="it-IT" dirty="0"/>
              <a:t>È lo spazio di memoria sprecato dentro una partizione</a:t>
            </a:r>
          </a:p>
          <a:p>
            <a:endParaRPr lang="it-IT" dirty="0"/>
          </a:p>
          <a:p>
            <a:r>
              <a:rPr lang="it-IT" dirty="0"/>
              <a:t>Come può succedere?</a:t>
            </a:r>
          </a:p>
          <a:p>
            <a:r>
              <a:rPr lang="it-IT" dirty="0"/>
              <a:t>Programma più piccolo</a:t>
            </a:r>
          </a:p>
          <a:p>
            <a:r>
              <a:rPr lang="it-IT" dirty="0"/>
              <a:t>Succede soprattutto</a:t>
            </a:r>
          </a:p>
          <a:p>
            <a:pPr marL="0" indent="0">
              <a:buNone/>
            </a:pPr>
            <a:r>
              <a:rPr lang="it-IT" dirty="0"/>
              <a:t>     con il partizionamento fisso</a:t>
            </a:r>
          </a:p>
          <a:p>
            <a:endParaRPr lang="it-IT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EF8AF3BB-9C5D-4A5E-971F-5D216B8D7576}"/>
              </a:ext>
            </a:extLst>
          </p:cNvPr>
          <p:cNvSpPr/>
          <p:nvPr/>
        </p:nvSpPr>
        <p:spPr>
          <a:xfrm>
            <a:off x="8238226" y="3429000"/>
            <a:ext cx="1371600" cy="65128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FEB18C57-A649-4B8B-89C6-96C138CE970B}"/>
              </a:ext>
            </a:extLst>
          </p:cNvPr>
          <p:cNvSpPr/>
          <p:nvPr/>
        </p:nvSpPr>
        <p:spPr>
          <a:xfrm>
            <a:off x="8238226" y="3429000"/>
            <a:ext cx="1371600" cy="2976282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6E2E6BF-477D-4341-8ABF-76635EC54DBD}"/>
              </a:ext>
            </a:extLst>
          </p:cNvPr>
          <p:cNvCxnSpPr>
            <a:cxnSpLocks/>
          </p:cNvCxnSpPr>
          <p:nvPr/>
        </p:nvCxnSpPr>
        <p:spPr>
          <a:xfrm>
            <a:off x="8238226" y="4080294"/>
            <a:ext cx="1371600" cy="0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88991C19-373E-4D55-ABD4-D46E8616C417}"/>
              </a:ext>
            </a:extLst>
          </p:cNvPr>
          <p:cNvCxnSpPr>
            <a:cxnSpLocks/>
          </p:cNvCxnSpPr>
          <p:nvPr/>
        </p:nvCxnSpPr>
        <p:spPr>
          <a:xfrm>
            <a:off x="8238226" y="4327584"/>
            <a:ext cx="137160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348E31DA-1BF7-4B29-A9E4-385F95C7365E}"/>
              </a:ext>
            </a:extLst>
          </p:cNvPr>
          <p:cNvCxnSpPr>
            <a:cxnSpLocks/>
          </p:cNvCxnSpPr>
          <p:nvPr/>
        </p:nvCxnSpPr>
        <p:spPr>
          <a:xfrm>
            <a:off x="8238226" y="5161471"/>
            <a:ext cx="137160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4468C08-8649-4D8D-9D26-066FC81895CF}"/>
              </a:ext>
            </a:extLst>
          </p:cNvPr>
          <p:cNvCxnSpPr>
            <a:cxnSpLocks/>
          </p:cNvCxnSpPr>
          <p:nvPr/>
        </p:nvCxnSpPr>
        <p:spPr>
          <a:xfrm>
            <a:off x="8238226" y="5748067"/>
            <a:ext cx="137160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Parentesi graffa aperta 11">
            <a:extLst>
              <a:ext uri="{FF2B5EF4-FFF2-40B4-BE49-F238E27FC236}">
                <a16:creationId xmlns:a16="http://schemas.microsoft.com/office/drawing/2014/main" id="{4633F02E-8A46-4339-9BEC-502D81C5E4A3}"/>
              </a:ext>
            </a:extLst>
          </p:cNvPr>
          <p:cNvSpPr/>
          <p:nvPr/>
        </p:nvSpPr>
        <p:spPr>
          <a:xfrm flipH="1">
            <a:off x="9700403" y="3429003"/>
            <a:ext cx="258872" cy="651273"/>
          </a:xfrm>
          <a:prstGeom prst="leftBrace">
            <a:avLst/>
          </a:prstGeom>
          <a:ln w="28575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Parentesi graffa aperta 12">
            <a:extLst>
              <a:ext uri="{FF2B5EF4-FFF2-40B4-BE49-F238E27FC236}">
                <a16:creationId xmlns:a16="http://schemas.microsoft.com/office/drawing/2014/main" id="{BE76FD0D-0AEB-4ABB-8B25-B409CA1DDA17}"/>
              </a:ext>
            </a:extLst>
          </p:cNvPr>
          <p:cNvSpPr/>
          <p:nvPr/>
        </p:nvSpPr>
        <p:spPr>
          <a:xfrm>
            <a:off x="7882346" y="3429015"/>
            <a:ext cx="310592" cy="898569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823875F-A0BF-4E8D-9BFB-5DEB1D27A3AF}"/>
              </a:ext>
            </a:extLst>
          </p:cNvPr>
          <p:cNvSpPr txBox="1"/>
          <p:nvPr/>
        </p:nvSpPr>
        <p:spPr>
          <a:xfrm>
            <a:off x="6573328" y="3693633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partizione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4523DB0-2742-4D54-B800-5B30E40E7D41}"/>
              </a:ext>
            </a:extLst>
          </p:cNvPr>
          <p:cNvSpPr txBox="1"/>
          <p:nvPr/>
        </p:nvSpPr>
        <p:spPr>
          <a:xfrm>
            <a:off x="9959275" y="3508967"/>
            <a:ext cx="1556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programma</a:t>
            </a:r>
          </a:p>
        </p:txBody>
      </p:sp>
    </p:spTree>
    <p:extLst>
      <p:ext uri="{BB962C8B-B14F-4D97-AF65-F5344CB8AC3E}">
        <p14:creationId xmlns:p14="http://schemas.microsoft.com/office/powerpoint/2010/main" val="34334246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E1F6A8-C710-491A-9CD5-797BFAFFA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FRAMMENTAZIONE ESTERNA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115492-5E7B-443E-AD01-3CDB071B4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123" y="2045312"/>
            <a:ext cx="8946541" cy="4195481"/>
          </a:xfrm>
        </p:spPr>
        <p:txBody>
          <a:bodyPr/>
          <a:lstStyle/>
          <a:p>
            <a:r>
              <a:rPr lang="it-IT" dirty="0"/>
              <a:t>Cos è?</a:t>
            </a:r>
          </a:p>
          <a:p>
            <a:r>
              <a:rPr lang="it-IT" dirty="0"/>
              <a:t>Lo spazio libero diviso in tanti piccoli pezzi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Anche se c’è memoria libera, non è utilizzabile</a:t>
            </a:r>
          </a:p>
          <a:p>
            <a:pPr marL="0" indent="0">
              <a:buNone/>
            </a:pPr>
            <a:endParaRPr lang="it-IT" dirty="0"/>
          </a:p>
          <a:p>
            <a:r>
              <a:rPr lang="it-IT" dirty="0"/>
              <a:t>Quando succede?</a:t>
            </a:r>
          </a:p>
          <a:p>
            <a:r>
              <a:rPr lang="it-IT" dirty="0"/>
              <a:t>Con partizionamento variabile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331FFE7-D5B0-4422-B8DC-BC2DF815EC05}"/>
              </a:ext>
            </a:extLst>
          </p:cNvPr>
          <p:cNvSpPr/>
          <p:nvPr/>
        </p:nvSpPr>
        <p:spPr>
          <a:xfrm>
            <a:off x="8233913" y="2967487"/>
            <a:ext cx="1475117" cy="3148641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06FE8DD8-82B1-4E64-BB00-D3B13C561BAA}"/>
              </a:ext>
            </a:extLst>
          </p:cNvPr>
          <p:cNvCxnSpPr>
            <a:cxnSpLocks/>
          </p:cNvCxnSpPr>
          <p:nvPr/>
        </p:nvCxnSpPr>
        <p:spPr>
          <a:xfrm>
            <a:off x="8233913" y="3778371"/>
            <a:ext cx="147080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0A9DE211-506F-43B6-BCB2-11A5C79D7EA1}"/>
              </a:ext>
            </a:extLst>
          </p:cNvPr>
          <p:cNvCxnSpPr>
            <a:cxnSpLocks/>
          </p:cNvCxnSpPr>
          <p:nvPr/>
        </p:nvCxnSpPr>
        <p:spPr>
          <a:xfrm>
            <a:off x="8233913" y="4379343"/>
            <a:ext cx="147080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44BFE0B-37FE-402A-AFFB-893D40716303}"/>
              </a:ext>
            </a:extLst>
          </p:cNvPr>
          <p:cNvCxnSpPr>
            <a:cxnSpLocks/>
          </p:cNvCxnSpPr>
          <p:nvPr/>
        </p:nvCxnSpPr>
        <p:spPr>
          <a:xfrm>
            <a:off x="8233913" y="5009072"/>
            <a:ext cx="147080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417E8EA8-A7E8-47B5-B966-DDAC67CFDC26}"/>
              </a:ext>
            </a:extLst>
          </p:cNvPr>
          <p:cNvCxnSpPr>
            <a:cxnSpLocks/>
          </p:cNvCxnSpPr>
          <p:nvPr/>
        </p:nvCxnSpPr>
        <p:spPr>
          <a:xfrm>
            <a:off x="8233913" y="5621546"/>
            <a:ext cx="1470804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ttangolo 14">
            <a:extLst>
              <a:ext uri="{FF2B5EF4-FFF2-40B4-BE49-F238E27FC236}">
                <a16:creationId xmlns:a16="http://schemas.microsoft.com/office/drawing/2014/main" id="{07A6DDC5-AFEA-4FFD-BC3E-936612F3BE4C}"/>
              </a:ext>
            </a:extLst>
          </p:cNvPr>
          <p:cNvSpPr/>
          <p:nvPr/>
        </p:nvSpPr>
        <p:spPr>
          <a:xfrm>
            <a:off x="8261949" y="2990495"/>
            <a:ext cx="1414732" cy="606720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1095DEBA-9791-450D-A916-A5247B903C85}"/>
              </a:ext>
            </a:extLst>
          </p:cNvPr>
          <p:cNvSpPr/>
          <p:nvPr/>
        </p:nvSpPr>
        <p:spPr>
          <a:xfrm>
            <a:off x="8261949" y="3784128"/>
            <a:ext cx="1414732" cy="442815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B8394F9E-C212-4AB4-8382-681F3EDD6364}"/>
              </a:ext>
            </a:extLst>
          </p:cNvPr>
          <p:cNvSpPr/>
          <p:nvPr/>
        </p:nvSpPr>
        <p:spPr>
          <a:xfrm>
            <a:off x="8261949" y="4402352"/>
            <a:ext cx="1414732" cy="425554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144ECD8-61E8-4D47-8000-7480186CFBC9}"/>
              </a:ext>
            </a:extLst>
          </p:cNvPr>
          <p:cNvSpPr/>
          <p:nvPr/>
        </p:nvSpPr>
        <p:spPr>
          <a:xfrm>
            <a:off x="8261949" y="5032080"/>
            <a:ext cx="1414732" cy="425554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494D46C7-1AB0-41DA-B963-71FE23E8366B}"/>
              </a:ext>
            </a:extLst>
          </p:cNvPr>
          <p:cNvSpPr/>
          <p:nvPr/>
        </p:nvSpPr>
        <p:spPr>
          <a:xfrm>
            <a:off x="8261949" y="5621572"/>
            <a:ext cx="1428750" cy="425554"/>
          </a:xfrm>
          <a:prstGeom prst="rect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0" name="Parentesi graffa chiusa 19">
            <a:extLst>
              <a:ext uri="{FF2B5EF4-FFF2-40B4-BE49-F238E27FC236}">
                <a16:creationId xmlns:a16="http://schemas.microsoft.com/office/drawing/2014/main" id="{B50E48E5-E529-41D1-A4B0-A5707D2639B0}"/>
              </a:ext>
            </a:extLst>
          </p:cNvPr>
          <p:cNvSpPr/>
          <p:nvPr/>
        </p:nvSpPr>
        <p:spPr>
          <a:xfrm>
            <a:off x="9799608" y="2967487"/>
            <a:ext cx="181154" cy="629728"/>
          </a:xfrm>
          <a:prstGeom prst="rightBrace">
            <a:avLst/>
          </a:prstGeom>
          <a:ln w="28575">
            <a:solidFill>
              <a:srgbClr val="FFFF0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" name="Parentesi graffa aperta 20">
            <a:extLst>
              <a:ext uri="{FF2B5EF4-FFF2-40B4-BE49-F238E27FC236}">
                <a16:creationId xmlns:a16="http://schemas.microsoft.com/office/drawing/2014/main" id="{ACD8A3F5-9DD6-4247-9D5C-B0D4B74EA18B}"/>
              </a:ext>
            </a:extLst>
          </p:cNvPr>
          <p:cNvSpPr/>
          <p:nvPr/>
        </p:nvSpPr>
        <p:spPr>
          <a:xfrm>
            <a:off x="8088990" y="3597215"/>
            <a:ext cx="45719" cy="181156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5740EA4D-A3B9-4146-9F16-D8D8D04C7500}"/>
              </a:ext>
            </a:extLst>
          </p:cNvPr>
          <p:cNvSpPr txBox="1"/>
          <p:nvPr/>
        </p:nvSpPr>
        <p:spPr>
          <a:xfrm>
            <a:off x="6993986" y="3528204"/>
            <a:ext cx="1175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Spazio</a:t>
            </a:r>
            <a:r>
              <a:rPr lang="it-IT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it-IT" sz="12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vuoto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B6A15A0D-1EB0-41EF-B59F-F520B49259F8}"/>
              </a:ext>
            </a:extLst>
          </p:cNvPr>
          <p:cNvSpPr txBox="1"/>
          <p:nvPr/>
        </p:nvSpPr>
        <p:spPr>
          <a:xfrm>
            <a:off x="10021818" y="3097685"/>
            <a:ext cx="1556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programma</a:t>
            </a:r>
          </a:p>
        </p:txBody>
      </p:sp>
    </p:spTree>
    <p:extLst>
      <p:ext uri="{BB962C8B-B14F-4D97-AF65-F5344CB8AC3E}">
        <p14:creationId xmlns:p14="http://schemas.microsoft.com/office/powerpoint/2010/main" val="19213880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 dir="vert"/>
      </p:transition>
    </mc:Choice>
    <mc:Fallback>
      <p:transition spd="slow">
        <p:checker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2AFC6B-E1BF-4DAF-9037-C86111D68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PARTIZIONE VARIABILE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408516-381D-4EA0-8A50-EF822DA43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Cos è?</a:t>
            </a:r>
          </a:p>
          <a:p>
            <a:r>
              <a:rPr lang="it-IT" dirty="0"/>
              <a:t>È una tecnica dove:</a:t>
            </a:r>
          </a:p>
          <a:p>
            <a:r>
              <a:rPr lang="it-IT" dirty="0"/>
              <a:t>La memoria viene divisa:</a:t>
            </a:r>
          </a:p>
          <a:p>
            <a:r>
              <a:rPr lang="it-IT" dirty="0"/>
              <a:t>In partizioni di dimensione diversa</a:t>
            </a:r>
          </a:p>
          <a:p>
            <a:r>
              <a:rPr lang="it-IT" dirty="0"/>
              <a:t>Solo nel momento del bisogno</a:t>
            </a:r>
          </a:p>
        </p:txBody>
      </p:sp>
    </p:spTree>
    <p:extLst>
      <p:ext uri="{BB962C8B-B14F-4D97-AF65-F5344CB8AC3E}">
        <p14:creationId xmlns:p14="http://schemas.microsoft.com/office/powerpoint/2010/main" val="39257233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E1F9ED-1FB6-42E7-A0DD-6810A266E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ALGORITMI DI ALLOCAZIONE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0B0101-AB11-4342-BE50-69AAE7987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Cosa sono?</a:t>
            </a:r>
          </a:p>
          <a:p>
            <a:r>
              <a:rPr lang="it-IT" dirty="0"/>
              <a:t>Sono regole usate dal sistema operativo per decidere:</a:t>
            </a:r>
          </a:p>
          <a:p>
            <a:r>
              <a:rPr lang="it-IT" dirty="0"/>
              <a:t>Dove mettere un processo</a:t>
            </a:r>
          </a:p>
          <a:p>
            <a:r>
              <a:rPr lang="it-IT" dirty="0"/>
              <a:t>Servono per gestire in modo efficiente la memoria</a:t>
            </a:r>
          </a:p>
        </p:txBody>
      </p:sp>
    </p:spTree>
    <p:extLst>
      <p:ext uri="{BB962C8B-B14F-4D97-AF65-F5344CB8AC3E}">
        <p14:creationId xmlns:p14="http://schemas.microsoft.com/office/powerpoint/2010/main" val="33328698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89E572-8005-4E8B-8F82-BEC82C3C0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 principali algoritmi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3CE765-90F5-4E30-8CD4-B0B34CDD1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Il sistema operativo sceglie:</a:t>
            </a:r>
          </a:p>
          <a:p>
            <a:endParaRPr lang="it-IT" dirty="0"/>
          </a:p>
          <a:p>
            <a:r>
              <a:rPr lang="it-IT" dirty="0"/>
              <a:t>First </a:t>
            </a:r>
            <a:r>
              <a:rPr lang="it-IT" dirty="0" err="1"/>
              <a:t>fit</a:t>
            </a:r>
            <a:r>
              <a:rPr lang="it-IT" dirty="0"/>
              <a:t>:</a:t>
            </a:r>
          </a:p>
          <a:p>
            <a:pPr marL="0" indent="0">
              <a:buNone/>
            </a:pPr>
            <a:r>
              <a:rPr lang="it-IT" dirty="0"/>
              <a:t>     Primo spazio libero abbastanza grande</a:t>
            </a:r>
          </a:p>
          <a:p>
            <a:r>
              <a:rPr lang="it-IT" dirty="0"/>
              <a:t>Next </a:t>
            </a:r>
            <a:r>
              <a:rPr lang="it-IT" dirty="0" err="1"/>
              <a:t>fit</a:t>
            </a:r>
            <a:r>
              <a:rPr lang="it-IT" dirty="0"/>
              <a:t>:</a:t>
            </a:r>
          </a:p>
          <a:p>
            <a:pPr marL="0" indent="0">
              <a:buNone/>
            </a:pPr>
            <a:r>
              <a:rPr lang="it-IT" dirty="0"/>
              <a:t>     prima  zona libera a partire dall’ ultimo buco utilizzato</a:t>
            </a:r>
          </a:p>
          <a:p>
            <a:r>
              <a:rPr lang="it-IT" dirty="0"/>
              <a:t>Best </a:t>
            </a:r>
            <a:r>
              <a:rPr lang="it-IT" dirty="0" err="1"/>
              <a:t>fit</a:t>
            </a:r>
            <a:r>
              <a:rPr lang="it-IT" dirty="0"/>
              <a:t>:</a:t>
            </a:r>
          </a:p>
          <a:p>
            <a:pPr marL="0" indent="0">
              <a:buNone/>
            </a:pPr>
            <a:r>
              <a:rPr lang="it-IT" dirty="0"/>
              <a:t>     spazio più piccolo che basti</a:t>
            </a:r>
          </a:p>
          <a:p>
            <a:r>
              <a:rPr lang="it-IT" dirty="0" err="1"/>
              <a:t>Worst</a:t>
            </a:r>
            <a:r>
              <a:rPr lang="it-IT" dirty="0"/>
              <a:t> </a:t>
            </a:r>
            <a:r>
              <a:rPr lang="it-IT" dirty="0" err="1"/>
              <a:t>fit</a:t>
            </a:r>
            <a:r>
              <a:rPr lang="it-IT" dirty="0"/>
              <a:t>:</a:t>
            </a:r>
          </a:p>
          <a:p>
            <a:r>
              <a:rPr lang="it-IT" dirty="0"/>
              <a:t>Spazio più grande disponibile</a:t>
            </a:r>
          </a:p>
        </p:txBody>
      </p:sp>
      <p:pic>
        <p:nvPicPr>
          <p:cNvPr id="5" name="Elemento grafico 4" descr="Progettazione Web">
            <a:extLst>
              <a:ext uri="{FF2B5EF4-FFF2-40B4-BE49-F238E27FC236}">
                <a16:creationId xmlns:a16="http://schemas.microsoft.com/office/drawing/2014/main" id="{EF8ED384-2610-41AA-B6B1-11CB2D85F3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35453" y="31486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3718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F7223127-8043-48F5-944E-9AED2C64D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Grazie per l’attenzione</a:t>
            </a:r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47CA8242-85F8-4B7A-8A0A-6DDC268B4C2A}"/>
              </a:ext>
            </a:extLst>
          </p:cNvPr>
          <p:cNvSpPr>
            <a:spLocks noGrp="1"/>
          </p:cNvSpPr>
          <p:nvPr>
            <p:ph type="body" sz="half" idx="14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320D9BF4-054E-4C6F-BFFD-88EFAD333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it-IT" dirty="0"/>
              <a:t>Pietro Barone 3°I</a:t>
            </a:r>
          </a:p>
        </p:txBody>
      </p:sp>
    </p:spTree>
    <p:extLst>
      <p:ext uri="{BB962C8B-B14F-4D97-AF65-F5344CB8AC3E}">
        <p14:creationId xmlns:p14="http://schemas.microsoft.com/office/powerpoint/2010/main" val="165924108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TM02836342[[fn=Ione]]</Template>
  <TotalTime>531</TotalTime>
  <Words>607</Words>
  <Application>Microsoft Office PowerPoint</Application>
  <PresentationFormat>Widescreen</PresentationFormat>
  <Paragraphs>204</Paragraphs>
  <Slides>20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6" baseType="lpstr">
      <vt:lpstr>Arial</vt:lpstr>
      <vt:lpstr>Arial Black</vt:lpstr>
      <vt:lpstr>Arial Rounded MT Bold</vt:lpstr>
      <vt:lpstr>Century Gothic</vt:lpstr>
      <vt:lpstr>Wingdings 3</vt:lpstr>
      <vt:lpstr>Ione</vt:lpstr>
      <vt:lpstr>GESTIONE DELLA MEMORIA</vt:lpstr>
      <vt:lpstr>INDICE</vt:lpstr>
      <vt:lpstr>Diversi tipi di memoria</vt:lpstr>
      <vt:lpstr>Caricamento del programma</vt:lpstr>
      <vt:lpstr>Caricamento del programma</vt:lpstr>
      <vt:lpstr>Indirizzi logici/fisici</vt:lpstr>
      <vt:lpstr>RILOCAZIONE STATICA/DINAMICA</vt:lpstr>
      <vt:lpstr>Rilocazione statica</vt:lpstr>
      <vt:lpstr>Rilocazione dinamica</vt:lpstr>
      <vt:lpstr>mmu</vt:lpstr>
      <vt:lpstr>Binding e linking</vt:lpstr>
      <vt:lpstr>partizionamento</vt:lpstr>
      <vt:lpstr>PARTIZIONE FISSA</vt:lpstr>
      <vt:lpstr>PROBLEMI</vt:lpstr>
      <vt:lpstr>FRAMMENTAZIONE INTERNA</vt:lpstr>
      <vt:lpstr>FRAMMENTAZIONE ESTERNA</vt:lpstr>
      <vt:lpstr>PARTIZIONE VARIABILE</vt:lpstr>
      <vt:lpstr>ALGORITMI DI ALLOCAZIONE</vt:lpstr>
      <vt:lpstr>I principali algoritmi </vt:lpstr>
      <vt:lpstr>Grazie per l’attenzione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GESTIONE DELLA MEMORIA</dc:title>
  <dc:creator>pietro barone</dc:creator>
  <cp:lastModifiedBy>pietro barone</cp:lastModifiedBy>
  <cp:revision>43</cp:revision>
  <dcterms:created xsi:type="dcterms:W3CDTF">2026-02-18T17:04:42Z</dcterms:created>
  <dcterms:modified xsi:type="dcterms:W3CDTF">2026-03-19T00:44:22Z</dcterms:modified>
</cp:coreProperties>
</file>