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D376-706C-4750-A206-47FBF02B259E}" type="datetimeFigureOut">
              <a:rPr lang="it-IT" smtClean="0"/>
              <a:t>08/03/2026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C200-B65C-4651-AAC1-4A979A686B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2269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D376-706C-4750-A206-47FBF02B259E}" type="datetimeFigureOut">
              <a:rPr lang="it-IT" smtClean="0"/>
              <a:t>08/03/2026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C200-B65C-4651-AAC1-4A979A686B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2158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D376-706C-4750-A206-47FBF02B259E}" type="datetimeFigureOut">
              <a:rPr lang="it-IT" smtClean="0"/>
              <a:t>08/03/2026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C200-B65C-4651-AAC1-4A979A686B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7769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D376-706C-4750-A206-47FBF02B259E}" type="datetimeFigureOut">
              <a:rPr lang="it-IT" smtClean="0"/>
              <a:t>08/03/2026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C200-B65C-4651-AAC1-4A979A686B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18740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D376-706C-4750-A206-47FBF02B259E}" type="datetimeFigureOut">
              <a:rPr lang="it-IT" smtClean="0"/>
              <a:t>08/03/2026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C200-B65C-4651-AAC1-4A979A686B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14253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D376-706C-4750-A206-47FBF02B259E}" type="datetimeFigureOut">
              <a:rPr lang="it-IT" smtClean="0"/>
              <a:t>08/03/2026</a:t>
            </a:fld>
            <a:endParaRPr lang="it-IT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C200-B65C-4651-AAC1-4A979A686B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4784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D376-706C-4750-A206-47FBF02B259E}" type="datetimeFigureOut">
              <a:rPr lang="it-IT" smtClean="0"/>
              <a:t>08/03/2026</a:t>
            </a:fld>
            <a:endParaRPr lang="it-IT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C200-B65C-4651-AAC1-4A979A686B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3700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D376-706C-4750-A206-47FBF02B259E}" type="datetimeFigureOut">
              <a:rPr lang="it-IT" smtClean="0"/>
              <a:t>08/03/2026</a:t>
            </a:fld>
            <a:endParaRPr lang="it-IT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C200-B65C-4651-AAC1-4A979A686B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83263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D376-706C-4750-A206-47FBF02B259E}" type="datetimeFigureOut">
              <a:rPr lang="it-IT" smtClean="0"/>
              <a:t>08/03/2026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C200-B65C-4651-AAC1-4A979A686B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174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D376-706C-4750-A206-47FBF02B259E}" type="datetimeFigureOut">
              <a:rPr lang="it-IT" smtClean="0"/>
              <a:t>08/03/2026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C200-B65C-4651-AAC1-4A979A686B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3207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D376-706C-4750-A206-47FBF02B259E}" type="datetimeFigureOut">
              <a:rPr lang="it-IT" smtClean="0"/>
              <a:t>08/03/2026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C200-B65C-4651-AAC1-4A979A686B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69847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D376-706C-4750-A206-47FBF02B259E}" type="datetimeFigureOut">
              <a:rPr lang="it-IT" smtClean="0"/>
              <a:t>08/03/2026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C200-B65C-4651-AAC1-4A979A686B3C}" type="slidenum">
              <a:rPr lang="it-IT" smtClean="0"/>
              <a:t>‹N›</a:t>
            </a:fld>
            <a:endParaRPr lang="it-IT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03354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D376-706C-4750-A206-47FBF02B259E}" type="datetimeFigureOut">
              <a:rPr lang="it-IT" smtClean="0"/>
              <a:t>08/03/2026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C200-B65C-4651-AAC1-4A979A686B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95210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D376-706C-4750-A206-47FBF02B259E}" type="datetimeFigureOut">
              <a:rPr lang="it-IT" smtClean="0"/>
              <a:t>08/03/2026</a:t>
            </a:fld>
            <a:endParaRPr lang="it-I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C200-B65C-4651-AAC1-4A979A686B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3230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D376-706C-4750-A206-47FBF02B259E}" type="datetimeFigureOut">
              <a:rPr lang="it-IT" smtClean="0"/>
              <a:t>08/03/2026</a:t>
            </a:fld>
            <a:endParaRPr lang="it-I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C200-B65C-4651-AAC1-4A979A686B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5743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D376-706C-4750-A206-47FBF02B259E}" type="datetimeFigureOut">
              <a:rPr lang="it-IT" smtClean="0"/>
              <a:t>08/03/2026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C200-B65C-4651-AAC1-4A979A686B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84119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D376-706C-4750-A206-47FBF02B259E}" type="datetimeFigureOut">
              <a:rPr lang="it-IT" smtClean="0"/>
              <a:t>08/03/2026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C200-B65C-4651-AAC1-4A979A686B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7248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8BAD376-706C-4750-A206-47FBF02B259E}" type="datetimeFigureOut">
              <a:rPr lang="it-IT" smtClean="0"/>
              <a:t>08/03/2026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8C200-B65C-4651-AAC1-4A979A686B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09423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microsoft.com/office/2007/relationships/hdphoto" Target="../media/hdphoto1.wdp"/><Relationship Id="rId7" Type="http://schemas.openxmlformats.org/officeDocument/2006/relationships/hyperlink" Target="https://commons.wikimedia.org/wiki/File:Hard_Drive_(11644419853).jpg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hyperlink" Target="https://www.techyv.com/article/cache-memory-types-and-importance/" TargetMode="External"/><Relationship Id="rId5" Type="http://schemas.openxmlformats.org/officeDocument/2006/relationships/image" Target="../media/image7.png"/><Relationship Id="rId10" Type="http://schemas.openxmlformats.org/officeDocument/2006/relationships/image" Target="../media/image9.jpg"/><Relationship Id="rId4" Type="http://schemas.openxmlformats.org/officeDocument/2006/relationships/hyperlink" Target="https://it.dreamstime.com/fotografia-stock-tecnologia-di-archiviazione-di-dati-del-nastro-magnetico-lto-image63315127" TargetMode="External"/><Relationship Id="rId9" Type="http://schemas.openxmlformats.org/officeDocument/2006/relationships/hyperlink" Target="https://www.publicdomainpictures.net/view-image.php?image=18285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kist.com/free-photo-iosaa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9286FA-EE70-4E6C-B4C2-92DC0DE33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832" y="1261536"/>
            <a:ext cx="7197726" cy="2421464"/>
          </a:xfrm>
        </p:spPr>
        <p:txBody>
          <a:bodyPr/>
          <a:lstStyle/>
          <a:p>
            <a:pPr algn="l"/>
            <a:r>
              <a:rPr lang="it-IT" dirty="0">
                <a:latin typeface="Arial Black" panose="020B0A04020102020204" pitchFamily="34" charset="0"/>
              </a:rPr>
              <a:t>GESTIONE</a:t>
            </a:r>
            <a:br>
              <a:rPr lang="it-IT" dirty="0">
                <a:latin typeface="Arial Black" panose="020B0A04020102020204" pitchFamily="34" charset="0"/>
              </a:rPr>
            </a:br>
            <a:r>
              <a:rPr lang="it-IT" dirty="0">
                <a:latin typeface="Arial Black" panose="020B0A04020102020204" pitchFamily="34" charset="0"/>
              </a:rPr>
              <a:t>DELLA MEMORIA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B66F7A3-484D-4D49-9E02-D8036DFA1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27133" y="5596464"/>
            <a:ext cx="7197726" cy="1405467"/>
          </a:xfrm>
        </p:spPr>
        <p:txBody>
          <a:bodyPr/>
          <a:lstStyle/>
          <a:p>
            <a:r>
              <a:rPr lang="it-IT" dirty="0"/>
              <a:t>Pietro barone</a:t>
            </a:r>
          </a:p>
        </p:txBody>
      </p:sp>
    </p:spTree>
    <p:extLst>
      <p:ext uri="{BB962C8B-B14F-4D97-AF65-F5344CB8AC3E}">
        <p14:creationId xmlns:p14="http://schemas.microsoft.com/office/powerpoint/2010/main" val="2410256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B63D7A-54D7-4E5C-9AE7-E7F0A81EE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INDICE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544EC8-8DC9-4FE4-8FF8-ED0CECE57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VARI TIPI DI MEMORIA</a:t>
            </a:r>
          </a:p>
          <a:p>
            <a:r>
              <a:rPr lang="it-IT" dirty="0"/>
              <a:t>CARICAMENTO DEL PROGRAMMA</a:t>
            </a:r>
          </a:p>
          <a:p>
            <a:r>
              <a:rPr lang="it-IT" dirty="0"/>
              <a:t>INDIRIZZI</a:t>
            </a:r>
          </a:p>
          <a:p>
            <a:r>
              <a:rPr lang="it-IT" dirty="0"/>
              <a:t>RILOCAZIONE STATICA</a:t>
            </a:r>
          </a:p>
          <a:p>
            <a:r>
              <a:rPr lang="it-IT" dirty="0"/>
              <a:t>RILOCAZIONE DINAMICA</a:t>
            </a:r>
          </a:p>
          <a:p>
            <a:r>
              <a:rPr lang="it-IT" dirty="0"/>
              <a:t>BINDING E LINKING </a:t>
            </a:r>
          </a:p>
        </p:txBody>
      </p:sp>
    </p:spTree>
    <p:extLst>
      <p:ext uri="{BB962C8B-B14F-4D97-AF65-F5344CB8AC3E}">
        <p14:creationId xmlns:p14="http://schemas.microsoft.com/office/powerpoint/2010/main" val="299354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0607FB-1E78-45DA-9D95-99C57FB93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Diversi tipi di memoria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38AE88C-42E2-487C-A83A-B7B662238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 hanno diversi tempi di accesso e capacità</a:t>
            </a:r>
          </a:p>
          <a:p>
            <a:r>
              <a:rPr lang="it-IT" dirty="0"/>
              <a:t>Nastro</a:t>
            </a:r>
          </a:p>
          <a:p>
            <a:r>
              <a:rPr lang="it-IT" dirty="0"/>
              <a:t>Disco rigido</a:t>
            </a:r>
          </a:p>
          <a:p>
            <a:r>
              <a:rPr lang="it-IT" dirty="0" err="1"/>
              <a:t>ssd</a:t>
            </a:r>
            <a:endParaRPr lang="it-IT" dirty="0"/>
          </a:p>
          <a:p>
            <a:r>
              <a:rPr lang="it-IT" dirty="0"/>
              <a:t>Memoria principale</a:t>
            </a:r>
          </a:p>
          <a:p>
            <a:r>
              <a:rPr lang="it-IT" dirty="0"/>
              <a:t>Cache </a:t>
            </a:r>
          </a:p>
          <a:p>
            <a:r>
              <a:rPr lang="it-IT" dirty="0"/>
              <a:t>registri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033F6E6-64EF-46D9-98D0-9ECB9E30A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867164" y="1541190"/>
            <a:ext cx="2600588" cy="173589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A3AB5B36-83A1-4847-9775-6656827810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367244" y="3372133"/>
            <a:ext cx="2441197" cy="18308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8CDE8F68-8FB5-4BA6-A364-E4975B0319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9012713" y="3722055"/>
            <a:ext cx="2309489" cy="16796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4ECE4295-C55A-443C-A8A4-80706464861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5972882" y="5368059"/>
            <a:ext cx="2206226" cy="12410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58745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5D00EA56-422F-46C9-A366-3483B50C4050}"/>
              </a:ext>
            </a:extLst>
          </p:cNvPr>
          <p:cNvSpPr/>
          <p:nvPr/>
        </p:nvSpPr>
        <p:spPr>
          <a:xfrm>
            <a:off x="7231310" y="2197629"/>
            <a:ext cx="2407640" cy="1140903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A455C8A5-9243-4D51-81D1-E8D407D14F76}"/>
              </a:ext>
            </a:extLst>
          </p:cNvPr>
          <p:cNvSpPr/>
          <p:nvPr/>
        </p:nvSpPr>
        <p:spPr>
          <a:xfrm>
            <a:off x="1786855" y="2251006"/>
            <a:ext cx="2281806" cy="114090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F1C8687-739B-4D9F-A185-737F126E024E}"/>
              </a:ext>
            </a:extLst>
          </p:cNvPr>
          <p:cNvSpPr txBox="1"/>
          <p:nvPr/>
        </p:nvSpPr>
        <p:spPr>
          <a:xfrm>
            <a:off x="2278583" y="4036542"/>
            <a:ext cx="1577130" cy="369332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programma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9F11B6-8131-474E-BDBE-29832ECB7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Caricamento del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6678061-4627-4A29-805C-18E3112502A2}"/>
              </a:ext>
            </a:extLst>
          </p:cNvPr>
          <p:cNvSpPr txBox="1"/>
          <p:nvPr/>
        </p:nvSpPr>
        <p:spPr>
          <a:xfrm>
            <a:off x="5209562" y="2583414"/>
            <a:ext cx="973123" cy="369332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loader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6FC76F8-65C2-4520-B1BD-F84903D18DED}"/>
              </a:ext>
            </a:extLst>
          </p:cNvPr>
          <p:cNvSpPr txBox="1"/>
          <p:nvPr/>
        </p:nvSpPr>
        <p:spPr>
          <a:xfrm>
            <a:off x="1954635" y="1828297"/>
            <a:ext cx="205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Coda di entrata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39EDBD7-15BF-4807-994B-86724799EB2A}"/>
              </a:ext>
            </a:extLst>
          </p:cNvPr>
          <p:cNvSpPr txBox="1"/>
          <p:nvPr/>
        </p:nvSpPr>
        <p:spPr>
          <a:xfrm>
            <a:off x="7231310" y="1803346"/>
            <a:ext cx="2466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Lista processi pronti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97C91CD0-649F-42FA-B3FA-909C0FF37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142412" y="5571728"/>
            <a:ext cx="1713301" cy="11409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0499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29 0.25787 L -2.5E-6 -0.2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" y="-25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0.25 L 0.22188 -0.2118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94" y="1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188 -0.21181 L 0.44414 -0.2180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107" y="-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04FF00-EAEE-46E9-8B1F-9A9ED3E99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Caricamento del programma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8EFB183-BB45-4971-8B17-CE10A2ABB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Durante il caricamento il compilatore genera</a:t>
            </a:r>
          </a:p>
          <a:p>
            <a:r>
              <a:rPr lang="it-IT" dirty="0"/>
              <a:t>Collegamenti tra:</a:t>
            </a:r>
          </a:p>
          <a:p>
            <a:r>
              <a:rPr lang="it-IT" dirty="0"/>
              <a:t>Istruzioni</a:t>
            </a:r>
          </a:p>
          <a:p>
            <a:r>
              <a:rPr lang="it-IT" dirty="0"/>
              <a:t>Indirizzi</a:t>
            </a:r>
          </a:p>
          <a:p>
            <a:r>
              <a:rPr lang="it-IT" dirty="0"/>
              <a:t>Senza sapere dove saranno caricati in memoria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22312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6FA355-50A3-40C8-9A17-4F8A2D3B9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Indirizzi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EDD1FD-B7B9-46FE-92D0-44CD5DCC9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Vengono generati degli</a:t>
            </a:r>
          </a:p>
          <a:p>
            <a:r>
              <a:rPr lang="it-IT" dirty="0"/>
              <a:t>Indirizzi relativi(indirizzi logici)</a:t>
            </a:r>
          </a:p>
          <a:p>
            <a:r>
              <a:rPr lang="it-IT" dirty="0"/>
              <a:t>Verranno trasformati al caricamento </a:t>
            </a:r>
          </a:p>
          <a:p>
            <a:r>
              <a:rPr lang="it-IT" dirty="0"/>
              <a:t>Indirizzi assoluti(fisici)</a:t>
            </a:r>
          </a:p>
        </p:txBody>
      </p:sp>
    </p:spTree>
    <p:extLst>
      <p:ext uri="{BB962C8B-B14F-4D97-AF65-F5344CB8AC3E}">
        <p14:creationId xmlns:p14="http://schemas.microsoft.com/office/powerpoint/2010/main" val="3060817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1DCEB2-6BDF-41DD-BC25-341336DB2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Rilocazione statica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BDAD412-F639-4CBE-95BA-835D77F6F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Ogni </a:t>
            </a:r>
            <a:r>
              <a:rPr lang="it-IT" dirty="0" err="1"/>
              <a:t>programa</a:t>
            </a:r>
            <a:r>
              <a:rPr lang="it-IT" dirty="0"/>
              <a:t> ha un proprio indirizzo logico</a:t>
            </a:r>
          </a:p>
          <a:p>
            <a:r>
              <a:rPr lang="it-IT" dirty="0"/>
              <a:t>Il compilatore sistema gli indirizzi</a:t>
            </a:r>
          </a:p>
          <a:p>
            <a:endParaRPr lang="it-IT" dirty="0"/>
          </a:p>
          <a:p>
            <a:pPr marL="0" indent="0">
              <a:buNone/>
            </a:pPr>
            <a:r>
              <a:rPr lang="it-IT" dirty="0"/>
              <a:t>     indirizzi logici                                                 indirizzi fisici</a:t>
            </a:r>
          </a:p>
          <a:p>
            <a:pPr marL="0" indent="0">
              <a:buNone/>
            </a:pPr>
            <a:r>
              <a:rPr lang="it-IT" dirty="0"/>
              <a:t>     0   a=2</a:t>
            </a:r>
          </a:p>
          <a:p>
            <a:pPr marL="0" indent="0">
              <a:buNone/>
            </a:pPr>
            <a:r>
              <a:rPr lang="it-IT" dirty="0"/>
              <a:t>     1   b=6</a:t>
            </a:r>
          </a:p>
          <a:p>
            <a:pPr marL="0" indent="0">
              <a:buNone/>
            </a:pPr>
            <a:r>
              <a:rPr lang="it-IT" dirty="0"/>
              <a:t>     2   somma </a:t>
            </a:r>
          </a:p>
          <a:p>
            <a:pPr marL="0" indent="0">
              <a:buNone/>
            </a:pPr>
            <a:r>
              <a:rPr lang="it-IT" dirty="0"/>
              <a:t>     3   </a:t>
            </a:r>
            <a:r>
              <a:rPr lang="it-IT" dirty="0" err="1"/>
              <a:t>moltipl</a:t>
            </a:r>
            <a:endParaRPr lang="it-IT" dirty="0"/>
          </a:p>
          <a:p>
            <a:endParaRPr lang="it-IT" dirty="0"/>
          </a:p>
          <a:p>
            <a:pPr marL="0" indent="0">
              <a:buNone/>
            </a:pPr>
            <a:r>
              <a:rPr lang="it-IT" dirty="0"/>
              <a:t>   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E95636B-8ABC-4C5A-9E45-54D09B3443BE}"/>
              </a:ext>
            </a:extLst>
          </p:cNvPr>
          <p:cNvSpPr txBox="1"/>
          <p:nvPr/>
        </p:nvSpPr>
        <p:spPr>
          <a:xfrm>
            <a:off x="6392411" y="3573710"/>
            <a:ext cx="21140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#100  a=2</a:t>
            </a:r>
          </a:p>
          <a:p>
            <a:r>
              <a:rPr lang="it-IT" dirty="0"/>
              <a:t>#101  b=6</a:t>
            </a:r>
          </a:p>
          <a:p>
            <a:r>
              <a:rPr lang="it-IT" dirty="0"/>
              <a:t>#102  somma</a:t>
            </a:r>
          </a:p>
          <a:p>
            <a:r>
              <a:rPr lang="it-IT" dirty="0"/>
              <a:t>#103  </a:t>
            </a:r>
            <a:r>
              <a:rPr lang="it-IT" dirty="0" err="1"/>
              <a:t>moltipl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31934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77E4D9-85E0-4613-ABA3-67F4D6C3B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Rilocazione dinamica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D20A150-6455-4237-94BC-CD75CB068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Il programma viene caricato in una zona libera</a:t>
            </a:r>
          </a:p>
          <a:p>
            <a:endParaRPr lang="it-IT" dirty="0"/>
          </a:p>
          <a:p>
            <a:pPr marL="0" indent="0">
              <a:buNone/>
            </a:pPr>
            <a:r>
              <a:rPr lang="it-IT" dirty="0"/>
              <a:t>indirizzi logici                                                 memoria fisica</a:t>
            </a:r>
          </a:p>
          <a:p>
            <a:pPr marL="0" indent="0">
              <a:buNone/>
            </a:pPr>
            <a:r>
              <a:rPr lang="it-IT" dirty="0"/>
              <a:t>     0   a=2</a:t>
            </a:r>
          </a:p>
          <a:p>
            <a:pPr marL="0" indent="0">
              <a:buNone/>
            </a:pPr>
            <a:r>
              <a:rPr lang="it-IT" dirty="0"/>
              <a:t>     1   b=6</a:t>
            </a:r>
          </a:p>
          <a:p>
            <a:pPr marL="0" indent="0">
              <a:buNone/>
            </a:pPr>
            <a:r>
              <a:rPr lang="it-IT" dirty="0"/>
              <a:t>     2   somma </a:t>
            </a:r>
          </a:p>
          <a:p>
            <a:pPr marL="0" indent="0">
              <a:buNone/>
            </a:pPr>
            <a:r>
              <a:rPr lang="it-IT" dirty="0"/>
              <a:t>     3   </a:t>
            </a:r>
            <a:r>
              <a:rPr lang="it-IT" dirty="0" err="1"/>
              <a:t>moltipl</a:t>
            </a:r>
            <a:endParaRPr lang="it-IT" dirty="0"/>
          </a:p>
          <a:p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EFF2159-27E0-4E4D-B75F-4D68950A0294}"/>
              </a:ext>
            </a:extLst>
          </p:cNvPr>
          <p:cNvSpPr txBox="1"/>
          <p:nvPr/>
        </p:nvSpPr>
        <p:spPr>
          <a:xfrm>
            <a:off x="6096000" y="3315317"/>
            <a:ext cx="210843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#234 //////</a:t>
            </a:r>
          </a:p>
          <a:p>
            <a:r>
              <a:rPr lang="it-IT" dirty="0"/>
              <a:t>#235 /////</a:t>
            </a:r>
          </a:p>
          <a:p>
            <a:r>
              <a:rPr lang="it-IT" dirty="0"/>
              <a:t>#236  a=2</a:t>
            </a:r>
          </a:p>
          <a:p>
            <a:r>
              <a:rPr lang="it-IT" dirty="0"/>
              <a:t>#237  b=6</a:t>
            </a:r>
          </a:p>
          <a:p>
            <a:r>
              <a:rPr lang="it-IT" dirty="0"/>
              <a:t>#238  somma</a:t>
            </a:r>
          </a:p>
          <a:p>
            <a:r>
              <a:rPr lang="it-IT" dirty="0"/>
              <a:t>#239  </a:t>
            </a:r>
            <a:r>
              <a:rPr lang="it-IT" dirty="0" err="1"/>
              <a:t>moltipl</a:t>
            </a:r>
            <a:endParaRPr lang="it-IT" dirty="0"/>
          </a:p>
          <a:p>
            <a:r>
              <a:rPr lang="it-IT" dirty="0"/>
              <a:t>#240 //////</a:t>
            </a: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CD3E966A-240A-4FB5-85E3-D5DD356E8C5A}"/>
              </a:ext>
            </a:extLst>
          </p:cNvPr>
          <p:cNvCxnSpPr/>
          <p:nvPr/>
        </p:nvCxnSpPr>
        <p:spPr>
          <a:xfrm flipH="1">
            <a:off x="7600426" y="3187817"/>
            <a:ext cx="1853967" cy="343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73420289-1B29-46DA-B657-CCB3AB557EA1}"/>
              </a:ext>
            </a:extLst>
          </p:cNvPr>
          <p:cNvCxnSpPr>
            <a:cxnSpLocks/>
          </p:cNvCxnSpPr>
          <p:nvPr/>
        </p:nvCxnSpPr>
        <p:spPr>
          <a:xfrm flipH="1">
            <a:off x="7667538" y="3187817"/>
            <a:ext cx="1786855" cy="543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Parentesi quadra chiusa 13">
            <a:extLst>
              <a:ext uri="{FF2B5EF4-FFF2-40B4-BE49-F238E27FC236}">
                <a16:creationId xmlns:a16="http://schemas.microsoft.com/office/drawing/2014/main" id="{C20E6EE8-19DF-409D-B67B-F4AFEDA8B61B}"/>
              </a:ext>
            </a:extLst>
          </p:cNvPr>
          <p:cNvSpPr/>
          <p:nvPr/>
        </p:nvSpPr>
        <p:spPr>
          <a:xfrm flipH="1">
            <a:off x="6096000" y="3917659"/>
            <a:ext cx="396000" cy="1080000"/>
          </a:xfrm>
          <a:prstGeom prst="righ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Parentesi quadra chiusa 14">
            <a:extLst>
              <a:ext uri="{FF2B5EF4-FFF2-40B4-BE49-F238E27FC236}">
                <a16:creationId xmlns:a16="http://schemas.microsoft.com/office/drawing/2014/main" id="{DC413908-5052-4CEF-B7E7-960422E09F7F}"/>
              </a:ext>
            </a:extLst>
          </p:cNvPr>
          <p:cNvSpPr/>
          <p:nvPr/>
        </p:nvSpPr>
        <p:spPr>
          <a:xfrm>
            <a:off x="7005984" y="3934437"/>
            <a:ext cx="604008" cy="241388"/>
          </a:xfrm>
          <a:prstGeom prst="righ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A8F24EC-C05A-4D04-8986-95178A4E07E1}"/>
              </a:ext>
            </a:extLst>
          </p:cNvPr>
          <p:cNvSpPr txBox="1"/>
          <p:nvPr/>
        </p:nvSpPr>
        <p:spPr>
          <a:xfrm>
            <a:off x="9659726" y="3870465"/>
            <a:ext cx="1971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Indirizzo base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9CE2959A-E76E-45CB-828F-EC2B4227F0CE}"/>
              </a:ext>
            </a:extLst>
          </p:cNvPr>
          <p:cNvCxnSpPr/>
          <p:nvPr/>
        </p:nvCxnSpPr>
        <p:spPr>
          <a:xfrm flipH="1">
            <a:off x="7843707" y="4055131"/>
            <a:ext cx="16777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616862C3-99BE-4A4F-AB03-C4F4B0BD4EB7}"/>
              </a:ext>
            </a:extLst>
          </p:cNvPr>
          <p:cNvSpPr txBox="1"/>
          <p:nvPr/>
        </p:nvSpPr>
        <p:spPr>
          <a:xfrm>
            <a:off x="9454156" y="3020037"/>
            <a:ext cx="1786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Spazi pieni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1413FD62-9304-4318-99C5-5094FF832C27}"/>
              </a:ext>
            </a:extLst>
          </p:cNvPr>
          <p:cNvSpPr txBox="1"/>
          <p:nvPr/>
        </p:nvSpPr>
        <p:spPr>
          <a:xfrm>
            <a:off x="9501529" y="4752594"/>
            <a:ext cx="22878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Indirizzo </a:t>
            </a:r>
            <a:r>
              <a:rPr lang="it-IT" dirty="0" err="1"/>
              <a:t>base+max</a:t>
            </a:r>
            <a:endParaRPr lang="it-IT" dirty="0"/>
          </a:p>
          <a:p>
            <a:endParaRPr lang="it-IT" dirty="0"/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2499F387-02EF-4FF9-B54E-A2852997E177}"/>
              </a:ext>
            </a:extLst>
          </p:cNvPr>
          <p:cNvCxnSpPr>
            <a:cxnSpLocks/>
          </p:cNvCxnSpPr>
          <p:nvPr/>
        </p:nvCxnSpPr>
        <p:spPr>
          <a:xfrm flipH="1" flipV="1">
            <a:off x="7843707" y="4890782"/>
            <a:ext cx="1654030" cy="611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Parentesi quadra chiusa 22">
            <a:extLst>
              <a:ext uri="{FF2B5EF4-FFF2-40B4-BE49-F238E27FC236}">
                <a16:creationId xmlns:a16="http://schemas.microsoft.com/office/drawing/2014/main" id="{7EDD1CAD-02E4-464D-87F8-3BD7DE308411}"/>
              </a:ext>
            </a:extLst>
          </p:cNvPr>
          <p:cNvSpPr/>
          <p:nvPr/>
        </p:nvSpPr>
        <p:spPr>
          <a:xfrm>
            <a:off x="7084904" y="4770345"/>
            <a:ext cx="604008" cy="241388"/>
          </a:xfrm>
          <a:prstGeom prst="righ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E1C0601C-0522-4D78-BE7F-D47A973865ED}"/>
              </a:ext>
            </a:extLst>
          </p:cNvPr>
          <p:cNvSpPr txBox="1"/>
          <p:nvPr/>
        </p:nvSpPr>
        <p:spPr>
          <a:xfrm>
            <a:off x="5008228" y="4055131"/>
            <a:ext cx="854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Spazi</a:t>
            </a:r>
          </a:p>
          <a:p>
            <a:r>
              <a:rPr lang="it-IT" dirty="0"/>
              <a:t>liberi</a:t>
            </a:r>
          </a:p>
        </p:txBody>
      </p:sp>
    </p:spTree>
    <p:extLst>
      <p:ext uri="{BB962C8B-B14F-4D97-AF65-F5344CB8AC3E}">
        <p14:creationId xmlns:p14="http://schemas.microsoft.com/office/powerpoint/2010/main" val="2595656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95EC97-3C0D-4505-A29E-47778AA37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Binding</a:t>
            </a:r>
            <a:r>
              <a:rPr lang="it-IT" dirty="0"/>
              <a:t> e linking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820C490-839B-4862-92B4-CEF879D0A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t-IT" dirty="0"/>
              <a:t>Calcolo </a:t>
            </a:r>
            <a:r>
              <a:rPr lang="it-IT" dirty="0" err="1"/>
              <a:t>indirzzi</a:t>
            </a:r>
            <a:r>
              <a:rPr lang="it-IT" dirty="0"/>
              <a:t> fisici</a:t>
            </a:r>
          </a:p>
          <a:p>
            <a:endParaRPr lang="it-IT" dirty="0"/>
          </a:p>
          <a:p>
            <a:pPr marL="0" indent="0">
              <a:buNone/>
            </a:pPr>
            <a:r>
              <a:rPr lang="it-IT" dirty="0"/>
              <a:t>effettuato nel linking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Passaggio indirizzo fisico</a:t>
            </a:r>
          </a:p>
          <a:p>
            <a:pPr marL="0" indent="0">
              <a:buNone/>
            </a:pPr>
            <a:r>
              <a:rPr lang="it-IT" dirty="0"/>
              <a:t>      effettuato nel </a:t>
            </a:r>
            <a:r>
              <a:rPr lang="it-IT" dirty="0" err="1"/>
              <a:t>binding</a:t>
            </a:r>
            <a:r>
              <a:rPr lang="it-IT" dirty="0"/>
              <a:t>  in momenti diversi</a:t>
            </a:r>
          </a:p>
          <a:p>
            <a:pPr marL="0" indent="0">
              <a:buNone/>
            </a:pPr>
            <a:r>
              <a:rPr lang="it-IT" dirty="0"/>
              <a:t>Compile time</a:t>
            </a:r>
          </a:p>
          <a:p>
            <a:pPr marL="0" indent="0">
              <a:buNone/>
            </a:pPr>
            <a:r>
              <a:rPr lang="it-IT" dirty="0" err="1"/>
              <a:t>Load</a:t>
            </a:r>
            <a:r>
              <a:rPr lang="it-IT" dirty="0"/>
              <a:t> time </a:t>
            </a:r>
          </a:p>
          <a:p>
            <a:pPr marL="0" indent="0">
              <a:buNone/>
            </a:pPr>
            <a:r>
              <a:rPr lang="it-IT" dirty="0" err="1"/>
              <a:t>Execution</a:t>
            </a:r>
            <a:r>
              <a:rPr lang="it-IT" dirty="0"/>
              <a:t> time</a:t>
            </a:r>
          </a:p>
          <a:p>
            <a:pPr marL="0" indent="0">
              <a:buNone/>
            </a:pPr>
            <a:r>
              <a:rPr lang="it-IT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172221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BD33A4-6E7B-4D45-9265-472AB5F48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partizionamento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C67ECBF-1426-4DE0-97FE-AF0A1AC1C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Memoria centrale divisa in partizioni</a:t>
            </a:r>
          </a:p>
          <a:p>
            <a:r>
              <a:rPr lang="it-IT" dirty="0"/>
              <a:t>Ogni partizione un processo</a:t>
            </a:r>
          </a:p>
          <a:p>
            <a:endParaRPr lang="it-IT" dirty="0"/>
          </a:p>
          <a:p>
            <a:r>
              <a:rPr lang="it-IT" dirty="0"/>
              <a:t>DUE TIPI DI PARTIZIONI</a:t>
            </a:r>
          </a:p>
          <a:p>
            <a:r>
              <a:rPr lang="it-IT" dirty="0"/>
              <a:t>    partizione fissa </a:t>
            </a:r>
          </a:p>
          <a:p>
            <a:r>
              <a:rPr lang="it-IT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578664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D740BE-593C-4DE6-8B10-9CCD603CC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PARTIZIONE FISSA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5D0724-176E-4E3D-8F75-2A45DBA32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195481"/>
          </a:xfrm>
        </p:spPr>
        <p:txBody>
          <a:bodyPr/>
          <a:lstStyle/>
          <a:p>
            <a:r>
              <a:rPr lang="it-IT" dirty="0"/>
              <a:t>La dimensione viene definita dal sistema</a:t>
            </a:r>
          </a:p>
          <a:p>
            <a:r>
              <a:rPr lang="it-IT" dirty="0"/>
              <a:t>Tabella per lo stato partizioni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D353BEF-7C9C-4EA9-A9A7-7154FD1F8918}"/>
              </a:ext>
            </a:extLst>
          </p:cNvPr>
          <p:cNvSpPr/>
          <p:nvPr/>
        </p:nvSpPr>
        <p:spPr>
          <a:xfrm>
            <a:off x="7306574" y="2570672"/>
            <a:ext cx="1095554" cy="2984739"/>
          </a:xfrm>
          <a:prstGeom prst="rect">
            <a:avLst/>
          </a:prstGeom>
          <a:noFill/>
          <a:ln w="381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A099EAC6-4556-4B99-9563-FDCEDB9DCA9C}"/>
              </a:ext>
            </a:extLst>
          </p:cNvPr>
          <p:cNvCxnSpPr>
            <a:cxnSpLocks/>
          </p:cNvCxnSpPr>
          <p:nvPr/>
        </p:nvCxnSpPr>
        <p:spPr>
          <a:xfrm>
            <a:off x="7306574" y="3140015"/>
            <a:ext cx="109555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48DCC28D-2EC1-40AC-9BB5-1A395AC2788F}"/>
              </a:ext>
            </a:extLst>
          </p:cNvPr>
          <p:cNvCxnSpPr>
            <a:cxnSpLocks/>
          </p:cNvCxnSpPr>
          <p:nvPr/>
        </p:nvCxnSpPr>
        <p:spPr>
          <a:xfrm>
            <a:off x="7306574" y="3732362"/>
            <a:ext cx="109555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F809B6E6-D5C6-4A8F-9F63-32E292F3DA4F}"/>
              </a:ext>
            </a:extLst>
          </p:cNvPr>
          <p:cNvCxnSpPr>
            <a:cxnSpLocks/>
          </p:cNvCxnSpPr>
          <p:nvPr/>
        </p:nvCxnSpPr>
        <p:spPr>
          <a:xfrm>
            <a:off x="7306574" y="4353464"/>
            <a:ext cx="109555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05A28E1A-2771-4447-8574-72EB7AD92DE8}"/>
              </a:ext>
            </a:extLst>
          </p:cNvPr>
          <p:cNvCxnSpPr>
            <a:cxnSpLocks/>
          </p:cNvCxnSpPr>
          <p:nvPr/>
        </p:nvCxnSpPr>
        <p:spPr>
          <a:xfrm>
            <a:off x="7306574" y="4905554"/>
            <a:ext cx="109555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arentesi graffa chiusa 11">
            <a:extLst>
              <a:ext uri="{FF2B5EF4-FFF2-40B4-BE49-F238E27FC236}">
                <a16:creationId xmlns:a16="http://schemas.microsoft.com/office/drawing/2014/main" id="{B54E9996-87A4-4879-A1A3-F626FE80D602}"/>
              </a:ext>
            </a:extLst>
          </p:cNvPr>
          <p:cNvSpPr/>
          <p:nvPr/>
        </p:nvSpPr>
        <p:spPr>
          <a:xfrm>
            <a:off x="8514272" y="2570672"/>
            <a:ext cx="120770" cy="569335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FF800F7-C2EA-4E64-81A5-C9F3987E898B}"/>
              </a:ext>
            </a:extLst>
          </p:cNvPr>
          <p:cNvSpPr txBox="1"/>
          <p:nvPr/>
        </p:nvSpPr>
        <p:spPr>
          <a:xfrm>
            <a:off x="8747185" y="2670673"/>
            <a:ext cx="1673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partizioni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E3F65038-D249-40A4-950F-45EF7B78324A}"/>
              </a:ext>
            </a:extLst>
          </p:cNvPr>
          <p:cNvSpPr/>
          <p:nvPr/>
        </p:nvSpPr>
        <p:spPr>
          <a:xfrm>
            <a:off x="1585743" y="3732993"/>
            <a:ext cx="2451419" cy="2515406"/>
          </a:xfrm>
          <a:prstGeom prst="rect">
            <a:avLst/>
          </a:prstGeom>
          <a:noFill/>
          <a:ln w="381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7" name="Connettore diritto 16">
            <a:extLst>
              <a:ext uri="{FF2B5EF4-FFF2-40B4-BE49-F238E27FC236}">
                <a16:creationId xmlns:a16="http://schemas.microsoft.com/office/drawing/2014/main" id="{0E9E8491-6D35-48EA-85BE-B8B196E2B961}"/>
              </a:ext>
            </a:extLst>
          </p:cNvPr>
          <p:cNvCxnSpPr>
            <a:cxnSpLocks/>
          </p:cNvCxnSpPr>
          <p:nvPr/>
        </p:nvCxnSpPr>
        <p:spPr>
          <a:xfrm>
            <a:off x="1585743" y="4063041"/>
            <a:ext cx="245141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AC92040D-28FB-4FAF-A900-A60339B72FDB}"/>
              </a:ext>
            </a:extLst>
          </p:cNvPr>
          <p:cNvCxnSpPr>
            <a:cxnSpLocks/>
          </p:cNvCxnSpPr>
          <p:nvPr/>
        </p:nvCxnSpPr>
        <p:spPr>
          <a:xfrm>
            <a:off x="1585743" y="4353464"/>
            <a:ext cx="245141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ttore diritto 20">
            <a:extLst>
              <a:ext uri="{FF2B5EF4-FFF2-40B4-BE49-F238E27FC236}">
                <a16:creationId xmlns:a16="http://schemas.microsoft.com/office/drawing/2014/main" id="{C55635EB-689F-4BCF-B52D-3E4634373775}"/>
              </a:ext>
            </a:extLst>
          </p:cNvPr>
          <p:cNvCxnSpPr>
            <a:cxnSpLocks/>
          </p:cNvCxnSpPr>
          <p:nvPr/>
        </p:nvCxnSpPr>
        <p:spPr>
          <a:xfrm>
            <a:off x="1585743" y="4681268"/>
            <a:ext cx="245141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2D8F67CD-0DDB-4292-8C72-F95DF11E683D}"/>
              </a:ext>
            </a:extLst>
          </p:cNvPr>
          <p:cNvCxnSpPr>
            <a:cxnSpLocks/>
          </p:cNvCxnSpPr>
          <p:nvPr/>
        </p:nvCxnSpPr>
        <p:spPr>
          <a:xfrm>
            <a:off x="1585743" y="5022326"/>
            <a:ext cx="245141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EC81591E-1485-4B6C-8A9C-F60DC922C500}"/>
              </a:ext>
            </a:extLst>
          </p:cNvPr>
          <p:cNvCxnSpPr>
            <a:cxnSpLocks/>
          </p:cNvCxnSpPr>
          <p:nvPr/>
        </p:nvCxnSpPr>
        <p:spPr>
          <a:xfrm>
            <a:off x="1585743" y="5336875"/>
            <a:ext cx="245141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C54B77CC-D99C-43B7-81B8-F33B5414401D}"/>
              </a:ext>
            </a:extLst>
          </p:cNvPr>
          <p:cNvCxnSpPr>
            <a:cxnSpLocks/>
          </p:cNvCxnSpPr>
          <p:nvPr/>
        </p:nvCxnSpPr>
        <p:spPr>
          <a:xfrm>
            <a:off x="1585743" y="5647426"/>
            <a:ext cx="245141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5124348F-4CC2-487C-A644-5B79CFE83D5D}"/>
              </a:ext>
            </a:extLst>
          </p:cNvPr>
          <p:cNvCxnSpPr>
            <a:cxnSpLocks/>
          </p:cNvCxnSpPr>
          <p:nvPr/>
        </p:nvCxnSpPr>
        <p:spPr>
          <a:xfrm>
            <a:off x="1585743" y="5966603"/>
            <a:ext cx="245141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C069D24E-3F8E-448B-BF28-8B4E5EB920D7}"/>
              </a:ext>
            </a:extLst>
          </p:cNvPr>
          <p:cNvCxnSpPr/>
          <p:nvPr/>
        </p:nvCxnSpPr>
        <p:spPr>
          <a:xfrm>
            <a:off x="2398143" y="3732362"/>
            <a:ext cx="0" cy="251603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diritto 29">
            <a:extLst>
              <a:ext uri="{FF2B5EF4-FFF2-40B4-BE49-F238E27FC236}">
                <a16:creationId xmlns:a16="http://schemas.microsoft.com/office/drawing/2014/main" id="{B8BE692B-B98E-41E0-86BB-F6D09371CBCA}"/>
              </a:ext>
            </a:extLst>
          </p:cNvPr>
          <p:cNvCxnSpPr/>
          <p:nvPr/>
        </p:nvCxnSpPr>
        <p:spPr>
          <a:xfrm>
            <a:off x="3249283" y="3764307"/>
            <a:ext cx="0" cy="251603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87B01854-35C2-4DF7-9E10-2186EDB55935}"/>
              </a:ext>
            </a:extLst>
          </p:cNvPr>
          <p:cNvSpPr txBox="1"/>
          <p:nvPr/>
        </p:nvSpPr>
        <p:spPr>
          <a:xfrm>
            <a:off x="1585743" y="3764307"/>
            <a:ext cx="81239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</a:t>
            </a:r>
          </a:p>
          <a:p>
            <a:r>
              <a:rPr lang="it-IT" dirty="0"/>
              <a:t>2</a:t>
            </a:r>
          </a:p>
          <a:p>
            <a:r>
              <a:rPr lang="it-IT" dirty="0"/>
              <a:t>3</a:t>
            </a:r>
          </a:p>
          <a:p>
            <a:r>
              <a:rPr lang="it-IT" dirty="0"/>
              <a:t>4</a:t>
            </a:r>
          </a:p>
          <a:p>
            <a:r>
              <a:rPr lang="it-IT" dirty="0"/>
              <a:t>5</a:t>
            </a:r>
          </a:p>
          <a:p>
            <a:r>
              <a:rPr lang="it-IT" dirty="0"/>
              <a:t>6</a:t>
            </a:r>
          </a:p>
          <a:p>
            <a:r>
              <a:rPr lang="it-IT" dirty="0"/>
              <a:t>7</a:t>
            </a:r>
          </a:p>
          <a:p>
            <a:r>
              <a:rPr lang="it-IT" dirty="0"/>
              <a:t>8</a:t>
            </a:r>
          </a:p>
          <a:p>
            <a:endParaRPr lang="it-IT" dirty="0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D778FA2C-A046-40D3-8375-B9E7EBDC1174}"/>
              </a:ext>
            </a:extLst>
          </p:cNvPr>
          <p:cNvSpPr txBox="1"/>
          <p:nvPr/>
        </p:nvSpPr>
        <p:spPr>
          <a:xfrm>
            <a:off x="2488731" y="3764307"/>
            <a:ext cx="6699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</a:t>
            </a:r>
          </a:p>
          <a:p>
            <a:r>
              <a:rPr lang="it-IT" dirty="0"/>
              <a:t>O</a:t>
            </a:r>
          </a:p>
          <a:p>
            <a:r>
              <a:rPr lang="it-IT" dirty="0"/>
              <a:t>L</a:t>
            </a:r>
          </a:p>
          <a:p>
            <a:r>
              <a:rPr lang="it-IT" dirty="0"/>
              <a:t>L</a:t>
            </a:r>
          </a:p>
          <a:p>
            <a:r>
              <a:rPr lang="it-IT" dirty="0"/>
              <a:t>O</a:t>
            </a:r>
          </a:p>
          <a:p>
            <a:endParaRPr lang="it-IT" dirty="0"/>
          </a:p>
          <a:p>
            <a:r>
              <a:rPr lang="it-IT" dirty="0"/>
              <a:t>L</a:t>
            </a:r>
          </a:p>
          <a:p>
            <a:r>
              <a:rPr lang="it-IT" dirty="0"/>
              <a:t>L</a:t>
            </a:r>
          </a:p>
          <a:p>
            <a:r>
              <a:rPr lang="it-IT" dirty="0"/>
              <a:t>O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BA5CF882-1445-4E52-BC02-38960270ED62}"/>
              </a:ext>
            </a:extLst>
          </p:cNvPr>
          <p:cNvSpPr txBox="1"/>
          <p:nvPr/>
        </p:nvSpPr>
        <p:spPr>
          <a:xfrm>
            <a:off x="3249283" y="4063041"/>
            <a:ext cx="787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3345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07624E6E-6DA4-45A2-BC9D-AAC3BD7A8994}"/>
              </a:ext>
            </a:extLst>
          </p:cNvPr>
          <p:cNvSpPr txBox="1"/>
          <p:nvPr/>
        </p:nvSpPr>
        <p:spPr>
          <a:xfrm>
            <a:off x="3249270" y="5053641"/>
            <a:ext cx="787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3346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80143E81-8008-40A3-819D-0DE25BABC57F}"/>
              </a:ext>
            </a:extLst>
          </p:cNvPr>
          <p:cNvSpPr txBox="1"/>
          <p:nvPr/>
        </p:nvSpPr>
        <p:spPr>
          <a:xfrm>
            <a:off x="3249266" y="5997918"/>
            <a:ext cx="787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3347</a:t>
            </a:r>
          </a:p>
        </p:txBody>
      </p:sp>
    </p:spTree>
    <p:extLst>
      <p:ext uri="{BB962C8B-B14F-4D97-AF65-F5344CB8AC3E}">
        <p14:creationId xmlns:p14="http://schemas.microsoft.com/office/powerpoint/2010/main" val="3614433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F7223127-8043-48F5-944E-9AED2C64D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Grazie per l’attenzione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47CA8242-85F8-4B7A-8A0A-6DDC268B4C2A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320D9BF4-054E-4C6F-BFFD-88EFAD333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it-IT" dirty="0"/>
              <a:t>Pietro Barone 3°I</a:t>
            </a:r>
          </a:p>
        </p:txBody>
      </p:sp>
    </p:spTree>
    <p:extLst>
      <p:ext uri="{BB962C8B-B14F-4D97-AF65-F5344CB8AC3E}">
        <p14:creationId xmlns:p14="http://schemas.microsoft.com/office/powerpoint/2010/main" val="16592410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e">
  <a:themeElements>
    <a:clrScheme name="Ione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e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e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TM02836342[[fn=Ione]]</Template>
  <TotalTime>304</TotalTime>
  <Words>292</Words>
  <Application>Microsoft Office PowerPoint</Application>
  <PresentationFormat>Widescreen</PresentationFormat>
  <Paragraphs>119</Paragraphs>
  <Slides>12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Century Gothic</vt:lpstr>
      <vt:lpstr>Wingdings 3</vt:lpstr>
      <vt:lpstr>Ione</vt:lpstr>
      <vt:lpstr>GESTIONE DELLA MEMORIA</vt:lpstr>
      <vt:lpstr>INDICE</vt:lpstr>
      <vt:lpstr>Diversi tipi di memoria</vt:lpstr>
      <vt:lpstr>Caricamento del programma</vt:lpstr>
      <vt:lpstr>Caricamento del programma</vt:lpstr>
      <vt:lpstr>Indirizzi</vt:lpstr>
      <vt:lpstr>Rilocazione statica</vt:lpstr>
      <vt:lpstr>Rilocazione dinamica</vt:lpstr>
      <vt:lpstr>Binding e linking</vt:lpstr>
      <vt:lpstr>partizionamento</vt:lpstr>
      <vt:lpstr>PARTIZIONE FISSA</vt:lpstr>
      <vt:lpstr>Grazie per l’attenzione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GESTIONE DELLA MEMORIA</dc:title>
  <dc:creator>pietro barone</dc:creator>
  <cp:lastModifiedBy>pietro barone</cp:lastModifiedBy>
  <cp:revision>22</cp:revision>
  <dcterms:created xsi:type="dcterms:W3CDTF">2026-02-18T17:04:42Z</dcterms:created>
  <dcterms:modified xsi:type="dcterms:W3CDTF">2026-03-08T20:57:05Z</dcterms:modified>
</cp:coreProperties>
</file>