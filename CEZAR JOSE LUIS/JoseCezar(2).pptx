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78" r:id="rId7"/>
    <p:sldId id="258" r:id="rId8"/>
    <p:sldId id="285" r:id="rId9"/>
    <p:sldId id="281" r:id="rId10"/>
    <p:sldId id="286" r:id="rId11"/>
    <p:sldId id="282" r:id="rId12"/>
    <p:sldId id="287" r:id="rId13"/>
    <p:sldId id="284" r:id="rId14"/>
    <p:sldId id="288" r:id="rId15"/>
    <p:sldId id="289" r:id="rId16"/>
    <p:sldId id="290" r:id="rId17"/>
    <p:sldId id="293" r:id="rId18"/>
    <p:sldId id="292" r:id="rId19"/>
    <p:sldId id="271" r:id="rId2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7EE7BF-C4BB-4053-B001-776E4C57554A}" v="2" dt="2026-03-18T21:20:20.090"/>
    <p1510:client id="{CA8C3E1E-4A21-45E8-BE99-21EDDC98C722}" v="193" dt="2026-03-18T21:51:38.299"/>
    <p1510:client id="{D65CC78A-1893-402A-96CE-4386B1450173}" v="257" dt="2026-03-18T21:19:27.7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0655" autoAdjust="0"/>
  </p:normalViewPr>
  <p:slideViewPr>
    <p:cSldViewPr snapToGrid="0">
      <p:cViewPr varScale="1">
        <p:scale>
          <a:sx n="103" d="100"/>
          <a:sy n="103" d="100"/>
        </p:scale>
        <p:origin x="126" y="39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0" d="100"/>
          <a:sy n="90" d="100"/>
        </p:scale>
        <p:origin x="3024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F1F6CAA9-E02A-4AA1-BB7A-6855204F9149}" type="datetime1">
              <a:rPr lang="es-ES" smtClean="0"/>
              <a:t>25/03/2026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28EEFA9E-C190-4F5C-8394-BD5F1CD55C0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8D105F78-BC05-4D07-9332-527D1626BEA9}" type="datetime1">
              <a:rPr lang="es-ES" smtClean="0"/>
              <a:t>25/03/2026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22289C57-55D7-40A4-A101-E74FAC7A09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2289C57-55D7-40A4-A101-E74FAC7A092B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2289C57-55D7-40A4-A101-E74FAC7A092B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2289C57-55D7-40A4-A101-E74FAC7A092B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2289C57-55D7-40A4-A101-E74FAC7A092B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2289C57-55D7-40A4-A101-E74FAC7A092B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2289C57-55D7-40A4-A101-E74FAC7A092B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2289C57-55D7-40A4-A101-E74FAC7A092B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728F5-1104-3516-FAEE-97882F47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3C48F1-810F-C638-9A72-766E0C4A6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ED8F8E-F7FE-2407-B402-FC77BDD34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5CF6FB-555F-C78C-92E8-032AB0506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2289C57-55D7-40A4-A101-E74FAC7A092B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1982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2289C57-55D7-40A4-A101-E74FAC7A092B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es-ES" sz="3600" spc="150" baseline="0"/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es-ES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es-ES" sz="900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es-ES" sz="900"/>
            </a:lvl1pPr>
          </a:lstStyle>
          <a:p>
            <a:pPr rtl="0"/>
            <a:fld id="{A49DFD55-3C28-40EF-9E31-A92D2E4017F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es-ES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es-ES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es-E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s-ES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es-ES" sz="900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es-ES" sz="900"/>
            </a:lvl1pPr>
          </a:lstStyle>
          <a:p>
            <a:pPr rtl="0"/>
            <a:fld id="{A49DFD55-3C28-40EF-9E31-A92D2E4017F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es-ES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es-E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es-E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s-ES" sz="20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s-ES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es-E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s-ES" sz="20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s-ES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es-ES" sz="900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es-ES" sz="900"/>
            </a:lvl1pPr>
          </a:lstStyle>
          <a:p>
            <a:pPr rtl="0"/>
            <a:fld id="{A49DFD55-3C28-40EF-9E31-A92D2E4017F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es-E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es-E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s-ES" sz="20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es-ES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es-ES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es-ES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es-ES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es-ES" sz="1800" spc="5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es-E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s-ES" sz="20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s-ES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9" name="Marcador de pie de página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es-ES" sz="900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20" name="Marcador de número de diapositiva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es-ES" sz="900"/>
            </a:lvl1pPr>
          </a:lstStyle>
          <a:p>
            <a:pPr rtl="0"/>
            <a:fld id="{A49DFD55-3C28-40EF-9E31-A92D2E4017F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es-E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es-ES" sz="900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es-ES" sz="900"/>
            </a:lvl1pPr>
          </a:lstStyle>
          <a:p>
            <a:pPr rtl="0"/>
            <a:fld id="{A49DFD55-3C28-40EF-9E31-A92D2E4017FF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8" name="Marcador de contenido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s-ES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es-E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Marcador de contenido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s-ES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tabla</a:t>
            </a:r>
            <a:endParaRPr lang="es-ES" dirty="0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es-ES" sz="900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es-ES" sz="900"/>
            </a:lvl1pPr>
          </a:lstStyle>
          <a:p>
            <a:pPr rtl="0"/>
            <a:fld id="{A49DFD55-3C28-40EF-9E31-A92D2E4017FF}" type="slidenum">
              <a:rPr lang="es-ES" smtClean="0"/>
              <a:pPr rtl="0"/>
              <a:t>‹Nº›</a:t>
            </a:fld>
            <a:endParaRPr lang="es-ES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es-E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es-E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s-ES" sz="20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es-ES" sz="1800" spc="5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es-E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s-ES" sz="20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s-ES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1800" spc="5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es-ES" sz="900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 sz="900"/>
            </a:lvl1pPr>
          </a:lstStyle>
          <a:p>
            <a:pPr rtl="0"/>
            <a:fld id="{A49DFD55-3C28-40EF-9E31-A92D2E4017FF}" type="slidenum">
              <a:rPr lang="es-ES" smtClean="0"/>
              <a:pPr rtl="0"/>
              <a:t>‹Nº›</a:t>
            </a:fld>
            <a:endParaRPr lang="es-ES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es-E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tabla</a:t>
            </a:r>
            <a:endParaRPr lang="es-ES" dirty="0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es-ES" sz="900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es-ES" sz="900"/>
            </a:lvl1pPr>
          </a:lstStyle>
          <a:p>
            <a:pPr rtl="0"/>
            <a:fld id="{A49DFD55-3C28-40EF-9E31-A92D2E4017F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ier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es-ES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es-ES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es-ES" sz="900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es-ES" sz="900"/>
            </a:lvl1pPr>
          </a:lstStyle>
          <a:p>
            <a:pPr rtl="0"/>
            <a:fld id="{A49DFD55-3C28-40EF-9E31-A92D2E4017FF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9DFD55-3C28-40EF-9E31-A92D2E4017F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1325" y="3235716"/>
            <a:ext cx="5286585" cy="3294474"/>
          </a:xfrm>
        </p:spPr>
        <p:txBody>
          <a:bodyPr rtlCol="0" anchor="ctr"/>
          <a:lstStyle>
            <a:defPPr>
              <a:defRPr lang="es-ES"/>
            </a:defPPr>
          </a:lstStyle>
          <a:p>
            <a:r>
              <a:rPr lang="es-ES" sz="6000" b="1">
                <a:solidFill>
                  <a:srgbClr val="000000"/>
                </a:solidFill>
                <a:latin typeface="Bembo"/>
              </a:rPr>
              <a:t>GESTIONE</a:t>
            </a:r>
            <a:br>
              <a:rPr lang="es-ES" sz="6000" b="1" dirty="0">
                <a:latin typeface="Bembo"/>
              </a:rPr>
            </a:br>
            <a:r>
              <a:rPr lang="es-ES" sz="6000" b="1">
                <a:solidFill>
                  <a:srgbClr val="000000"/>
                </a:solidFill>
                <a:latin typeface="Bembo"/>
              </a:rPr>
              <a:t>DELLA MEMORIA</a:t>
            </a:r>
            <a:endParaRPr lang="es-ES" sz="6000">
              <a:latin typeface="Bembo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3D578A5-35B7-39A1-BFC7-766451B7DC91}"/>
              </a:ext>
            </a:extLst>
          </p:cNvPr>
          <p:cNvSpPr txBox="1"/>
          <p:nvPr/>
        </p:nvSpPr>
        <p:spPr>
          <a:xfrm>
            <a:off x="448721" y="5579511"/>
            <a:ext cx="27776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3200" b="1" dirty="0" err="1">
                <a:latin typeface="Bembo"/>
              </a:rPr>
              <a:t>Cezar</a:t>
            </a:r>
            <a:r>
              <a:rPr lang="es-ES" sz="3200" b="1" dirty="0">
                <a:latin typeface="Bembo"/>
              </a:rPr>
              <a:t> </a:t>
            </a:r>
            <a:r>
              <a:rPr lang="es-ES" sz="3200" b="1" dirty="0" err="1">
                <a:latin typeface="Bembo"/>
              </a:rPr>
              <a:t>Jose</a:t>
            </a:r>
            <a:endParaRPr lang="es-ES" sz="3200" dirty="0">
              <a:latin typeface="Bembo"/>
            </a:endParaRP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it-IT" sz="4200" b="1">
                <a:solidFill>
                  <a:srgbClr val="EBEBEB"/>
                </a:solidFill>
                <a:latin typeface="Bembo"/>
              </a:rPr>
              <a:t>INDICE</a:t>
            </a:r>
            <a:endParaRPr lang="es-ES" b="1">
              <a:latin typeface="Bembo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3187229" cy="3683514"/>
          </a:xfrm>
        </p:spPr>
        <p:txBody>
          <a:bodyPr vert="horz" lIns="91440" tIns="45720" rIns="91440" bIns="45720" rtlCol="0" anchor="t">
            <a:normAutofit lnSpcReduction="10000"/>
          </a:bodyPr>
          <a:lstStyle>
            <a:defPPr>
              <a:defRPr lang="es-ES"/>
            </a:defPPr>
          </a:lstStyle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it-IT" sz="2000">
                <a:latin typeface="Bembo"/>
              </a:rPr>
              <a:t>VARI TIPI DI MEMORIA</a:t>
            </a:r>
            <a:endParaRPr lang="en-US" sz="2000">
              <a:latin typeface="Bembo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it-IT" sz="2000">
                <a:latin typeface="Bembo"/>
              </a:rPr>
              <a:t>CARICAMENTO DEL PROGRAMMA</a:t>
            </a:r>
            <a:endParaRPr lang="en-US" sz="2000">
              <a:latin typeface="Bembo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it-IT" sz="2000">
                <a:latin typeface="Bembo"/>
              </a:rPr>
              <a:t>INDIRIZZI</a:t>
            </a:r>
            <a:endParaRPr lang="en-US" sz="2000">
              <a:latin typeface="Bembo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it-IT" sz="2000">
                <a:latin typeface="Bembo"/>
              </a:rPr>
              <a:t>RILOCAZIONE STATICA</a:t>
            </a:r>
            <a:endParaRPr lang="en-US" sz="2000">
              <a:latin typeface="Bembo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it-IT" sz="2000">
                <a:latin typeface="Bembo"/>
              </a:rPr>
              <a:t>RILOCAZIONE DINAMICA</a:t>
            </a:r>
            <a:endParaRPr lang="en-US" sz="2000">
              <a:latin typeface="Bembo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it-IT" sz="2000">
                <a:latin typeface="Bembo"/>
              </a:rPr>
              <a:t>BINDING E LINKING </a:t>
            </a:r>
            <a:endParaRPr lang="es-ES">
              <a:latin typeface="Bembo"/>
            </a:endParaRP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A49DFD55-3C28-40EF-9E31-A92D2E4017FF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08BF089-B787-3F40-5378-6A0018D2689F}"/>
              </a:ext>
            </a:extLst>
          </p:cNvPr>
          <p:cNvSpPr txBox="1"/>
          <p:nvPr/>
        </p:nvSpPr>
        <p:spPr>
          <a:xfrm>
            <a:off x="362298" y="2442157"/>
            <a:ext cx="3019150" cy="39181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433A64-0FD7-5DEA-AA71-DA1B1D621EEB}"/>
              </a:ext>
            </a:extLst>
          </p:cNvPr>
          <p:cNvSpPr txBox="1"/>
          <p:nvPr/>
        </p:nvSpPr>
        <p:spPr>
          <a:xfrm>
            <a:off x="580012" y="2443179"/>
            <a:ext cx="3685979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b="1" cap="all">
                <a:solidFill>
                  <a:srgbClr val="262626"/>
                </a:solidFill>
                <a:latin typeface="Bembo"/>
                <a:ea typeface="+mn-lt"/>
                <a:cs typeface="+mn-lt"/>
              </a:rPr>
              <a:t>vari tipi di memora</a:t>
            </a:r>
            <a:endParaRPr lang="es-ES" sz="3200">
              <a:solidFill>
                <a:srgbClr val="000000"/>
              </a:solidFill>
              <a:latin typeface="Bembo"/>
              <a:ea typeface="+mn-lt"/>
              <a:cs typeface="+mn-lt"/>
            </a:endParaRPr>
          </a:p>
          <a:p>
            <a:endParaRPr lang="es-ES" sz="5400" b="1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2727457C-E36F-0BAB-51D5-5E50DA59A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998014" cy="3358538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000"/>
              </a:spcBef>
            </a:pPr>
            <a:r>
              <a:rPr lang="it-IT" sz="2800">
                <a:solidFill>
                  <a:srgbClr val="262626"/>
                </a:solidFill>
                <a:latin typeface="Bembo"/>
                <a:cs typeface="Angsana New"/>
              </a:rPr>
              <a:t>Nastro</a:t>
            </a:r>
          </a:p>
          <a:p>
            <a:pPr marL="228600" indent="-228600">
              <a:lnSpc>
                <a:spcPct val="100000"/>
              </a:lnSpc>
              <a:spcBef>
                <a:spcPts val="1000"/>
              </a:spcBef>
            </a:pPr>
            <a:r>
              <a:rPr lang="it-IT" sz="2800">
                <a:solidFill>
                  <a:srgbClr val="262626"/>
                </a:solidFill>
                <a:latin typeface="Bembo"/>
                <a:cs typeface="Angsana New"/>
              </a:rPr>
              <a:t>Disco</a:t>
            </a:r>
          </a:p>
          <a:p>
            <a:pPr marL="228600" indent="-228600">
              <a:lnSpc>
                <a:spcPct val="100000"/>
              </a:lnSpc>
              <a:spcBef>
                <a:spcPts val="1000"/>
              </a:spcBef>
            </a:pPr>
            <a:r>
              <a:rPr lang="it-IT" sz="2800">
                <a:solidFill>
                  <a:srgbClr val="262626"/>
                </a:solidFill>
                <a:latin typeface="Bembo"/>
                <a:cs typeface="Angsana New"/>
              </a:rPr>
              <a:t>Memoria principale</a:t>
            </a:r>
          </a:p>
          <a:p>
            <a:pPr marL="228600" indent="-228600">
              <a:lnSpc>
                <a:spcPct val="100000"/>
              </a:lnSpc>
              <a:spcBef>
                <a:spcPts val="1000"/>
              </a:spcBef>
            </a:pPr>
            <a:r>
              <a:rPr lang="it-IT" sz="2800">
                <a:solidFill>
                  <a:srgbClr val="262626"/>
                </a:solidFill>
                <a:latin typeface="Bembo"/>
                <a:cs typeface="Angsana New"/>
              </a:rPr>
              <a:t>Cache</a:t>
            </a:r>
          </a:p>
          <a:p>
            <a:pPr marL="228600" indent="-228600">
              <a:lnSpc>
                <a:spcPct val="100000"/>
              </a:lnSpc>
              <a:spcBef>
                <a:spcPts val="1000"/>
              </a:spcBef>
            </a:pPr>
            <a:r>
              <a:rPr lang="it-IT" sz="2800">
                <a:solidFill>
                  <a:srgbClr val="262626"/>
                </a:solidFill>
                <a:latin typeface="Bembo"/>
                <a:cs typeface="Angsana New"/>
              </a:rPr>
              <a:t>Registri</a:t>
            </a:r>
            <a:endParaRPr lang="es-ES" sz="2800"/>
          </a:p>
          <a:p>
            <a:endParaRPr lang="es-ES" dirty="0">
              <a:latin typeface="Bembo"/>
              <a:cs typeface="Angsana New"/>
            </a:endParaRPr>
          </a:p>
        </p:txBody>
      </p:sp>
      <p:pic>
        <p:nvPicPr>
          <p:cNvPr id="11" name="Imagen 10" descr="Imagen que contiene interior, tabla, cerca, pequeño&#10;&#10;El contenido generado por IA puede ser incorrecto.">
            <a:extLst>
              <a:ext uri="{FF2B5EF4-FFF2-40B4-BE49-F238E27FC236}">
                <a16:creationId xmlns:a16="http://schemas.microsoft.com/office/drawing/2014/main" id="{111F7310-853B-F3A9-5D90-483C7654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49" y="4613040"/>
            <a:ext cx="2600325" cy="17335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3837F73-3EE7-846A-4B93-AF6A142BC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4839380"/>
            <a:ext cx="2438400" cy="183832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A637B5A-8589-3521-C7AF-A3A943885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827" y="4005943"/>
            <a:ext cx="2314575" cy="16764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1976379-A7C6-36B6-D0CF-1C105525E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072" y="4002542"/>
            <a:ext cx="2209800" cy="306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A49DFD55-3C28-40EF-9E31-A92D2E4017FF}" type="slidenum">
              <a:rPr lang="es-ES" smtClean="0"/>
              <a:pPr rtl="0"/>
              <a:t>4</a:t>
            </a:fld>
            <a:endParaRPr lang="es-ES" dirty="0"/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C13AADCE-0360-B0B0-DBA1-34559E2E9C3C}"/>
              </a:ext>
            </a:extLst>
          </p:cNvPr>
          <p:cNvSpPr>
            <a:spLocks noGrp="1"/>
          </p:cNvSpPr>
          <p:nvPr/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800" kern="1200" cap="all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it-IT" b="1" dirty="0">
                <a:ea typeface="Batang"/>
              </a:rPr>
              <a:t>Caricamento del programma</a:t>
            </a:r>
            <a:endParaRPr lang="it-IT" b="1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3EEC1D03-1B90-B94E-FCAB-BC1103A0151A}"/>
              </a:ext>
            </a:extLst>
          </p:cNvPr>
          <p:cNvSpPr>
            <a:spLocks noGrp="1"/>
          </p:cNvSpPr>
          <p:nvPr/>
        </p:nvSpPr>
        <p:spPr>
          <a:xfrm>
            <a:off x="1722642" y="1895808"/>
            <a:ext cx="2922526" cy="498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b="1" dirty="0">
                <a:ea typeface="Batang"/>
              </a:rPr>
              <a:t>Coda di entrata</a:t>
            </a:r>
            <a:endParaRPr lang="it-IT" sz="18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D667529-D321-4BC2-42F3-E8BA2FAEF393}"/>
              </a:ext>
            </a:extLst>
          </p:cNvPr>
          <p:cNvSpPr txBox="1"/>
          <p:nvPr/>
        </p:nvSpPr>
        <p:spPr>
          <a:xfrm>
            <a:off x="5955631" y="1894973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Processi pronti(RL)</a:t>
            </a:r>
          </a:p>
        </p:txBody>
      </p:sp>
      <p:sp>
        <p:nvSpPr>
          <p:cNvPr id="7" name="CasellaDiTesto 7">
            <a:extLst>
              <a:ext uri="{FF2B5EF4-FFF2-40B4-BE49-F238E27FC236}">
                <a16:creationId xmlns:a16="http://schemas.microsoft.com/office/drawing/2014/main" id="{55015424-3A17-1280-99BF-E332CD9BB7B1}"/>
              </a:ext>
            </a:extLst>
          </p:cNvPr>
          <p:cNvSpPr txBox="1"/>
          <p:nvPr/>
        </p:nvSpPr>
        <p:spPr>
          <a:xfrm>
            <a:off x="1574008" y="2526508"/>
            <a:ext cx="2743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I programmi che stanno per diventare processi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FD8E16-62B4-2593-DE7F-BC5C8DBB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es-ES" smtClean="0"/>
              <a:pPr rtl="0"/>
              <a:t>5</a:t>
            </a:fld>
            <a:endParaRPr lang="es-ES" dirty="0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42E05AA9-6D85-EF50-8210-083A12E1DE52}"/>
              </a:ext>
            </a:extLst>
          </p:cNvPr>
          <p:cNvSpPr>
            <a:spLocks noGrp="1"/>
          </p:cNvSpPr>
          <p:nvPr/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800" kern="1200" cap="all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it-IT" b="1" dirty="0">
                <a:ea typeface="Batang"/>
              </a:rPr>
              <a:t>Caricamento del programma</a:t>
            </a:r>
            <a:endParaRPr lang="it-IT" b="1" dirty="0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9AC8277B-EC08-B578-A8DB-FBE2B0F1025A}"/>
              </a:ext>
            </a:extLst>
          </p:cNvPr>
          <p:cNvSpPr>
            <a:spLocks noGrp="1"/>
          </p:cNvSpPr>
          <p:nvPr/>
        </p:nvSpPr>
        <p:spPr>
          <a:xfrm>
            <a:off x="1722642" y="1895808"/>
            <a:ext cx="2922526" cy="498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b="1" dirty="0">
                <a:ea typeface="Batang"/>
              </a:rPr>
              <a:t>Coda di entrata</a:t>
            </a:r>
            <a:endParaRPr lang="it-IT" sz="1800" b="1"/>
          </a:p>
        </p:txBody>
      </p:sp>
      <p:sp>
        <p:nvSpPr>
          <p:cNvPr id="7" name="CasellaDiTesto 5">
            <a:extLst>
              <a:ext uri="{FF2B5EF4-FFF2-40B4-BE49-F238E27FC236}">
                <a16:creationId xmlns:a16="http://schemas.microsoft.com/office/drawing/2014/main" id="{EBEC9974-A6A9-2246-FF90-E7E6922A52E5}"/>
              </a:ext>
            </a:extLst>
          </p:cNvPr>
          <p:cNvSpPr txBox="1"/>
          <p:nvPr/>
        </p:nvSpPr>
        <p:spPr>
          <a:xfrm>
            <a:off x="5955631" y="1894973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Processi pronti(RL)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4E1E4FE-230F-9B78-A788-44407888A067}"/>
              </a:ext>
            </a:extLst>
          </p:cNvPr>
          <p:cNvSpPr txBox="1"/>
          <p:nvPr/>
        </p:nvSpPr>
        <p:spPr>
          <a:xfrm>
            <a:off x="5955631" y="2656973"/>
            <a:ext cx="2743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I programmi che stanno per diventare processi</a:t>
            </a:r>
          </a:p>
        </p:txBody>
      </p:sp>
    </p:spTree>
    <p:extLst>
      <p:ext uri="{BB962C8B-B14F-4D97-AF65-F5344CB8AC3E}">
        <p14:creationId xmlns:p14="http://schemas.microsoft.com/office/powerpoint/2010/main" val="3911201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olo 1">
            <a:extLst>
              <a:ext uri="{FF2B5EF4-FFF2-40B4-BE49-F238E27FC236}">
                <a16:creationId xmlns:a16="http://schemas.microsoft.com/office/drawing/2014/main" id="{9FC8D715-78DE-8E38-92F5-D32ABD4BE30D}"/>
              </a:ext>
            </a:extLst>
          </p:cNvPr>
          <p:cNvSpPr>
            <a:spLocks noGrp="1"/>
          </p:cNvSpPr>
          <p:nvPr/>
        </p:nvSpPr>
        <p:spPr>
          <a:xfrm>
            <a:off x="1904319" y="194056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800" kern="1200" cap="all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it-IT" b="1" dirty="0">
                <a:ea typeface="Batang"/>
              </a:rPr>
              <a:t>RILOCAZIONE STATICA</a:t>
            </a:r>
            <a:endParaRPr lang="it-IT" b="1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13BCB00E-F960-C232-5F0B-ACBD83F15428}"/>
              </a:ext>
            </a:extLst>
          </p:cNvPr>
          <p:cNvSpPr>
            <a:spLocks noGrp="1"/>
          </p:cNvSpPr>
          <p:nvPr/>
        </p:nvSpPr>
        <p:spPr>
          <a:xfrm>
            <a:off x="1904319" y="3523116"/>
            <a:ext cx="531567" cy="19016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>
                <a:ea typeface="Batang"/>
              </a:rPr>
              <a:t>O</a:t>
            </a:r>
            <a:endParaRPr lang="it-IT"/>
          </a:p>
          <a:p>
            <a:pPr marL="0" indent="0">
              <a:buNone/>
            </a:pPr>
            <a:r>
              <a:rPr lang="it-IT" dirty="0">
                <a:ea typeface="Batang"/>
              </a:rPr>
              <a:t>1</a:t>
            </a:r>
          </a:p>
          <a:p>
            <a:pPr marL="0" indent="0">
              <a:buNone/>
            </a:pPr>
            <a:r>
              <a:rPr lang="it-IT">
                <a:ea typeface="Batang"/>
              </a:rPr>
              <a:t>2</a:t>
            </a:r>
          </a:p>
          <a:p>
            <a:pPr marL="0" indent="0">
              <a:buNone/>
            </a:pPr>
            <a:r>
              <a:rPr lang="it-IT" dirty="0"/>
              <a:t>3</a:t>
            </a:r>
          </a:p>
        </p:txBody>
      </p:sp>
      <p:sp>
        <p:nvSpPr>
          <p:cNvPr id="18" name="CasellaDiTesto 4">
            <a:extLst>
              <a:ext uri="{FF2B5EF4-FFF2-40B4-BE49-F238E27FC236}">
                <a16:creationId xmlns:a16="http://schemas.microsoft.com/office/drawing/2014/main" id="{23C0DC87-EA82-1C93-4DB6-13D6D7D1BBBC}"/>
              </a:ext>
            </a:extLst>
          </p:cNvPr>
          <p:cNvSpPr txBox="1"/>
          <p:nvPr/>
        </p:nvSpPr>
        <p:spPr>
          <a:xfrm>
            <a:off x="2531768" y="3520504"/>
            <a:ext cx="71763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A=5;</a:t>
            </a:r>
          </a:p>
        </p:txBody>
      </p:sp>
      <p:sp>
        <p:nvSpPr>
          <p:cNvPr id="19" name="CasellaDiTesto 5">
            <a:extLst>
              <a:ext uri="{FF2B5EF4-FFF2-40B4-BE49-F238E27FC236}">
                <a16:creationId xmlns:a16="http://schemas.microsoft.com/office/drawing/2014/main" id="{31616629-CCCC-EEF0-FBAC-D37985659AE3}"/>
              </a:ext>
            </a:extLst>
          </p:cNvPr>
          <p:cNvSpPr txBox="1"/>
          <p:nvPr/>
        </p:nvSpPr>
        <p:spPr>
          <a:xfrm>
            <a:off x="2531768" y="4031720"/>
            <a:ext cx="71763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B=7;</a:t>
            </a:r>
          </a:p>
        </p:txBody>
      </p:sp>
      <p:sp>
        <p:nvSpPr>
          <p:cNvPr id="20" name="CasellaDiTesto 6">
            <a:extLst>
              <a:ext uri="{FF2B5EF4-FFF2-40B4-BE49-F238E27FC236}">
                <a16:creationId xmlns:a16="http://schemas.microsoft.com/office/drawing/2014/main" id="{B1917338-780A-9F71-B705-550D6B11897A}"/>
              </a:ext>
            </a:extLst>
          </p:cNvPr>
          <p:cNvSpPr txBox="1"/>
          <p:nvPr/>
        </p:nvSpPr>
        <p:spPr>
          <a:xfrm>
            <a:off x="2437695" y="4398250"/>
            <a:ext cx="149892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Somma=A+B</a:t>
            </a:r>
          </a:p>
        </p:txBody>
      </p:sp>
      <p:sp>
        <p:nvSpPr>
          <p:cNvPr id="21" name="CasellaDiTesto 8">
            <a:extLst>
              <a:ext uri="{FF2B5EF4-FFF2-40B4-BE49-F238E27FC236}">
                <a16:creationId xmlns:a16="http://schemas.microsoft.com/office/drawing/2014/main" id="{18CBAF58-907C-DC31-92B9-909FFB76F570}"/>
              </a:ext>
            </a:extLst>
          </p:cNvPr>
          <p:cNvSpPr txBox="1"/>
          <p:nvPr/>
        </p:nvSpPr>
        <p:spPr>
          <a:xfrm>
            <a:off x="2437695" y="4936260"/>
            <a:ext cx="274319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Moltiplicazione=A*B</a:t>
            </a:r>
          </a:p>
        </p:txBody>
      </p:sp>
      <p:sp>
        <p:nvSpPr>
          <p:cNvPr id="22" name="CasellaDiTesto 9">
            <a:extLst>
              <a:ext uri="{FF2B5EF4-FFF2-40B4-BE49-F238E27FC236}">
                <a16:creationId xmlns:a16="http://schemas.microsoft.com/office/drawing/2014/main" id="{532DF0AA-DD8F-A7D9-3249-D877329124DA}"/>
              </a:ext>
            </a:extLst>
          </p:cNvPr>
          <p:cNvSpPr txBox="1"/>
          <p:nvPr/>
        </p:nvSpPr>
        <p:spPr>
          <a:xfrm>
            <a:off x="1914452" y="3047871"/>
            <a:ext cx="274319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Indirizzi relativi</a:t>
            </a:r>
          </a:p>
        </p:txBody>
      </p:sp>
      <p:sp>
        <p:nvSpPr>
          <p:cNvPr id="23" name="CasellaDiTesto 10">
            <a:extLst>
              <a:ext uri="{FF2B5EF4-FFF2-40B4-BE49-F238E27FC236}">
                <a16:creationId xmlns:a16="http://schemas.microsoft.com/office/drawing/2014/main" id="{B54E174E-F6F3-5799-364A-315D246E62CF}"/>
              </a:ext>
            </a:extLst>
          </p:cNvPr>
          <p:cNvSpPr txBox="1"/>
          <p:nvPr/>
        </p:nvSpPr>
        <p:spPr>
          <a:xfrm>
            <a:off x="7807895" y="3047871"/>
            <a:ext cx="274319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Memoria fisica</a:t>
            </a:r>
          </a:p>
        </p:txBody>
      </p:sp>
      <p:sp>
        <p:nvSpPr>
          <p:cNvPr id="24" name="CasellaDiTesto 11">
            <a:extLst>
              <a:ext uri="{FF2B5EF4-FFF2-40B4-BE49-F238E27FC236}">
                <a16:creationId xmlns:a16="http://schemas.microsoft.com/office/drawing/2014/main" id="{D2C12408-0ED9-1DC3-A901-27BE1CD40287}"/>
              </a:ext>
            </a:extLst>
          </p:cNvPr>
          <p:cNvSpPr txBox="1"/>
          <p:nvPr/>
        </p:nvSpPr>
        <p:spPr>
          <a:xfrm>
            <a:off x="9312605" y="3414404"/>
            <a:ext cx="713771" cy="203132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#100</a:t>
            </a:r>
          </a:p>
          <a:p>
            <a:endParaRPr lang="it-IT" dirty="0"/>
          </a:p>
          <a:p>
            <a:r>
              <a:rPr lang="it-IT"/>
              <a:t>#101</a:t>
            </a:r>
          </a:p>
          <a:p>
            <a:endParaRPr lang="it-IT" dirty="0"/>
          </a:p>
          <a:p>
            <a:r>
              <a:rPr lang="it-IT"/>
              <a:t>#102</a:t>
            </a:r>
            <a:endParaRPr lang="it-IT" dirty="0"/>
          </a:p>
          <a:p>
            <a:endParaRPr lang="it-IT" dirty="0"/>
          </a:p>
          <a:p>
            <a:r>
              <a:rPr lang="it-IT" dirty="0"/>
              <a:t>#103</a:t>
            </a: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8D23DE1C-4B01-A819-5DAB-3995BDB02335}"/>
              </a:ext>
            </a:extLst>
          </p:cNvPr>
          <p:cNvSpPr>
            <a:spLocks noGrp="1"/>
          </p:cNvSpPr>
          <p:nvPr/>
        </p:nvSpPr>
        <p:spPr>
          <a:xfrm>
            <a:off x="1904319" y="194056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800" kern="1200" cap="all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it-IT" b="1" dirty="0">
                <a:ea typeface="Batang"/>
              </a:rPr>
              <a:t>RILOCAZIONE STATICA</a:t>
            </a:r>
            <a:endParaRPr lang="it-IT" b="1" dirty="0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F3476403-2998-DA1A-BF31-88B550A98D60}"/>
              </a:ext>
            </a:extLst>
          </p:cNvPr>
          <p:cNvSpPr>
            <a:spLocks noGrp="1"/>
          </p:cNvSpPr>
          <p:nvPr/>
        </p:nvSpPr>
        <p:spPr>
          <a:xfrm>
            <a:off x="1904319" y="3523116"/>
            <a:ext cx="531567" cy="19016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>
                <a:ea typeface="Batang"/>
              </a:rPr>
              <a:t>O</a:t>
            </a:r>
            <a:endParaRPr lang="it-IT"/>
          </a:p>
          <a:p>
            <a:pPr marL="0" indent="0">
              <a:buNone/>
            </a:pPr>
            <a:r>
              <a:rPr lang="it-IT" dirty="0">
                <a:ea typeface="Batang"/>
              </a:rPr>
              <a:t>1</a:t>
            </a:r>
          </a:p>
          <a:p>
            <a:pPr marL="0" indent="0">
              <a:buNone/>
            </a:pPr>
            <a:r>
              <a:rPr lang="it-IT">
                <a:ea typeface="Batang"/>
              </a:rPr>
              <a:t>2</a:t>
            </a:r>
          </a:p>
          <a:p>
            <a:pPr marL="0" indent="0">
              <a:buNone/>
            </a:pPr>
            <a:r>
              <a:rPr lang="it-IT" dirty="0"/>
              <a:t>3</a:t>
            </a:r>
          </a:p>
        </p:txBody>
      </p:sp>
      <p:sp>
        <p:nvSpPr>
          <p:cNvPr id="13" name="CasellaDiTesto 4">
            <a:extLst>
              <a:ext uri="{FF2B5EF4-FFF2-40B4-BE49-F238E27FC236}">
                <a16:creationId xmlns:a16="http://schemas.microsoft.com/office/drawing/2014/main" id="{6227227F-E6FF-3060-4D12-6BBFD175462A}"/>
              </a:ext>
            </a:extLst>
          </p:cNvPr>
          <p:cNvSpPr txBox="1"/>
          <p:nvPr/>
        </p:nvSpPr>
        <p:spPr>
          <a:xfrm>
            <a:off x="8467842" y="3520504"/>
            <a:ext cx="71763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A=5;</a:t>
            </a:r>
          </a:p>
        </p:txBody>
      </p:sp>
      <p:sp>
        <p:nvSpPr>
          <p:cNvPr id="15" name="CasellaDiTesto 5">
            <a:extLst>
              <a:ext uri="{FF2B5EF4-FFF2-40B4-BE49-F238E27FC236}">
                <a16:creationId xmlns:a16="http://schemas.microsoft.com/office/drawing/2014/main" id="{D14801EA-FA26-FB5E-A019-3B19DEA02DAD}"/>
              </a:ext>
            </a:extLst>
          </p:cNvPr>
          <p:cNvSpPr txBox="1"/>
          <p:nvPr/>
        </p:nvSpPr>
        <p:spPr>
          <a:xfrm>
            <a:off x="8467842" y="4059942"/>
            <a:ext cx="71763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B=7;</a:t>
            </a:r>
          </a:p>
        </p:txBody>
      </p:sp>
      <p:sp>
        <p:nvSpPr>
          <p:cNvPr id="17" name="CasellaDiTesto 6">
            <a:extLst>
              <a:ext uri="{FF2B5EF4-FFF2-40B4-BE49-F238E27FC236}">
                <a16:creationId xmlns:a16="http://schemas.microsoft.com/office/drawing/2014/main" id="{0B59C64B-E11F-E28F-9C48-47C0A2954021}"/>
              </a:ext>
            </a:extLst>
          </p:cNvPr>
          <p:cNvSpPr txBox="1"/>
          <p:nvPr/>
        </p:nvSpPr>
        <p:spPr>
          <a:xfrm>
            <a:off x="7687028" y="4558176"/>
            <a:ext cx="1498921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Somma=A+B</a:t>
            </a:r>
          </a:p>
        </p:txBody>
      </p:sp>
      <p:sp>
        <p:nvSpPr>
          <p:cNvPr id="19" name="CasellaDiTesto 8">
            <a:extLst>
              <a:ext uri="{FF2B5EF4-FFF2-40B4-BE49-F238E27FC236}">
                <a16:creationId xmlns:a16="http://schemas.microsoft.com/office/drawing/2014/main" id="{A4C4AE3D-9CDD-F7C7-BBB8-A6E134A7DF59}"/>
              </a:ext>
            </a:extLst>
          </p:cNvPr>
          <p:cNvSpPr txBox="1"/>
          <p:nvPr/>
        </p:nvSpPr>
        <p:spPr>
          <a:xfrm>
            <a:off x="6925028" y="5077371"/>
            <a:ext cx="274319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Moltiplicazione=A*B</a:t>
            </a:r>
          </a:p>
        </p:txBody>
      </p:sp>
      <p:sp>
        <p:nvSpPr>
          <p:cNvPr id="21" name="CasellaDiTesto 9">
            <a:extLst>
              <a:ext uri="{FF2B5EF4-FFF2-40B4-BE49-F238E27FC236}">
                <a16:creationId xmlns:a16="http://schemas.microsoft.com/office/drawing/2014/main" id="{7D0D6DD7-E5A1-B0E9-9EA5-45688056CA8C}"/>
              </a:ext>
            </a:extLst>
          </p:cNvPr>
          <p:cNvSpPr txBox="1"/>
          <p:nvPr/>
        </p:nvSpPr>
        <p:spPr>
          <a:xfrm>
            <a:off x="1914452" y="3047871"/>
            <a:ext cx="274319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Indirizzi relativi</a:t>
            </a:r>
          </a:p>
        </p:txBody>
      </p:sp>
      <p:sp>
        <p:nvSpPr>
          <p:cNvPr id="23" name="CasellaDiTesto 10">
            <a:extLst>
              <a:ext uri="{FF2B5EF4-FFF2-40B4-BE49-F238E27FC236}">
                <a16:creationId xmlns:a16="http://schemas.microsoft.com/office/drawing/2014/main" id="{BB3A00C7-C2C5-F89A-C7E6-14B6E3A94D97}"/>
              </a:ext>
            </a:extLst>
          </p:cNvPr>
          <p:cNvSpPr txBox="1"/>
          <p:nvPr/>
        </p:nvSpPr>
        <p:spPr>
          <a:xfrm>
            <a:off x="7807895" y="3047871"/>
            <a:ext cx="274319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Memoria fisica</a:t>
            </a:r>
          </a:p>
        </p:txBody>
      </p:sp>
      <p:sp>
        <p:nvSpPr>
          <p:cNvPr id="25" name="CasellaDiTesto 11">
            <a:extLst>
              <a:ext uri="{FF2B5EF4-FFF2-40B4-BE49-F238E27FC236}">
                <a16:creationId xmlns:a16="http://schemas.microsoft.com/office/drawing/2014/main" id="{99B21114-8DD6-148E-57B9-A637E52B0F92}"/>
              </a:ext>
            </a:extLst>
          </p:cNvPr>
          <p:cNvSpPr txBox="1"/>
          <p:nvPr/>
        </p:nvSpPr>
        <p:spPr>
          <a:xfrm>
            <a:off x="9312605" y="3414404"/>
            <a:ext cx="713771" cy="203132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#100</a:t>
            </a:r>
          </a:p>
          <a:p>
            <a:endParaRPr lang="it-IT" dirty="0"/>
          </a:p>
          <a:p>
            <a:r>
              <a:rPr lang="it-IT" dirty="0"/>
              <a:t>#101</a:t>
            </a:r>
          </a:p>
          <a:p>
            <a:endParaRPr lang="it-IT" dirty="0"/>
          </a:p>
          <a:p>
            <a:r>
              <a:rPr lang="it-IT"/>
              <a:t>#102</a:t>
            </a:r>
            <a:endParaRPr lang="it-IT" dirty="0"/>
          </a:p>
          <a:p>
            <a:endParaRPr lang="it-IT" dirty="0"/>
          </a:p>
          <a:p>
            <a:r>
              <a:rPr lang="it-IT" dirty="0"/>
              <a:t>#103</a:t>
            </a:r>
          </a:p>
        </p:txBody>
      </p:sp>
    </p:spTree>
    <p:extLst>
      <p:ext uri="{BB962C8B-B14F-4D97-AF65-F5344CB8AC3E}">
        <p14:creationId xmlns:p14="http://schemas.microsoft.com/office/powerpoint/2010/main" val="4015711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olo 1">
            <a:extLst>
              <a:ext uri="{FF2B5EF4-FFF2-40B4-BE49-F238E27FC236}">
                <a16:creationId xmlns:a16="http://schemas.microsoft.com/office/drawing/2014/main" id="{45EF23B7-E42C-CDAD-CE04-DF4A6A1203F7}"/>
              </a:ext>
            </a:extLst>
          </p:cNvPr>
          <p:cNvSpPr>
            <a:spLocks noGrp="1"/>
          </p:cNvSpPr>
          <p:nvPr/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800" kern="1200" cap="all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it-IT" b="1" dirty="0">
                <a:ea typeface="Batang"/>
              </a:rPr>
              <a:t>Rilocazione dinamica</a:t>
            </a:r>
            <a:endParaRPr lang="it-IT" b="1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0CF10391-5D4E-3999-8FB1-17F6128BFF02}"/>
              </a:ext>
            </a:extLst>
          </p:cNvPr>
          <p:cNvSpPr>
            <a:spLocks noGrp="1"/>
          </p:cNvSpPr>
          <p:nvPr/>
        </p:nvSpPr>
        <p:spPr>
          <a:xfrm>
            <a:off x="1050879" y="1825624"/>
            <a:ext cx="2314651" cy="4061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b="1" err="1">
                <a:ea typeface="Batang"/>
              </a:rPr>
              <a:t>Inidirizzi</a:t>
            </a:r>
            <a:r>
              <a:rPr lang="it-IT" sz="1800" b="1" dirty="0">
                <a:ea typeface="Batang"/>
              </a:rPr>
              <a:t> relativi</a:t>
            </a:r>
            <a:endParaRPr lang="it-IT" sz="1800" dirty="0"/>
          </a:p>
        </p:txBody>
      </p:sp>
      <p:sp>
        <p:nvSpPr>
          <p:cNvPr id="18" name="CasellaDiTesto 3">
            <a:extLst>
              <a:ext uri="{FF2B5EF4-FFF2-40B4-BE49-F238E27FC236}">
                <a16:creationId xmlns:a16="http://schemas.microsoft.com/office/drawing/2014/main" id="{819834C2-1544-6933-DBBD-4FE2F734AB9A}"/>
              </a:ext>
            </a:extLst>
          </p:cNvPr>
          <p:cNvSpPr txBox="1"/>
          <p:nvPr/>
        </p:nvSpPr>
        <p:spPr>
          <a:xfrm>
            <a:off x="6093644" y="1825143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Memoria fisica</a:t>
            </a:r>
          </a:p>
        </p:txBody>
      </p:sp>
      <p:sp>
        <p:nvSpPr>
          <p:cNvPr id="19" name="CasellaDiTesto 5">
            <a:extLst>
              <a:ext uri="{FF2B5EF4-FFF2-40B4-BE49-F238E27FC236}">
                <a16:creationId xmlns:a16="http://schemas.microsoft.com/office/drawing/2014/main" id="{C71516A5-085A-FD52-2559-0F65E747D116}"/>
              </a:ext>
            </a:extLst>
          </p:cNvPr>
          <p:cNvSpPr txBox="1"/>
          <p:nvPr/>
        </p:nvSpPr>
        <p:spPr>
          <a:xfrm>
            <a:off x="1052488" y="2360360"/>
            <a:ext cx="625548" cy="224676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0</a:t>
            </a:r>
          </a:p>
          <a:p>
            <a:endParaRPr lang="it-IT" sz="2000" dirty="0"/>
          </a:p>
          <a:p>
            <a:r>
              <a:rPr lang="it-IT" sz="2000" dirty="0"/>
              <a:t>1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2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3</a:t>
            </a:r>
            <a:endParaRPr lang="it-IT" dirty="0"/>
          </a:p>
        </p:txBody>
      </p:sp>
      <p:sp>
        <p:nvSpPr>
          <p:cNvPr id="20" name="CasellaDiTesto 7">
            <a:extLst>
              <a:ext uri="{FF2B5EF4-FFF2-40B4-BE49-F238E27FC236}">
                <a16:creationId xmlns:a16="http://schemas.microsoft.com/office/drawing/2014/main" id="{1AB6722F-6812-04EB-6E81-8DD0B65136F3}"/>
              </a:ext>
            </a:extLst>
          </p:cNvPr>
          <p:cNvSpPr txBox="1"/>
          <p:nvPr/>
        </p:nvSpPr>
        <p:spPr>
          <a:xfrm>
            <a:off x="1672273" y="2364509"/>
            <a:ext cx="696433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A=5;</a:t>
            </a:r>
          </a:p>
        </p:txBody>
      </p:sp>
      <p:sp>
        <p:nvSpPr>
          <p:cNvPr id="21" name="CasellaDiTesto 8">
            <a:extLst>
              <a:ext uri="{FF2B5EF4-FFF2-40B4-BE49-F238E27FC236}">
                <a16:creationId xmlns:a16="http://schemas.microsoft.com/office/drawing/2014/main" id="{B06A54C1-BEC2-376F-1F73-52CD04F9392E}"/>
              </a:ext>
            </a:extLst>
          </p:cNvPr>
          <p:cNvSpPr txBox="1"/>
          <p:nvPr/>
        </p:nvSpPr>
        <p:spPr>
          <a:xfrm>
            <a:off x="1673731" y="3060226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B=7;</a:t>
            </a:r>
          </a:p>
        </p:txBody>
      </p:sp>
      <p:sp>
        <p:nvSpPr>
          <p:cNvPr id="22" name="CasellaDiTesto 9">
            <a:extLst>
              <a:ext uri="{FF2B5EF4-FFF2-40B4-BE49-F238E27FC236}">
                <a16:creationId xmlns:a16="http://schemas.microsoft.com/office/drawing/2014/main" id="{439FC661-D959-4777-D17F-E1D21C713909}"/>
              </a:ext>
            </a:extLst>
          </p:cNvPr>
          <p:cNvSpPr txBox="1"/>
          <p:nvPr/>
        </p:nvSpPr>
        <p:spPr>
          <a:xfrm>
            <a:off x="1672272" y="3612826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Somma=A+B;</a:t>
            </a:r>
          </a:p>
        </p:txBody>
      </p:sp>
      <p:sp>
        <p:nvSpPr>
          <p:cNvPr id="23" name="CasellaDiTesto 10">
            <a:extLst>
              <a:ext uri="{FF2B5EF4-FFF2-40B4-BE49-F238E27FC236}">
                <a16:creationId xmlns:a16="http://schemas.microsoft.com/office/drawing/2014/main" id="{18B042DD-8B5A-D3E8-44B8-005942AA59C7}"/>
              </a:ext>
            </a:extLst>
          </p:cNvPr>
          <p:cNvSpPr txBox="1"/>
          <p:nvPr/>
        </p:nvSpPr>
        <p:spPr>
          <a:xfrm>
            <a:off x="1585462" y="4244948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Moltiplicazione=A*B;</a:t>
            </a:r>
          </a:p>
        </p:txBody>
      </p:sp>
      <p:sp>
        <p:nvSpPr>
          <p:cNvPr id="24" name="CasellaDiTesto 12">
            <a:extLst>
              <a:ext uri="{FF2B5EF4-FFF2-40B4-BE49-F238E27FC236}">
                <a16:creationId xmlns:a16="http://schemas.microsoft.com/office/drawing/2014/main" id="{3215EFBD-EDBA-3E73-0FF1-F5C96A6807E9}"/>
              </a:ext>
            </a:extLst>
          </p:cNvPr>
          <p:cNvSpPr txBox="1"/>
          <p:nvPr/>
        </p:nvSpPr>
        <p:spPr>
          <a:xfrm>
            <a:off x="7778030" y="2235192"/>
            <a:ext cx="2743200" cy="31393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#234</a:t>
            </a:r>
          </a:p>
          <a:p>
            <a:endParaRPr lang="it-IT" dirty="0"/>
          </a:p>
          <a:p>
            <a:r>
              <a:rPr lang="it-IT" dirty="0"/>
              <a:t>#235</a:t>
            </a:r>
          </a:p>
          <a:p>
            <a:endParaRPr lang="it-IT" dirty="0"/>
          </a:p>
          <a:p>
            <a:r>
              <a:rPr lang="it-IT" dirty="0"/>
              <a:t>#236</a:t>
            </a:r>
          </a:p>
          <a:p>
            <a:endParaRPr lang="it-IT" dirty="0"/>
          </a:p>
          <a:p>
            <a:r>
              <a:rPr lang="it-IT"/>
              <a:t>#237</a:t>
            </a:r>
          </a:p>
          <a:p>
            <a:endParaRPr lang="it-IT" dirty="0"/>
          </a:p>
          <a:p>
            <a:r>
              <a:rPr lang="it-IT" dirty="0"/>
              <a:t>#238</a:t>
            </a:r>
          </a:p>
          <a:p>
            <a:endParaRPr lang="it-IT" dirty="0"/>
          </a:p>
          <a:p>
            <a:r>
              <a:rPr lang="it-IT" dirty="0"/>
              <a:t>#239</a:t>
            </a:r>
          </a:p>
        </p:txBody>
      </p:sp>
      <p:sp>
        <p:nvSpPr>
          <p:cNvPr id="25" name="CasellaDiTesto 13">
            <a:extLst>
              <a:ext uri="{FF2B5EF4-FFF2-40B4-BE49-F238E27FC236}">
                <a16:creationId xmlns:a16="http://schemas.microsoft.com/office/drawing/2014/main" id="{DDD5B22D-B02C-0F18-29B9-71342CF5FDEF}"/>
              </a:ext>
            </a:extLst>
          </p:cNvPr>
          <p:cNvSpPr txBox="1"/>
          <p:nvPr/>
        </p:nvSpPr>
        <p:spPr>
          <a:xfrm>
            <a:off x="6385943" y="2222492"/>
            <a:ext cx="116757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occupata</a:t>
            </a:r>
          </a:p>
        </p:txBody>
      </p:sp>
      <p:sp>
        <p:nvSpPr>
          <p:cNvPr id="26" name="CasellaDiTesto 14">
            <a:extLst>
              <a:ext uri="{FF2B5EF4-FFF2-40B4-BE49-F238E27FC236}">
                <a16:creationId xmlns:a16="http://schemas.microsoft.com/office/drawing/2014/main" id="{E9203E21-F27E-1BC9-1A6D-77E4FEDF40A7}"/>
              </a:ext>
            </a:extLst>
          </p:cNvPr>
          <p:cNvSpPr txBox="1"/>
          <p:nvPr/>
        </p:nvSpPr>
        <p:spPr>
          <a:xfrm>
            <a:off x="6336305" y="5004299"/>
            <a:ext cx="113733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occupata</a:t>
            </a:r>
          </a:p>
        </p:txBody>
      </p:sp>
      <p:cxnSp>
        <p:nvCxnSpPr>
          <p:cNvPr id="27" name="Straight Arrow Connector 11">
            <a:extLst>
              <a:ext uri="{FF2B5EF4-FFF2-40B4-BE49-F238E27FC236}">
                <a16:creationId xmlns:a16="http://schemas.microsoft.com/office/drawing/2014/main" id="{DCAFA517-0DAD-6AB7-36F4-8CD0BB649C5F}"/>
              </a:ext>
            </a:extLst>
          </p:cNvPr>
          <p:cNvCxnSpPr/>
          <p:nvPr/>
        </p:nvCxnSpPr>
        <p:spPr>
          <a:xfrm flipH="1">
            <a:off x="8440730" y="2956560"/>
            <a:ext cx="1129990" cy="3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16">
            <a:extLst>
              <a:ext uri="{FF2B5EF4-FFF2-40B4-BE49-F238E27FC236}">
                <a16:creationId xmlns:a16="http://schemas.microsoft.com/office/drawing/2014/main" id="{4C4C1EB4-59D7-9989-8FEF-BF804A9B1B03}"/>
              </a:ext>
            </a:extLst>
          </p:cNvPr>
          <p:cNvCxnSpPr>
            <a:cxnSpLocks/>
          </p:cNvCxnSpPr>
          <p:nvPr/>
        </p:nvCxnSpPr>
        <p:spPr>
          <a:xfrm flipH="1">
            <a:off x="8580120" y="4657121"/>
            <a:ext cx="1129990" cy="3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C64100-1225-7C7F-03B8-35B5CEAF4F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es-ES" smtClean="0"/>
              <a:pPr rtl="0"/>
              <a:t>9</a:t>
            </a:fld>
            <a:endParaRPr lang="es-ES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03B58514-12B9-072A-D8C8-7B126E4070D0}"/>
              </a:ext>
            </a:extLst>
          </p:cNvPr>
          <p:cNvSpPr>
            <a:spLocks noGrp="1"/>
          </p:cNvSpPr>
          <p:nvPr/>
        </p:nvSpPr>
        <p:spPr>
          <a:xfrm>
            <a:off x="1050879" y="609601"/>
            <a:ext cx="9810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800" kern="1200" cap="all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it-IT" b="1" dirty="0">
                <a:ea typeface="Batang"/>
              </a:rPr>
              <a:t>Rilocazione dinamica</a:t>
            </a:r>
            <a:endParaRPr lang="it-IT" b="1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0331D11A-A28D-2D76-18B6-41AF7A59BB24}"/>
              </a:ext>
            </a:extLst>
          </p:cNvPr>
          <p:cNvSpPr>
            <a:spLocks noGrp="1"/>
          </p:cNvSpPr>
          <p:nvPr/>
        </p:nvSpPr>
        <p:spPr>
          <a:xfrm>
            <a:off x="1050879" y="1825624"/>
            <a:ext cx="2314651" cy="4061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800" b="1" err="1">
                <a:ea typeface="Batang"/>
              </a:rPr>
              <a:t>Inidirizzi</a:t>
            </a:r>
            <a:r>
              <a:rPr lang="it-IT" sz="1800" b="1" dirty="0">
                <a:ea typeface="Batang"/>
              </a:rPr>
              <a:t> relativi</a:t>
            </a:r>
            <a:endParaRPr lang="it-IT" sz="1800" dirty="0"/>
          </a:p>
        </p:txBody>
      </p:sp>
      <p:sp>
        <p:nvSpPr>
          <p:cNvPr id="10" name="CasellaDiTesto 3">
            <a:extLst>
              <a:ext uri="{FF2B5EF4-FFF2-40B4-BE49-F238E27FC236}">
                <a16:creationId xmlns:a16="http://schemas.microsoft.com/office/drawing/2014/main" id="{7653E7A1-2610-4DEA-D006-36EB1AF1795C}"/>
              </a:ext>
            </a:extLst>
          </p:cNvPr>
          <p:cNvSpPr txBox="1"/>
          <p:nvPr/>
        </p:nvSpPr>
        <p:spPr>
          <a:xfrm>
            <a:off x="6093644" y="1825143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Memoria fisica</a:t>
            </a:r>
          </a:p>
        </p:txBody>
      </p:sp>
      <p:sp>
        <p:nvSpPr>
          <p:cNvPr id="11" name="CasellaDiTesto 5">
            <a:extLst>
              <a:ext uri="{FF2B5EF4-FFF2-40B4-BE49-F238E27FC236}">
                <a16:creationId xmlns:a16="http://schemas.microsoft.com/office/drawing/2014/main" id="{C4240857-0CFD-D932-09D2-78C6C813A29C}"/>
              </a:ext>
            </a:extLst>
          </p:cNvPr>
          <p:cNvSpPr txBox="1"/>
          <p:nvPr/>
        </p:nvSpPr>
        <p:spPr>
          <a:xfrm>
            <a:off x="1052488" y="2360360"/>
            <a:ext cx="625548" cy="224676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0</a:t>
            </a:r>
          </a:p>
          <a:p>
            <a:endParaRPr lang="it-IT" sz="2000" dirty="0"/>
          </a:p>
          <a:p>
            <a:r>
              <a:rPr lang="it-IT" sz="2000" dirty="0"/>
              <a:t>1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2</a:t>
            </a:r>
            <a:endParaRPr lang="it-IT" dirty="0"/>
          </a:p>
          <a:p>
            <a:endParaRPr lang="it-IT" sz="2000" dirty="0"/>
          </a:p>
          <a:p>
            <a:r>
              <a:rPr lang="it-IT" sz="2000" dirty="0"/>
              <a:t>3</a:t>
            </a:r>
            <a:endParaRPr lang="it-IT" dirty="0"/>
          </a:p>
        </p:txBody>
      </p:sp>
      <p:sp>
        <p:nvSpPr>
          <p:cNvPr id="12" name="CasellaDiTesto 7">
            <a:extLst>
              <a:ext uri="{FF2B5EF4-FFF2-40B4-BE49-F238E27FC236}">
                <a16:creationId xmlns:a16="http://schemas.microsoft.com/office/drawing/2014/main" id="{48652163-C4F4-103E-9FFB-A6996E1A9A35}"/>
              </a:ext>
            </a:extLst>
          </p:cNvPr>
          <p:cNvSpPr txBox="1"/>
          <p:nvPr/>
        </p:nvSpPr>
        <p:spPr>
          <a:xfrm>
            <a:off x="6764663" y="2726924"/>
            <a:ext cx="696433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A=5;</a:t>
            </a:r>
          </a:p>
        </p:txBody>
      </p:sp>
      <p:sp>
        <p:nvSpPr>
          <p:cNvPr id="13" name="CasellaDiTesto 8">
            <a:extLst>
              <a:ext uri="{FF2B5EF4-FFF2-40B4-BE49-F238E27FC236}">
                <a16:creationId xmlns:a16="http://schemas.microsoft.com/office/drawing/2014/main" id="{907922D8-E9BE-B07F-F770-2441CBD35BCB}"/>
              </a:ext>
            </a:extLst>
          </p:cNvPr>
          <p:cNvSpPr txBox="1"/>
          <p:nvPr/>
        </p:nvSpPr>
        <p:spPr>
          <a:xfrm>
            <a:off x="6766121" y="3301836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B=7;</a:t>
            </a:r>
          </a:p>
        </p:txBody>
      </p:sp>
      <p:sp>
        <p:nvSpPr>
          <p:cNvPr id="14" name="CasellaDiTesto 9">
            <a:extLst>
              <a:ext uri="{FF2B5EF4-FFF2-40B4-BE49-F238E27FC236}">
                <a16:creationId xmlns:a16="http://schemas.microsoft.com/office/drawing/2014/main" id="{45531F5F-D535-86CF-58B6-6D0860E72F77}"/>
              </a:ext>
            </a:extLst>
          </p:cNvPr>
          <p:cNvSpPr txBox="1"/>
          <p:nvPr/>
        </p:nvSpPr>
        <p:spPr>
          <a:xfrm>
            <a:off x="6262857" y="3882314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Somma=A+B;</a:t>
            </a:r>
          </a:p>
        </p:txBody>
      </p:sp>
      <p:sp>
        <p:nvSpPr>
          <p:cNvPr id="15" name="CasellaDiTesto 10">
            <a:extLst>
              <a:ext uri="{FF2B5EF4-FFF2-40B4-BE49-F238E27FC236}">
                <a16:creationId xmlns:a16="http://schemas.microsoft.com/office/drawing/2014/main" id="{7B5A8CB7-86BE-1E20-E8A2-7E37EAC90CB9}"/>
              </a:ext>
            </a:extLst>
          </p:cNvPr>
          <p:cNvSpPr txBox="1"/>
          <p:nvPr/>
        </p:nvSpPr>
        <p:spPr>
          <a:xfrm>
            <a:off x="5581316" y="4430802"/>
            <a:ext cx="2743200" cy="365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Moltiplicazione=A*B;</a:t>
            </a:r>
          </a:p>
        </p:txBody>
      </p:sp>
      <p:sp>
        <p:nvSpPr>
          <p:cNvPr id="16" name="CasellaDiTesto 12">
            <a:extLst>
              <a:ext uri="{FF2B5EF4-FFF2-40B4-BE49-F238E27FC236}">
                <a16:creationId xmlns:a16="http://schemas.microsoft.com/office/drawing/2014/main" id="{9E798760-C208-C4E2-A11C-F40C77A2A37D}"/>
              </a:ext>
            </a:extLst>
          </p:cNvPr>
          <p:cNvSpPr txBox="1"/>
          <p:nvPr/>
        </p:nvSpPr>
        <p:spPr>
          <a:xfrm>
            <a:off x="7778030" y="2235192"/>
            <a:ext cx="2743200" cy="31393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#234</a:t>
            </a:r>
          </a:p>
          <a:p>
            <a:endParaRPr lang="it-IT" dirty="0"/>
          </a:p>
          <a:p>
            <a:r>
              <a:rPr lang="it-IT" dirty="0"/>
              <a:t>#235</a:t>
            </a:r>
          </a:p>
          <a:p>
            <a:endParaRPr lang="it-IT" dirty="0"/>
          </a:p>
          <a:p>
            <a:r>
              <a:rPr lang="it-IT" dirty="0"/>
              <a:t>#236</a:t>
            </a:r>
          </a:p>
          <a:p>
            <a:endParaRPr lang="it-IT" dirty="0"/>
          </a:p>
          <a:p>
            <a:r>
              <a:rPr lang="it-IT"/>
              <a:t>#237</a:t>
            </a:r>
          </a:p>
          <a:p>
            <a:endParaRPr lang="it-IT" dirty="0"/>
          </a:p>
          <a:p>
            <a:r>
              <a:rPr lang="it-IT" dirty="0"/>
              <a:t>#238</a:t>
            </a:r>
          </a:p>
          <a:p>
            <a:endParaRPr lang="it-IT" dirty="0"/>
          </a:p>
          <a:p>
            <a:r>
              <a:rPr lang="it-IT" dirty="0"/>
              <a:t>#239</a:t>
            </a:r>
          </a:p>
        </p:txBody>
      </p:sp>
      <p:sp>
        <p:nvSpPr>
          <p:cNvPr id="17" name="CasellaDiTesto 13">
            <a:extLst>
              <a:ext uri="{FF2B5EF4-FFF2-40B4-BE49-F238E27FC236}">
                <a16:creationId xmlns:a16="http://schemas.microsoft.com/office/drawing/2014/main" id="{F6B24182-1988-14F2-744E-03C285530AF2}"/>
              </a:ext>
            </a:extLst>
          </p:cNvPr>
          <p:cNvSpPr txBox="1"/>
          <p:nvPr/>
        </p:nvSpPr>
        <p:spPr>
          <a:xfrm>
            <a:off x="6374655" y="2220234"/>
            <a:ext cx="118036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occupata</a:t>
            </a:r>
          </a:p>
        </p:txBody>
      </p:sp>
      <p:sp>
        <p:nvSpPr>
          <p:cNvPr id="18" name="CasellaDiTesto 14">
            <a:extLst>
              <a:ext uri="{FF2B5EF4-FFF2-40B4-BE49-F238E27FC236}">
                <a16:creationId xmlns:a16="http://schemas.microsoft.com/office/drawing/2014/main" id="{939DD188-82AC-8D68-04C1-AD9B46A8D0CB}"/>
              </a:ext>
            </a:extLst>
          </p:cNvPr>
          <p:cNvSpPr txBox="1"/>
          <p:nvPr/>
        </p:nvSpPr>
        <p:spPr>
          <a:xfrm>
            <a:off x="6481555" y="5004300"/>
            <a:ext cx="11471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occupata</a:t>
            </a:r>
          </a:p>
        </p:txBody>
      </p:sp>
      <p:cxnSp>
        <p:nvCxnSpPr>
          <p:cNvPr id="19" name="Straight Arrow Connector 11">
            <a:extLst>
              <a:ext uri="{FF2B5EF4-FFF2-40B4-BE49-F238E27FC236}">
                <a16:creationId xmlns:a16="http://schemas.microsoft.com/office/drawing/2014/main" id="{83774B08-24BB-316E-7127-E846DCE8DC94}"/>
              </a:ext>
            </a:extLst>
          </p:cNvPr>
          <p:cNvCxnSpPr/>
          <p:nvPr/>
        </p:nvCxnSpPr>
        <p:spPr>
          <a:xfrm flipH="1">
            <a:off x="8440730" y="2956560"/>
            <a:ext cx="1129990" cy="3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6">
            <a:extLst>
              <a:ext uri="{FF2B5EF4-FFF2-40B4-BE49-F238E27FC236}">
                <a16:creationId xmlns:a16="http://schemas.microsoft.com/office/drawing/2014/main" id="{DB806406-1469-D785-15A6-49BE03608E64}"/>
              </a:ext>
            </a:extLst>
          </p:cNvPr>
          <p:cNvCxnSpPr>
            <a:cxnSpLocks/>
          </p:cNvCxnSpPr>
          <p:nvPr/>
        </p:nvCxnSpPr>
        <p:spPr>
          <a:xfrm flipH="1">
            <a:off x="8580120" y="4657121"/>
            <a:ext cx="1129990" cy="3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444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7DD3F8C7-6330-E54D-5A4B-038E8BF0C5D7}"/>
              </a:ext>
            </a:extLst>
          </p:cNvPr>
          <p:cNvSpPr>
            <a:spLocks noGrp="1"/>
          </p:cNvSpPr>
          <p:nvPr/>
        </p:nvSpPr>
        <p:spPr>
          <a:xfrm>
            <a:off x="1050879" y="609601"/>
            <a:ext cx="6967181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800" kern="1200" cap="all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it-IT" b="1" dirty="0">
                <a:ea typeface="Batang"/>
              </a:rPr>
              <a:t>BINDING e linking</a:t>
            </a:r>
            <a:endParaRPr lang="it-IT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C405E2F-B5AD-094B-7382-F364C508BA83}"/>
              </a:ext>
            </a:extLst>
          </p:cNvPr>
          <p:cNvSpPr txBox="1"/>
          <p:nvPr/>
        </p:nvSpPr>
        <p:spPr>
          <a:xfrm>
            <a:off x="319851" y="2977444"/>
            <a:ext cx="9539111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it-IT" sz="3200" b="1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Binding</a:t>
            </a:r>
            <a:r>
              <a:rPr lang="it-IT" sz="32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: passaggio dall'indirizzo logico a quello fisico;</a:t>
            </a:r>
            <a:r>
              <a:rPr lang="en-US" sz="32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</a:p>
          <a:p>
            <a:pPr algn="l" rtl="0"/>
            <a:r>
              <a:rPr lang="it-IT" sz="32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Nella compilazione;</a:t>
            </a:r>
            <a:r>
              <a:rPr lang="en-US" sz="32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</a:p>
          <a:p>
            <a:pPr algn="l" rtl="0"/>
            <a:r>
              <a:rPr lang="it-IT" sz="32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Nel caricamento in rilocazione statica;</a:t>
            </a:r>
            <a:r>
              <a:rPr lang="it-IT" sz="32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</a:p>
          <a:p>
            <a:pPr algn="l" rtl="0"/>
            <a:r>
              <a:rPr lang="it-IT" sz="32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Nell’esecuzione in rilocazione dinamica;</a:t>
            </a:r>
            <a:r>
              <a:rPr lang="it-IT" sz="32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endParaRPr lang="it-IT" sz="32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lvl="0" indent="-228600" algn="l" rtl="0">
              <a:buFont typeface=""/>
              <a:buChar char="•"/>
            </a:pPr>
            <a:r>
              <a:rPr lang="it-IT" sz="3200" b="1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Linking</a:t>
            </a:r>
            <a:r>
              <a:rPr lang="it-IT" sz="32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: calcolo degli indirizzi logici;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F1A89-FAF2-F7C7-D01D-10D4E6F8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9041EA-AF5A-E48C-EC55-508E2CC6AFDF}"/>
              </a:ext>
            </a:extLst>
          </p:cNvPr>
          <p:cNvSpPr txBox="1"/>
          <p:nvPr/>
        </p:nvSpPr>
        <p:spPr>
          <a:xfrm>
            <a:off x="3048000" y="371593"/>
            <a:ext cx="6096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b="1" i="0" u="none" strike="noStrike" cap="all" baseline="0" dirty="0">
                <a:solidFill>
                  <a:srgbClr val="262626"/>
                </a:solidFill>
                <a:latin typeface="Bembo"/>
              </a:rPr>
              <a:t>tecniche per ottimizzare </a:t>
            </a:r>
            <a:r>
              <a:rPr lang="it-IT" sz="2400" b="1" i="0" u="none" strike="noStrike" cap="all" baseline="0">
                <a:solidFill>
                  <a:srgbClr val="262626"/>
                </a:solidFill>
                <a:latin typeface="Bembo"/>
              </a:rPr>
              <a:t>l'utilizzo della memoria?</a:t>
            </a:r>
            <a:endParaRPr lang="es-ES" sz="2400">
              <a:latin typeface="Bembo"/>
            </a:endParaRPr>
          </a:p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56A6CE6-7E58-66DB-B52E-5579C84F1330}"/>
              </a:ext>
            </a:extLst>
          </p:cNvPr>
          <p:cNvSpPr txBox="1"/>
          <p:nvPr/>
        </p:nvSpPr>
        <p:spPr>
          <a:xfrm>
            <a:off x="2831630" y="1622778"/>
            <a:ext cx="934155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it-IT" sz="3200" b="1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Swapping</a:t>
            </a:r>
            <a:r>
              <a:rPr lang="it-IT" sz="32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 che si compone di 4 fasi:</a:t>
            </a:r>
            <a:r>
              <a:rPr lang="it-IT" sz="32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</a:p>
          <a:p>
            <a:pPr algn="l" rtl="0"/>
            <a:r>
              <a:rPr lang="it-IT" sz="32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Identificare, salvare sulla memoria temporanea, lo scaricamento e il caricamento;</a:t>
            </a:r>
            <a:r>
              <a:rPr lang="it-IT" sz="32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endParaRPr lang="it-IT" sz="32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lvl="0" indent="-228600" algn="l" rtl="0">
              <a:buFont typeface=""/>
              <a:buChar char="•"/>
            </a:pPr>
            <a:r>
              <a:rPr lang="it-IT" sz="3200" b="1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Caricamento dinamico;</a:t>
            </a:r>
            <a:r>
              <a:rPr lang="it-IT" sz="32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endParaRPr lang="it-IT" sz="32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lvl="0" indent="-228600" algn="l" rtl="0">
              <a:buFont typeface=""/>
              <a:buChar char="•"/>
            </a:pPr>
            <a:r>
              <a:rPr lang="it-IT" sz="3200" b="1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Overlay;</a:t>
            </a:r>
            <a:r>
              <a:rPr lang="it-IT" sz="32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endParaRPr lang="it-IT" sz="3200" b="0" i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lvl="0" indent="-228600" algn="l" rtl="0">
              <a:buFont typeface=""/>
              <a:buChar char="•"/>
            </a:pPr>
            <a:r>
              <a:rPr lang="it-IT" sz="3200" b="1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Partizionamento;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86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FBE9D2-8580-1DCD-0042-E2F34349D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es-ES" smtClean="0"/>
              <a:pPr rtl="0"/>
              <a:t>12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3F3BD8-3CA4-C1D8-F82A-CE155CA550C6}"/>
              </a:ext>
            </a:extLst>
          </p:cNvPr>
          <p:cNvSpPr txBox="1"/>
          <p:nvPr/>
        </p:nvSpPr>
        <p:spPr>
          <a:xfrm>
            <a:off x="1119481" y="277519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b="1" i="0" u="none" strike="noStrike" cap="all" baseline="0">
                <a:solidFill>
                  <a:srgbClr val="262626"/>
                </a:solidFill>
                <a:latin typeface="Bembo"/>
              </a:rPr>
              <a:t>Tecniche di allocazione della memoria centrale</a:t>
            </a:r>
            <a:r>
              <a:rPr sz="2200" b="0" i="0">
                <a:solidFill>
                  <a:srgbClr val="000000"/>
                </a:solidFill>
                <a:latin typeface="Bembo"/>
                <a:ea typeface="Bembo"/>
                <a:cs typeface="Bembo"/>
              </a:rPr>
              <a:t>​</a:t>
            </a:r>
            <a:endParaRPr lang="es-ES"/>
          </a:p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36CB84-314F-EEEE-A56D-DC4239ED58A6}"/>
              </a:ext>
            </a:extLst>
          </p:cNvPr>
          <p:cNvSpPr txBox="1"/>
          <p:nvPr/>
        </p:nvSpPr>
        <p:spPr>
          <a:xfrm>
            <a:off x="837259" y="1321741"/>
            <a:ext cx="8043333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it-IT" sz="2800" b="1" i="0" u="none" strike="noStrike" baseline="0" dirty="0" err="1">
                <a:solidFill>
                  <a:srgbClr val="262626"/>
                </a:solidFill>
                <a:latin typeface="Bembo"/>
                <a:ea typeface="Arial"/>
                <a:cs typeface="Arial"/>
              </a:rPr>
              <a:t>Monoprogrammato</a:t>
            </a:r>
            <a:r>
              <a:rPr lang="it-IT" sz="2800" b="1" i="0" u="none" strike="noStrike" baseline="0" dirty="0">
                <a:solidFill>
                  <a:srgbClr val="262626"/>
                </a:solidFill>
                <a:latin typeface="Bembo"/>
                <a:ea typeface="Arial"/>
                <a:cs typeface="Arial"/>
              </a:rPr>
              <a:t>;</a:t>
            </a:r>
            <a:r>
              <a:rPr lang="it-IT" sz="2800" b="0" i="0" dirty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</a:p>
          <a:p>
            <a:pPr algn="l" rtl="0"/>
            <a:r>
              <a:rPr lang="it-IT" sz="28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allocazione contigua</a:t>
            </a:r>
            <a:r>
              <a:rPr lang="en-US" sz="28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  <a:endParaRPr lang="en-US" sz="2800" b="0" i="0" dirty="0">
              <a:solidFill>
                <a:srgbClr val="000000"/>
              </a:solidFill>
              <a:latin typeface="Bembo"/>
              <a:ea typeface="Arial"/>
              <a:cs typeface="Arial"/>
            </a:endParaRPr>
          </a:p>
          <a:p>
            <a:pPr algn="l" rtl="0"/>
            <a:r>
              <a:rPr lang="it-IT" sz="28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a partizione singola</a:t>
            </a:r>
            <a:r>
              <a:rPr lang="en-US" sz="28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  <a:endParaRPr lang="en-US" sz="2800" b="0" i="0" dirty="0">
              <a:solidFill>
                <a:srgbClr val="000000"/>
              </a:solidFill>
              <a:latin typeface="Bembo"/>
              <a:ea typeface="Arial"/>
              <a:cs typeface="Arial"/>
            </a:endParaRPr>
          </a:p>
          <a:p>
            <a:endParaRPr lang="en-US" sz="2800" dirty="0">
              <a:solidFill>
                <a:srgbClr val="000000"/>
              </a:solidFill>
              <a:latin typeface="Bembo"/>
              <a:ea typeface="Arial"/>
              <a:cs typeface="Arial"/>
            </a:endParaRPr>
          </a:p>
          <a:p>
            <a:pPr marL="228600" lvl="0" indent="-228600" algn="l" rtl="0">
              <a:buFont typeface=""/>
              <a:buChar char="•"/>
            </a:pPr>
            <a:r>
              <a:rPr lang="it-IT" sz="2800" b="1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Multiprogrammato;</a:t>
            </a:r>
            <a:r>
              <a:rPr lang="en-US" sz="28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</a:p>
          <a:p>
            <a:pPr algn="l" rtl="0"/>
            <a:r>
              <a:rPr lang="it-IT" sz="28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allocazione contigua</a:t>
            </a:r>
            <a:r>
              <a:rPr lang="en-US" sz="28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  <a:endParaRPr lang="en-US" sz="2800" b="0" i="0" dirty="0">
              <a:solidFill>
                <a:srgbClr val="000000"/>
              </a:solidFill>
              <a:latin typeface="Bembo"/>
              <a:ea typeface="Arial"/>
              <a:cs typeface="Arial"/>
            </a:endParaRPr>
          </a:p>
          <a:p>
            <a:pPr algn="l" rtl="0"/>
            <a:r>
              <a:rPr lang="it-IT" sz="28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- a partizioni fisse</a:t>
            </a:r>
            <a:r>
              <a:rPr lang="en-US" sz="28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  <a:endParaRPr lang="en-US" sz="2800" b="0" i="0" dirty="0">
              <a:solidFill>
                <a:srgbClr val="000000"/>
              </a:solidFill>
              <a:latin typeface="Bembo"/>
              <a:ea typeface="Arial"/>
              <a:cs typeface="Arial"/>
            </a:endParaRPr>
          </a:p>
          <a:p>
            <a:pPr algn="l" rtl="0"/>
            <a:r>
              <a:rPr lang="it-IT" sz="28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- a partizioni variabili</a:t>
            </a:r>
            <a:r>
              <a:rPr lang="en-US" sz="28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  <a:endParaRPr lang="en-US" sz="2800" b="0" i="0" dirty="0">
              <a:solidFill>
                <a:srgbClr val="000000"/>
              </a:solidFill>
              <a:latin typeface="Bembo"/>
              <a:ea typeface="Arial"/>
              <a:cs typeface="Arial"/>
            </a:endParaRPr>
          </a:p>
          <a:p>
            <a:pPr algn="l" rtl="0"/>
            <a:r>
              <a:rPr lang="it-IT" sz="28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allocazione non contigua</a:t>
            </a:r>
            <a:r>
              <a:rPr lang="en-US" sz="28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  <a:endParaRPr lang="en-US" sz="2800" b="0" i="0" dirty="0">
              <a:solidFill>
                <a:srgbClr val="000000"/>
              </a:solidFill>
              <a:latin typeface="Bembo"/>
              <a:ea typeface="Arial"/>
              <a:cs typeface="Arial"/>
            </a:endParaRPr>
          </a:p>
          <a:p>
            <a:pPr algn="l" rtl="0"/>
            <a:r>
              <a:rPr lang="it-IT" sz="28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-paginazione</a:t>
            </a:r>
            <a:r>
              <a:rPr lang="en-US" sz="28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  <a:endParaRPr lang="en-US" sz="2800" b="0" i="0" dirty="0">
              <a:solidFill>
                <a:srgbClr val="000000"/>
              </a:solidFill>
              <a:latin typeface="Bembo"/>
              <a:ea typeface="Arial"/>
              <a:cs typeface="Arial"/>
            </a:endParaRPr>
          </a:p>
          <a:p>
            <a:pPr algn="l" rtl="0"/>
            <a:r>
              <a:rPr lang="it-IT" sz="28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-segmentazione</a:t>
            </a:r>
            <a:r>
              <a:rPr lang="en-US" sz="2800" b="0" i="0">
                <a:solidFill>
                  <a:srgbClr val="000000"/>
                </a:solidFill>
                <a:latin typeface="Bembo"/>
                <a:ea typeface="Arial"/>
                <a:cs typeface="Arial"/>
              </a:rPr>
              <a:t>​</a:t>
            </a:r>
            <a:endParaRPr lang="en-US" sz="2800" b="0" i="0" dirty="0">
              <a:solidFill>
                <a:srgbClr val="000000"/>
              </a:solidFill>
              <a:latin typeface="Bembo"/>
              <a:ea typeface="Arial"/>
              <a:cs typeface="Arial"/>
            </a:endParaRPr>
          </a:p>
          <a:p>
            <a:pPr algn="l" rtl="0"/>
            <a:r>
              <a:rPr lang="it-IT" sz="2800" b="0" i="0" u="none" strike="noStrike" baseline="0">
                <a:solidFill>
                  <a:srgbClr val="262626"/>
                </a:solidFill>
                <a:latin typeface="Bembo"/>
                <a:ea typeface="Arial"/>
                <a:cs typeface="Arial"/>
              </a:rPr>
              <a:t>-segmentazione con paginazione.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453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4BCF00AB-BE0D-EF89-3B46-B061773BBCA3}"/>
              </a:ext>
            </a:extLst>
          </p:cNvPr>
          <p:cNvSpPr>
            <a:spLocks noGrp="1"/>
          </p:cNvSpPr>
          <p:nvPr/>
        </p:nvSpPr>
        <p:spPr>
          <a:xfrm>
            <a:off x="2574879" y="609601"/>
            <a:ext cx="8286604" cy="1216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800" kern="1200" cap="all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it-IT" b="1" dirty="0">
                <a:ea typeface="Batang"/>
              </a:rPr>
              <a:t>Partizionamento</a:t>
            </a:r>
            <a:endParaRPr lang="it-IT" b="1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999938EB-FC0E-E504-1129-F6650AA91E09}"/>
              </a:ext>
            </a:extLst>
          </p:cNvPr>
          <p:cNvSpPr>
            <a:spLocks noGrp="1"/>
          </p:cNvSpPr>
          <p:nvPr/>
        </p:nvSpPr>
        <p:spPr>
          <a:xfrm>
            <a:off x="2245620" y="1712902"/>
            <a:ext cx="7789467" cy="38460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it-IT" sz="2400">
                <a:ea typeface="Batang"/>
              </a:rPr>
              <a:t>Suddivide la memoria in partizioni.</a:t>
            </a:r>
            <a:endParaRPr lang="it-IT" sz="2400" dirty="0">
              <a:ea typeface="Batang"/>
            </a:endParaRPr>
          </a:p>
          <a:p>
            <a:pPr>
              <a:lnSpc>
                <a:spcPct val="90000"/>
              </a:lnSpc>
            </a:pPr>
            <a:endParaRPr lang="it-IT" sz="2400" b="1" dirty="0">
              <a:ea typeface="Batang"/>
            </a:endParaRPr>
          </a:p>
          <a:p>
            <a:pPr>
              <a:lnSpc>
                <a:spcPct val="90000"/>
              </a:lnSpc>
            </a:pPr>
            <a:r>
              <a:rPr lang="it-IT" sz="2400" b="1" dirty="0">
                <a:ea typeface="Batang"/>
              </a:rPr>
              <a:t>Schema a partizione fissa: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400">
                <a:ea typeface="Batang"/>
              </a:rPr>
              <a:t> Definita</a:t>
            </a:r>
            <a:r>
              <a:rPr lang="it-IT" sz="2400" dirty="0">
                <a:ea typeface="Batang"/>
              </a:rPr>
              <a:t> all'atto dell'inizializzazione del sistema.</a:t>
            </a:r>
          </a:p>
          <a:p>
            <a:pPr marL="0" indent="0">
              <a:lnSpc>
                <a:spcPct val="90000"/>
              </a:lnSpc>
              <a:buNone/>
            </a:pPr>
            <a:endParaRPr lang="it-IT" sz="2400" dirty="0">
              <a:ea typeface="Batang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it-IT" sz="2400" dirty="0">
                <a:ea typeface="Batang"/>
              </a:rPr>
              <a:t>Nella partizione fissa si possono verificare due problemi:</a:t>
            </a:r>
            <a:endParaRPr lang="it-IT" sz="2400"/>
          </a:p>
          <a:p>
            <a:pPr marL="0" indent="0">
              <a:lnSpc>
                <a:spcPct val="90000"/>
              </a:lnSpc>
              <a:buNone/>
            </a:pPr>
            <a:r>
              <a:rPr lang="it-IT" sz="2400" dirty="0">
                <a:ea typeface="Batang"/>
              </a:rPr>
              <a:t>-il problema della frammentazione interna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it-IT" sz="2400" dirty="0">
                <a:ea typeface="Batang"/>
              </a:rPr>
              <a:t>-il problema della frammentazione esterna</a:t>
            </a:r>
            <a:endParaRPr lang="it-IT" sz="2400"/>
          </a:p>
        </p:txBody>
      </p:sp>
    </p:spTree>
    <p:extLst>
      <p:ext uri="{BB962C8B-B14F-4D97-AF65-F5344CB8AC3E}">
        <p14:creationId xmlns:p14="http://schemas.microsoft.com/office/powerpoint/2010/main" val="248622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D2429B-DC65-39B6-5D2D-8E1F2B86A0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es-ES" smtClean="0"/>
              <a:pPr rtl="0"/>
              <a:t>14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1D6FE94-B104-227E-0EDD-7D40427D0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809" y="1709999"/>
            <a:ext cx="7192901" cy="380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0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ED1B0E-BDC0-503F-9063-CE3ACDAFDF1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rtl="0"/>
            <a:fld id="{A49DFD55-3C28-40EF-9E31-A92D2E4017FF}" type="slidenum">
              <a:rPr lang="es-ES" smtClean="0"/>
              <a:pPr rtl="0"/>
              <a:t>15</a:t>
            </a:fld>
            <a:endParaRPr lang="es-ES" dirty="0"/>
          </a:p>
        </p:txBody>
      </p:sp>
      <p:pic>
        <p:nvPicPr>
          <p:cNvPr id="9" name="Imagen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69A1677C-1641-865B-5303-2E8CE5DA8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05" y="1002259"/>
            <a:ext cx="7580862" cy="412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0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5200" y="1717336"/>
            <a:ext cx="8131810" cy="258137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n-US" sz="8000" dirty="0">
                <a:latin typeface="Bembo"/>
              </a:rPr>
              <a:t>Grazie per </a:t>
            </a:r>
            <a:r>
              <a:rPr lang="en-US" sz="8000" dirty="0" err="1">
                <a:latin typeface="Bembo"/>
              </a:rPr>
              <a:t>l'attenzione</a:t>
            </a:r>
            <a:endParaRPr lang="es-ES" sz="8000" dirty="0" err="1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A49DFD55-3C28-40EF-9E31-A92D2E4017FF}" type="slidenum">
              <a:rPr lang="es-ES" smtClean="0"/>
              <a:pPr rtl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7328976_win32_kb_V13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507</Words>
  <Application>Microsoft Office PowerPoint</Application>
  <PresentationFormat>Panorámica</PresentationFormat>
  <Paragraphs>137</Paragraphs>
  <Slides>16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Tema de Office</vt:lpstr>
      <vt:lpstr>GESTIONE DELLA MEMORIA</vt:lpstr>
      <vt:lpstr>INDICE</vt:lpstr>
      <vt:lpstr>Nastro Disco Memoria principale Cache Registri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Grazie per l'attenzione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208</cp:revision>
  <dcterms:created xsi:type="dcterms:W3CDTF">2026-03-18T20:46:35Z</dcterms:created>
  <dcterms:modified xsi:type="dcterms:W3CDTF">2026-03-26T00:28:00Z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