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8FB3EC-70FA-4B27-A657-39A3DB1BD43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70DD12-F543-4C66-BF55-096AFC7EBE1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765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9035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67346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2077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433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5260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3328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2053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9325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759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6128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491856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646225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52679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6313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2931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55322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3421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F947B92-4660-44CC-AB92-721E670DCC2A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4DB9C-D66A-4E0C-8F3A-54C71DDF282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68491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F99457-3391-783B-925F-590406F49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64936"/>
            <a:ext cx="9144000" cy="928128"/>
          </a:xfrm>
        </p:spPr>
        <p:txBody>
          <a:bodyPr/>
          <a:lstStyle/>
          <a:p>
            <a:r>
              <a:rPr lang="it-IT" sz="5400" dirty="0"/>
              <a:t>La gestione della memoria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8A2D8B1-77FD-9345-1CC0-CFD4E146A143}"/>
              </a:ext>
            </a:extLst>
          </p:cNvPr>
          <p:cNvSpPr txBox="1"/>
          <p:nvPr/>
        </p:nvSpPr>
        <p:spPr>
          <a:xfrm>
            <a:off x="451128" y="6180275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Pietro Antonio Caruso 3I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A4FD345-B46A-1D1A-C58A-9652416D4777}"/>
              </a:ext>
            </a:extLst>
          </p:cNvPr>
          <p:cNvSpPr txBox="1"/>
          <p:nvPr/>
        </p:nvSpPr>
        <p:spPr>
          <a:xfrm>
            <a:off x="10425953" y="6180275"/>
            <a:ext cx="1604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3B67599B-C53C-4B56-B676-718AD4C02726}" type="datetime1">
              <a:rPr lang="it-IT" smtClean="0"/>
              <a:t>15/02/2026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67406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521FA1-F493-07EC-C11B-7C7F88A88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Sommario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1F1B24-14F1-3E2B-717E-5ABC293F4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Memoria centrale</a:t>
            </a:r>
          </a:p>
          <a:p>
            <a:r>
              <a:rPr lang="it-IT" dirty="0"/>
              <a:t>Tipi di memoria</a:t>
            </a:r>
          </a:p>
          <a:p>
            <a:r>
              <a:rPr lang="it-IT" dirty="0"/>
              <a:t>Caricamento del programma</a:t>
            </a:r>
          </a:p>
          <a:p>
            <a:r>
              <a:rPr lang="it-IT" dirty="0"/>
              <a:t>Indirizzi</a:t>
            </a:r>
          </a:p>
          <a:p>
            <a:r>
              <a:rPr lang="it-IT" dirty="0"/>
              <a:t>Rilocazione statica</a:t>
            </a:r>
          </a:p>
          <a:p>
            <a:r>
              <a:rPr lang="it-IT" dirty="0"/>
              <a:t>Rilocazione dinamica</a:t>
            </a:r>
          </a:p>
          <a:p>
            <a:r>
              <a:rPr lang="it-IT" dirty="0"/>
              <a:t>Binding e linking</a:t>
            </a:r>
          </a:p>
        </p:txBody>
      </p:sp>
    </p:spTree>
    <p:extLst>
      <p:ext uri="{BB962C8B-B14F-4D97-AF65-F5344CB8AC3E}">
        <p14:creationId xmlns:p14="http://schemas.microsoft.com/office/powerpoint/2010/main" val="4504485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CB47CC-C357-57D2-A836-7C1BC40E0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Memoria centrale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1B4B139-A03B-7F85-8E17-505F8EDD8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795" y="1259541"/>
            <a:ext cx="8946541" cy="5365376"/>
          </a:xfrm>
        </p:spPr>
        <p:txBody>
          <a:bodyPr>
            <a:normAutofit/>
          </a:bodyPr>
          <a:lstStyle/>
          <a:p>
            <a:r>
              <a:rPr lang="it-IT" dirty="0"/>
              <a:t>RAM</a:t>
            </a:r>
          </a:p>
          <a:p>
            <a:r>
              <a:rPr lang="it-IT" dirty="0"/>
              <a:t>Gigabyte</a:t>
            </a:r>
          </a:p>
          <a:p>
            <a:r>
              <a:rPr lang="it-IT" dirty="0"/>
              <a:t>Limitata</a:t>
            </a:r>
          </a:p>
          <a:p>
            <a:r>
              <a:rPr lang="it-IT" dirty="0"/>
              <a:t>SO:</a:t>
            </a:r>
          </a:p>
          <a:p>
            <a:pPr marL="0" indent="0">
              <a:buNone/>
            </a:pPr>
            <a:r>
              <a:rPr lang="it-IT" dirty="0"/>
              <a:t>         RAM infinita </a:t>
            </a:r>
            <a:r>
              <a:rPr lang="it-IT" dirty="0">
                <a:sym typeface="Wingdings" panose="05000000000000000000" pitchFamily="2" charset="2"/>
              </a:rPr>
              <a:t> </a:t>
            </a:r>
            <a:r>
              <a:rPr lang="it-IT" dirty="0"/>
              <a:t>HDD</a:t>
            </a:r>
          </a:p>
          <a:p>
            <a:r>
              <a:rPr lang="it-IT" dirty="0"/>
              <a:t>Memory manager</a:t>
            </a:r>
          </a:p>
          <a:p>
            <a:r>
              <a:rPr lang="it-IT" dirty="0"/>
              <a:t>Ampio vettore di parole di memoria</a:t>
            </a:r>
          </a:p>
          <a:p>
            <a:pPr marL="0" indent="0">
              <a:buNone/>
            </a:pPr>
            <a:r>
              <a:rPr lang="it-IT" dirty="0"/>
              <a:t>              ognuna ha un indirizzo</a:t>
            </a:r>
          </a:p>
          <a:p>
            <a:r>
              <a:rPr lang="it-IT" dirty="0"/>
              <a:t>CPU:</a:t>
            </a:r>
          </a:p>
          <a:p>
            <a:pPr marL="0" indent="0">
              <a:buNone/>
            </a:pPr>
            <a:r>
              <a:rPr lang="it-IT" dirty="0"/>
              <a:t>         preleva istruzioni e dati</a:t>
            </a:r>
          </a:p>
          <a:p>
            <a:pPr marL="0" indent="0">
              <a:buNone/>
            </a:pPr>
            <a:r>
              <a:rPr lang="it-IT" dirty="0"/>
              <a:t>         carica nei propri registri</a:t>
            </a:r>
          </a:p>
          <a:p>
            <a:pPr marL="0" indent="0">
              <a:buNone/>
            </a:pPr>
            <a:r>
              <a:rPr lang="it-IT" dirty="0"/>
              <a:t>         l’istruzione del </a:t>
            </a:r>
            <a:r>
              <a:rPr lang="it-IT" dirty="0" err="1"/>
              <a:t>program</a:t>
            </a:r>
            <a:r>
              <a:rPr lang="it-IT" dirty="0"/>
              <a:t> counter</a:t>
            </a:r>
          </a:p>
        </p:txBody>
      </p:sp>
    </p:spTree>
    <p:extLst>
      <p:ext uri="{BB962C8B-B14F-4D97-AF65-F5344CB8AC3E}">
        <p14:creationId xmlns:p14="http://schemas.microsoft.com/office/powerpoint/2010/main" val="34778886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5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6500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5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0"/>
                            </p:stCondLst>
                            <p:childTnLst>
                              <p:par>
                                <p:cTn id="5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9500"/>
                            </p:stCondLst>
                            <p:childTnLst>
                              <p:par>
                                <p:cTn id="6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500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1500"/>
                            </p:stCondLst>
                            <p:childTnLst>
                              <p:par>
                                <p:cTn id="7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828E74-257E-0B57-9346-137C0442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Tipi di memoria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C831DE-1E84-EF59-65D7-24282B82C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865" y="1331259"/>
            <a:ext cx="8946541" cy="4195481"/>
          </a:xfrm>
        </p:spPr>
        <p:txBody>
          <a:bodyPr/>
          <a:lstStyle/>
          <a:p>
            <a:r>
              <a:rPr lang="it-IT" dirty="0"/>
              <a:t>Classificati in base a:</a:t>
            </a:r>
          </a:p>
          <a:p>
            <a:pPr marL="0" indent="0">
              <a:buNone/>
            </a:pPr>
            <a:r>
              <a:rPr lang="it-IT" dirty="0"/>
              <a:t>                  velocità e capacità</a:t>
            </a:r>
          </a:p>
          <a:p>
            <a:r>
              <a:rPr lang="it-IT" dirty="0"/>
              <a:t>Nastro</a:t>
            </a:r>
          </a:p>
          <a:p>
            <a:r>
              <a:rPr lang="it-IT" dirty="0"/>
              <a:t>Disco</a:t>
            </a:r>
          </a:p>
          <a:p>
            <a:r>
              <a:rPr lang="it-IT" dirty="0"/>
              <a:t>Memoria principale</a:t>
            </a:r>
          </a:p>
          <a:p>
            <a:r>
              <a:rPr lang="it-IT" dirty="0"/>
              <a:t>Cache</a:t>
            </a:r>
          </a:p>
          <a:p>
            <a:r>
              <a:rPr lang="it-IT" dirty="0"/>
              <a:t>Registri</a:t>
            </a:r>
          </a:p>
        </p:txBody>
      </p:sp>
    </p:spTree>
    <p:extLst>
      <p:ext uri="{BB962C8B-B14F-4D97-AF65-F5344CB8AC3E}">
        <p14:creationId xmlns:p14="http://schemas.microsoft.com/office/powerpoint/2010/main" val="7671460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5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6500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D2B6AC-25A4-8970-5406-FC8742B3A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47" y="444665"/>
            <a:ext cx="9404723" cy="1400530"/>
          </a:xfrm>
        </p:spPr>
        <p:txBody>
          <a:bodyPr/>
          <a:lstStyle/>
          <a:p>
            <a:r>
              <a:rPr lang="it-IT" dirty="0"/>
              <a:t>Caricamento del programma</a:t>
            </a:r>
            <a:br>
              <a:rPr lang="it-IT" dirty="0"/>
            </a:br>
            <a:endParaRPr lang="it-IT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30F115DB-08B1-5BB9-66DB-D0C2DA42B478}"/>
              </a:ext>
            </a:extLst>
          </p:cNvPr>
          <p:cNvSpPr/>
          <p:nvPr/>
        </p:nvSpPr>
        <p:spPr>
          <a:xfrm>
            <a:off x="7389494" y="4471468"/>
            <a:ext cx="3730507" cy="106656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71C6049-F94E-5A8F-C99C-0397160E2EBB}"/>
              </a:ext>
            </a:extLst>
          </p:cNvPr>
          <p:cNvSpPr txBox="1"/>
          <p:nvPr/>
        </p:nvSpPr>
        <p:spPr>
          <a:xfrm>
            <a:off x="8368127" y="4471468"/>
            <a:ext cx="1773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Processi pronti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7D99F95-97C0-EAB3-C0B1-67379E3BD527}"/>
              </a:ext>
            </a:extLst>
          </p:cNvPr>
          <p:cNvSpPr txBox="1"/>
          <p:nvPr/>
        </p:nvSpPr>
        <p:spPr>
          <a:xfrm>
            <a:off x="4584048" y="3365897"/>
            <a:ext cx="1511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Programma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0C20C176-C25B-EE93-1051-CF15FB7FF57C}"/>
              </a:ext>
            </a:extLst>
          </p:cNvPr>
          <p:cNvSpPr/>
          <p:nvPr/>
        </p:nvSpPr>
        <p:spPr>
          <a:xfrm>
            <a:off x="3474770" y="2895715"/>
            <a:ext cx="3730507" cy="106656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50DCB29-2CBE-56B7-F2D5-4F1C255BE5AC}"/>
              </a:ext>
            </a:extLst>
          </p:cNvPr>
          <p:cNvSpPr txBox="1"/>
          <p:nvPr/>
        </p:nvSpPr>
        <p:spPr>
          <a:xfrm>
            <a:off x="4398772" y="2909433"/>
            <a:ext cx="2004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Coda di entrata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3282C287-1806-DC10-DC7F-5B6AFE0D0AEE}"/>
              </a:ext>
            </a:extLst>
          </p:cNvPr>
          <p:cNvSpPr txBox="1"/>
          <p:nvPr/>
        </p:nvSpPr>
        <p:spPr>
          <a:xfrm>
            <a:off x="3535556" y="2055741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Programmi in memoria centrale</a:t>
            </a:r>
          </a:p>
        </p:txBody>
      </p:sp>
    </p:spTree>
    <p:extLst>
      <p:ext uri="{BB962C8B-B14F-4D97-AF65-F5344CB8AC3E}">
        <p14:creationId xmlns:p14="http://schemas.microsoft.com/office/powerpoint/2010/main" val="34256248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1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50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500"/>
                            </p:stCondLst>
                            <p:childTnLst>
                              <p:par>
                                <p:cTn id="40" presetID="42" presetClass="path" presetSubtype="0" accel="50000" decel="50000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-0.00443 0.00093 L -0.00469 0.19514 " pathEditMode="relative" rAng="0" ptsTypes="AA">
                                      <p:cBhvr>
                                        <p:cTn id="41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9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500"/>
                            </p:stCondLst>
                            <p:childTnLst>
                              <p:par>
                                <p:cTn id="43" presetID="50" presetClass="path" presetSubtype="0" accel="50000" decel="50000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-1.25E-6 7.40741E-7 L 0.16042 7.40741E-7 C 0.23216 7.40741E-7 0.32083 0.06389 0.32083 0.11597 L 0.32083 0.23194 " pathEditMode="relative" rAng="0" ptsTypes="AAAA">
                                      <p:cBhvr>
                                        <p:cTn id="44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042" y="1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3" grpId="0" animBg="1"/>
      <p:bldP spid="14" grpId="0"/>
      <p:bldP spid="15" grpId="0"/>
      <p:bldP spid="15" grpId="1"/>
      <p:bldP spid="16" grpId="0" animBg="1"/>
      <p:bldP spid="17" grpId="0"/>
      <p:bldP spid="18" grpId="0"/>
      <p:bldP spid="18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842CAB-AE8E-7307-DB14-6CE7EE370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Indirizzi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E359A81-626B-DA27-FAB2-09C6F38B9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759" y="1331259"/>
            <a:ext cx="8946541" cy="4195481"/>
          </a:xfrm>
        </p:spPr>
        <p:txBody>
          <a:bodyPr/>
          <a:lstStyle/>
          <a:p>
            <a:r>
              <a:rPr lang="it-IT" dirty="0"/>
              <a:t>Generazione del file eseguibile</a:t>
            </a:r>
          </a:p>
          <a:p>
            <a:pPr marL="0" indent="0">
              <a:buNone/>
            </a:pPr>
            <a:r>
              <a:rPr lang="it-IT" dirty="0"/>
              <a:t>             compilatore e linker</a:t>
            </a:r>
          </a:p>
          <a:p>
            <a:pPr marL="0" indent="0">
              <a:buNone/>
            </a:pPr>
            <a:r>
              <a:rPr lang="it-IT" dirty="0"/>
              <a:t>                     collegamenti tra istruzioni e indirizzi</a:t>
            </a:r>
          </a:p>
          <a:p>
            <a:r>
              <a:rPr lang="it-IT" dirty="0">
                <a:sym typeface="Wingdings" panose="05000000000000000000" pitchFamily="2" charset="2"/>
              </a:rPr>
              <a:t>assegnazione incompleta  </a:t>
            </a:r>
            <a:r>
              <a:rPr lang="it-IT" dirty="0"/>
              <a:t>Indirizzi logici</a:t>
            </a:r>
          </a:p>
          <a:p>
            <a:r>
              <a:rPr lang="it-IT" dirty="0">
                <a:sym typeface="Wingdings" panose="05000000000000000000" pitchFamily="2" charset="2"/>
              </a:rPr>
              <a:t>Memory manager (</a:t>
            </a:r>
            <a:r>
              <a:rPr lang="it-IT" dirty="0" err="1">
                <a:sym typeface="Wingdings" panose="05000000000000000000" pitchFamily="2" charset="2"/>
              </a:rPr>
              <a:t>addres</a:t>
            </a:r>
            <a:r>
              <a:rPr lang="it-IT" dirty="0">
                <a:sym typeface="Wingdings" panose="05000000000000000000" pitchFamily="2" charset="2"/>
              </a:rPr>
              <a:t> </a:t>
            </a:r>
            <a:r>
              <a:rPr lang="it-IT" dirty="0" err="1">
                <a:sym typeface="Wingdings" panose="05000000000000000000" pitchFamily="2" charset="2"/>
              </a:rPr>
              <a:t>baiting</a:t>
            </a:r>
            <a:r>
              <a:rPr lang="it-IT" dirty="0">
                <a:sym typeface="Wingdings" panose="05000000000000000000" pitchFamily="2" charset="2"/>
              </a:rPr>
              <a:t>)</a:t>
            </a:r>
          </a:p>
          <a:p>
            <a:r>
              <a:rPr lang="it-IT" dirty="0">
                <a:sym typeface="Wingdings" panose="05000000000000000000" pitchFamily="2" charset="2"/>
              </a:rPr>
              <a:t>eseguiti  Indirizzi</a:t>
            </a:r>
            <a:r>
              <a:rPr lang="it-IT" dirty="0"/>
              <a:t> fisici</a:t>
            </a:r>
            <a:r>
              <a:rPr lang="it-IT" dirty="0">
                <a:sym typeface="Wingdings" panose="05000000000000000000" pitchFamily="2" charset="2"/>
              </a:rPr>
              <a:t>  in RAM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731977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5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B97388-EE99-CC73-813B-7D5A0A6C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Rilocazione statica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20BDB8AA-3C80-EC37-E96A-A8D2EF992BD2}"/>
              </a:ext>
            </a:extLst>
          </p:cNvPr>
          <p:cNvSpPr txBox="1"/>
          <p:nvPr/>
        </p:nvSpPr>
        <p:spPr>
          <a:xfrm>
            <a:off x="1577789" y="2160494"/>
            <a:ext cx="31290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0</a:t>
            </a:r>
          </a:p>
          <a:p>
            <a:endParaRPr lang="it-IT" dirty="0"/>
          </a:p>
          <a:p>
            <a:r>
              <a:rPr lang="it-IT" dirty="0"/>
              <a:t>1</a:t>
            </a:r>
          </a:p>
          <a:p>
            <a:endParaRPr lang="it-IT" dirty="0"/>
          </a:p>
          <a:p>
            <a:r>
              <a:rPr lang="it-IT" dirty="0"/>
              <a:t>2</a:t>
            </a:r>
          </a:p>
          <a:p>
            <a:endParaRPr lang="it-IT" dirty="0"/>
          </a:p>
          <a:p>
            <a:r>
              <a:rPr lang="it-IT" dirty="0"/>
              <a:t>3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AC7E3CC-EAFC-4100-2011-3A79088AFD63}"/>
              </a:ext>
            </a:extLst>
          </p:cNvPr>
          <p:cNvSpPr txBox="1"/>
          <p:nvPr/>
        </p:nvSpPr>
        <p:spPr>
          <a:xfrm>
            <a:off x="7047676" y="2160493"/>
            <a:ext cx="736099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#100</a:t>
            </a:r>
          </a:p>
          <a:p>
            <a:endParaRPr lang="it-IT" dirty="0"/>
          </a:p>
          <a:p>
            <a:r>
              <a:rPr lang="it-IT" dirty="0"/>
              <a:t>#101</a:t>
            </a:r>
          </a:p>
          <a:p>
            <a:endParaRPr lang="it-IT" dirty="0"/>
          </a:p>
          <a:p>
            <a:r>
              <a:rPr lang="it-IT" dirty="0"/>
              <a:t>#102</a:t>
            </a:r>
          </a:p>
          <a:p>
            <a:endParaRPr lang="it-IT" dirty="0"/>
          </a:p>
          <a:p>
            <a:r>
              <a:rPr lang="it-IT" dirty="0"/>
              <a:t>#103</a:t>
            </a:r>
          </a:p>
          <a:p>
            <a:endParaRPr lang="it-IT" dirty="0"/>
          </a:p>
          <a:p>
            <a:r>
              <a:rPr lang="it-IT" dirty="0"/>
              <a:t>#104</a:t>
            </a:r>
          </a:p>
          <a:p>
            <a:endParaRPr lang="it-IT" dirty="0"/>
          </a:p>
          <a:p>
            <a:r>
              <a:rPr lang="it-IT" dirty="0"/>
              <a:t>#105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92D8076-B5F1-0687-1697-9A421B77B2F1}"/>
              </a:ext>
            </a:extLst>
          </p:cNvPr>
          <p:cNvSpPr txBox="1"/>
          <p:nvPr/>
        </p:nvSpPr>
        <p:spPr>
          <a:xfrm>
            <a:off x="1479663" y="1607403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Indirizzi logici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E6E77B2-8870-C74D-B410-1AD712374903}"/>
              </a:ext>
            </a:extLst>
          </p:cNvPr>
          <p:cNvSpPr txBox="1"/>
          <p:nvPr/>
        </p:nvSpPr>
        <p:spPr>
          <a:xfrm>
            <a:off x="6006427" y="1607403"/>
            <a:ext cx="1811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Memoria fisica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524896-8A17-5D41-06D7-F0A51BF0F5A2}"/>
              </a:ext>
            </a:extLst>
          </p:cNvPr>
          <p:cNvSpPr txBox="1"/>
          <p:nvPr/>
        </p:nvSpPr>
        <p:spPr>
          <a:xfrm>
            <a:off x="2097741" y="2160493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a = 5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06DBA20-C690-263E-1E08-DA0D6435EA04}"/>
              </a:ext>
            </a:extLst>
          </p:cNvPr>
          <p:cNvSpPr txBox="1"/>
          <p:nvPr/>
        </p:nvSpPr>
        <p:spPr>
          <a:xfrm>
            <a:off x="2097741" y="2713583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b = 7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1E081FC-0B48-9372-1C82-24BF88FB9BF8}"/>
              </a:ext>
            </a:extLst>
          </p:cNvPr>
          <p:cNvSpPr txBox="1"/>
          <p:nvPr/>
        </p:nvSpPr>
        <p:spPr>
          <a:xfrm>
            <a:off x="2097741" y="3266673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somma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83C87DE-CF4B-A27C-0ACD-FE2CF944516A}"/>
              </a:ext>
            </a:extLst>
          </p:cNvPr>
          <p:cNvSpPr txBox="1"/>
          <p:nvPr/>
        </p:nvSpPr>
        <p:spPr>
          <a:xfrm>
            <a:off x="6281823" y="4377392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--------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268B2A1-C2CE-A480-6D50-6B5D43289F43}"/>
              </a:ext>
            </a:extLst>
          </p:cNvPr>
          <p:cNvSpPr txBox="1"/>
          <p:nvPr/>
        </p:nvSpPr>
        <p:spPr>
          <a:xfrm>
            <a:off x="6281823" y="491694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--------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F76E2D0-27DA-9596-32DA-7130DF284930}"/>
              </a:ext>
            </a:extLst>
          </p:cNvPr>
          <p:cNvSpPr txBox="1"/>
          <p:nvPr/>
        </p:nvSpPr>
        <p:spPr>
          <a:xfrm>
            <a:off x="2097741" y="3822486"/>
            <a:ext cx="926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highlight>
                  <a:srgbClr val="808080"/>
                </a:highlight>
              </a:rPr>
              <a:t>moltipl</a:t>
            </a:r>
            <a:endParaRPr lang="it-IT" dirty="0">
              <a:highlight>
                <a:srgbClr val="80808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334062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500"/>
                            </p:stCondLst>
                            <p:childTnLst>
                              <p:par>
                                <p:cTn id="50" presetID="42" presetClass="path" presetSubtype="0" accel="50000" decel="50000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-3.54167E-6 1.85185E-6 L 0.33972 0.00324 " pathEditMode="relative" rAng="0" ptsTypes="AA">
                                      <p:cBhvr>
                                        <p:cTn id="51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979" y="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9500"/>
                            </p:stCondLst>
                            <p:childTnLst>
                              <p:par>
                                <p:cTn id="53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-3.7037E-6 L 0.34258 -0.00439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122" y="-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1500"/>
                            </p:stCondLst>
                            <p:childTnLst>
                              <p:par>
                                <p:cTn id="56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7.40741E-7 L 0.32682 -0.00324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341" y="-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500"/>
                            </p:stCondLst>
                            <p:childTnLst>
                              <p:par>
                                <p:cTn id="59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7.40741E-7 L 0.33554 7.40741E-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7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5500"/>
                            </p:stCondLst>
                            <p:childTnLst>
                              <p:par>
                                <p:cTn id="6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600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7" grpId="0"/>
      <p:bldP spid="8" grpId="0"/>
      <p:bldP spid="8" grpId="1"/>
      <p:bldP spid="9" grpId="0"/>
      <p:bldP spid="9" grpId="1"/>
      <p:bldP spid="10" grpId="0"/>
      <p:bldP spid="10" grpId="1"/>
      <p:bldP spid="3" grpId="0"/>
      <p:bldP spid="12" grpId="0"/>
      <p:bldP spid="13" grpId="0"/>
      <p:bldP spid="13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FC41DC-2A9A-787E-8EAC-0FEAAAC4B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Rilocazione dinamica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B15691B-9900-EBF4-F97E-D78BC4785009}"/>
              </a:ext>
            </a:extLst>
          </p:cNvPr>
          <p:cNvSpPr txBox="1"/>
          <p:nvPr/>
        </p:nvSpPr>
        <p:spPr>
          <a:xfrm>
            <a:off x="1577789" y="2160494"/>
            <a:ext cx="31290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0</a:t>
            </a:r>
          </a:p>
          <a:p>
            <a:endParaRPr lang="it-IT" dirty="0"/>
          </a:p>
          <a:p>
            <a:r>
              <a:rPr lang="it-IT" dirty="0"/>
              <a:t>1</a:t>
            </a:r>
          </a:p>
          <a:p>
            <a:endParaRPr lang="it-IT" dirty="0"/>
          </a:p>
          <a:p>
            <a:r>
              <a:rPr lang="it-IT" dirty="0"/>
              <a:t>2</a:t>
            </a:r>
          </a:p>
          <a:p>
            <a:endParaRPr lang="it-IT" dirty="0"/>
          </a:p>
          <a:p>
            <a:r>
              <a:rPr lang="it-IT" dirty="0"/>
              <a:t>3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94D1766-39D2-EF5D-A794-727969141322}"/>
              </a:ext>
            </a:extLst>
          </p:cNvPr>
          <p:cNvSpPr txBox="1"/>
          <p:nvPr/>
        </p:nvSpPr>
        <p:spPr>
          <a:xfrm>
            <a:off x="7118968" y="2154454"/>
            <a:ext cx="73609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#234</a:t>
            </a:r>
          </a:p>
          <a:p>
            <a:endParaRPr lang="it-IT" dirty="0"/>
          </a:p>
          <a:p>
            <a:r>
              <a:rPr lang="it-IT" dirty="0"/>
              <a:t>#235</a:t>
            </a:r>
          </a:p>
          <a:p>
            <a:endParaRPr lang="it-IT" dirty="0"/>
          </a:p>
          <a:p>
            <a:r>
              <a:rPr lang="it-IT" dirty="0"/>
              <a:t>#236</a:t>
            </a:r>
          </a:p>
          <a:p>
            <a:endParaRPr lang="it-IT" dirty="0"/>
          </a:p>
          <a:p>
            <a:r>
              <a:rPr lang="it-IT" dirty="0"/>
              <a:t>#237</a:t>
            </a:r>
          </a:p>
          <a:p>
            <a:endParaRPr lang="it-IT" dirty="0"/>
          </a:p>
          <a:p>
            <a:r>
              <a:rPr lang="it-IT" dirty="0"/>
              <a:t>#238</a:t>
            </a:r>
          </a:p>
          <a:p>
            <a:endParaRPr lang="it-IT" dirty="0"/>
          </a:p>
          <a:p>
            <a:r>
              <a:rPr lang="it-IT" dirty="0"/>
              <a:t>#239</a:t>
            </a:r>
          </a:p>
          <a:p>
            <a:endParaRPr lang="it-IT" dirty="0"/>
          </a:p>
          <a:p>
            <a:r>
              <a:rPr lang="it-IT" dirty="0"/>
              <a:t>#240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E0151E-06B1-2C35-E0F3-FF167EA06A4A}"/>
              </a:ext>
            </a:extLst>
          </p:cNvPr>
          <p:cNvSpPr txBox="1"/>
          <p:nvPr/>
        </p:nvSpPr>
        <p:spPr>
          <a:xfrm>
            <a:off x="1479663" y="1607403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Indirizzi logici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F6D1639-5A32-8275-695E-7FC494A895D2}"/>
              </a:ext>
            </a:extLst>
          </p:cNvPr>
          <p:cNvSpPr txBox="1"/>
          <p:nvPr/>
        </p:nvSpPr>
        <p:spPr>
          <a:xfrm>
            <a:off x="6006427" y="1668582"/>
            <a:ext cx="1811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Memoria fisica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8213E5C-D730-9AE2-9692-02894B204FD0}"/>
              </a:ext>
            </a:extLst>
          </p:cNvPr>
          <p:cNvSpPr txBox="1"/>
          <p:nvPr/>
        </p:nvSpPr>
        <p:spPr>
          <a:xfrm>
            <a:off x="2097741" y="2160493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a = 5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E466909-ED44-3379-1760-10972CE6AACE}"/>
              </a:ext>
            </a:extLst>
          </p:cNvPr>
          <p:cNvSpPr txBox="1"/>
          <p:nvPr/>
        </p:nvSpPr>
        <p:spPr>
          <a:xfrm>
            <a:off x="2097741" y="2668269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b = 7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FC032EC-08A0-3CBC-2945-0E4ED2F4CC1F}"/>
              </a:ext>
            </a:extLst>
          </p:cNvPr>
          <p:cNvSpPr txBox="1"/>
          <p:nvPr/>
        </p:nvSpPr>
        <p:spPr>
          <a:xfrm>
            <a:off x="2097741" y="3266673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somma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FF54DFE-648B-0B7D-B618-FF5B5A1DF0D9}"/>
              </a:ext>
            </a:extLst>
          </p:cNvPr>
          <p:cNvSpPr txBox="1"/>
          <p:nvPr/>
        </p:nvSpPr>
        <p:spPr>
          <a:xfrm>
            <a:off x="2097741" y="3822486"/>
            <a:ext cx="926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highlight>
                  <a:srgbClr val="808080"/>
                </a:highlight>
              </a:rPr>
              <a:t>moltipl</a:t>
            </a:r>
            <a:endParaRPr lang="it-IT" dirty="0">
              <a:highlight>
                <a:srgbClr val="808080"/>
              </a:highlight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9909D43-BD37-51EE-0F50-54A70D401888}"/>
              </a:ext>
            </a:extLst>
          </p:cNvPr>
          <p:cNvSpPr txBox="1"/>
          <p:nvPr/>
        </p:nvSpPr>
        <p:spPr>
          <a:xfrm>
            <a:off x="6318749" y="4906275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--------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2DAF36B-D6E0-CD6A-954F-85BF1C84CD76}"/>
              </a:ext>
            </a:extLst>
          </p:cNvPr>
          <p:cNvSpPr txBox="1"/>
          <p:nvPr/>
        </p:nvSpPr>
        <p:spPr>
          <a:xfrm>
            <a:off x="6318749" y="5478441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--------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E008708-4E08-47AE-4243-6C2721A303EA}"/>
              </a:ext>
            </a:extLst>
          </p:cNvPr>
          <p:cNvSpPr txBox="1"/>
          <p:nvPr/>
        </p:nvSpPr>
        <p:spPr>
          <a:xfrm>
            <a:off x="6318749" y="2154454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808080"/>
                </a:highlight>
              </a:rPr>
              <a:t>--------</a:t>
            </a:r>
          </a:p>
        </p:txBody>
      </p:sp>
      <p:sp>
        <p:nvSpPr>
          <p:cNvPr id="15" name="Parentesi quadra chiusa 14">
            <a:extLst>
              <a:ext uri="{FF2B5EF4-FFF2-40B4-BE49-F238E27FC236}">
                <a16:creationId xmlns:a16="http://schemas.microsoft.com/office/drawing/2014/main" id="{F17D5421-4992-6FE1-CD94-C7A9FD44861E}"/>
              </a:ext>
            </a:extLst>
          </p:cNvPr>
          <p:cNvSpPr/>
          <p:nvPr/>
        </p:nvSpPr>
        <p:spPr>
          <a:xfrm>
            <a:off x="8052411" y="2733727"/>
            <a:ext cx="233082" cy="1989221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Parentesi quadra chiusa 15">
            <a:extLst>
              <a:ext uri="{FF2B5EF4-FFF2-40B4-BE49-F238E27FC236}">
                <a16:creationId xmlns:a16="http://schemas.microsoft.com/office/drawing/2014/main" id="{A0C38B5C-9A98-F552-463D-DC0682947594}"/>
              </a:ext>
            </a:extLst>
          </p:cNvPr>
          <p:cNvSpPr/>
          <p:nvPr/>
        </p:nvSpPr>
        <p:spPr>
          <a:xfrm>
            <a:off x="7717070" y="2699780"/>
            <a:ext cx="233082" cy="369332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Parentesi quadra chiusa 16">
            <a:extLst>
              <a:ext uri="{FF2B5EF4-FFF2-40B4-BE49-F238E27FC236}">
                <a16:creationId xmlns:a16="http://schemas.microsoft.com/office/drawing/2014/main" id="{1DF2BC7F-21DE-9825-1A47-D3E370D891CC}"/>
              </a:ext>
            </a:extLst>
          </p:cNvPr>
          <p:cNvSpPr/>
          <p:nvPr/>
        </p:nvSpPr>
        <p:spPr>
          <a:xfrm>
            <a:off x="7701600" y="4353616"/>
            <a:ext cx="233082" cy="369332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C5C4AE9E-4EA4-0E34-9255-5E1DEAAF6E6E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7950152" y="2884446"/>
            <a:ext cx="12989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8E201B6-EAF3-F530-CCB5-F905878CD766}"/>
              </a:ext>
            </a:extLst>
          </p:cNvPr>
          <p:cNvCxnSpPr>
            <a:cxnSpLocks/>
            <a:stCxn id="17" idx="2"/>
          </p:cNvCxnSpPr>
          <p:nvPr/>
        </p:nvCxnSpPr>
        <p:spPr>
          <a:xfrm flipV="1">
            <a:off x="7934682" y="4538281"/>
            <a:ext cx="1275448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FFA721BB-36AB-F9FF-7414-6C01C2CFCC49}"/>
              </a:ext>
            </a:extLst>
          </p:cNvPr>
          <p:cNvCxnSpPr>
            <a:cxnSpLocks/>
            <a:stCxn id="15" idx="2"/>
          </p:cNvCxnSpPr>
          <p:nvPr/>
        </p:nvCxnSpPr>
        <p:spPr>
          <a:xfrm flipV="1">
            <a:off x="8285493" y="3728337"/>
            <a:ext cx="985221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2EB3B490-4DAF-CF96-0633-D10614DF14F3}"/>
              </a:ext>
            </a:extLst>
          </p:cNvPr>
          <p:cNvSpPr txBox="1"/>
          <p:nvPr/>
        </p:nvSpPr>
        <p:spPr>
          <a:xfrm>
            <a:off x="9298839" y="2699780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Registro base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4130731-B685-50A8-74F7-AEFBE3830C10}"/>
              </a:ext>
            </a:extLst>
          </p:cNvPr>
          <p:cNvSpPr txBox="1"/>
          <p:nvPr/>
        </p:nvSpPr>
        <p:spPr>
          <a:xfrm>
            <a:off x="9249117" y="3405171"/>
            <a:ext cx="21771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1° gruppo di celle</a:t>
            </a:r>
          </a:p>
          <a:p>
            <a:pPr algn="ctr"/>
            <a:r>
              <a:rPr lang="it-IT" dirty="0"/>
              <a:t>disponibili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322BA377-6C0F-D3D0-E0D2-4B5A63773A75}"/>
              </a:ext>
            </a:extLst>
          </p:cNvPr>
          <p:cNvSpPr txBox="1"/>
          <p:nvPr/>
        </p:nvSpPr>
        <p:spPr>
          <a:xfrm>
            <a:off x="9298839" y="4331549"/>
            <a:ext cx="171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Registro limite</a:t>
            </a:r>
          </a:p>
        </p:txBody>
      </p:sp>
      <p:sp>
        <p:nvSpPr>
          <p:cNvPr id="30" name="Parentesi quadra chiusa 29">
            <a:extLst>
              <a:ext uri="{FF2B5EF4-FFF2-40B4-BE49-F238E27FC236}">
                <a16:creationId xmlns:a16="http://schemas.microsoft.com/office/drawing/2014/main" id="{535D0BFF-B7F0-5C5D-76C1-AD4FC5CD8009}"/>
              </a:ext>
            </a:extLst>
          </p:cNvPr>
          <p:cNvSpPr/>
          <p:nvPr/>
        </p:nvSpPr>
        <p:spPr>
          <a:xfrm rot="5400000">
            <a:off x="1609430" y="4058555"/>
            <a:ext cx="233082" cy="31290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1" name="Connettore diritto 30">
            <a:extLst>
              <a:ext uri="{FF2B5EF4-FFF2-40B4-BE49-F238E27FC236}">
                <a16:creationId xmlns:a16="http://schemas.microsoft.com/office/drawing/2014/main" id="{CB4D18E5-A568-657B-F6AB-F4CB0B15AFA3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1725971" y="4331549"/>
            <a:ext cx="0" cy="391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E3B06CA7-BBEA-6C47-61B1-7409C6502F32}"/>
              </a:ext>
            </a:extLst>
          </p:cNvPr>
          <p:cNvSpPr txBox="1"/>
          <p:nvPr/>
        </p:nvSpPr>
        <p:spPr>
          <a:xfrm>
            <a:off x="1188804" y="4741277"/>
            <a:ext cx="1074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Max </a:t>
            </a:r>
            <a:r>
              <a:rPr lang="it-IT" dirty="0" err="1"/>
              <a:t>ind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085753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500"/>
                            </p:stCondLst>
                            <p:childTnLst>
                              <p:par>
                                <p:cTn id="5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0"/>
                            </p:stCondLst>
                            <p:childTnLst>
                              <p:par>
                                <p:cTn id="5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500"/>
                            </p:stCondLst>
                            <p:childTnLst>
                              <p:par>
                                <p:cTn id="6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000"/>
                            </p:stCondLst>
                            <p:childTnLst>
                              <p:par>
                                <p:cTn id="6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0"/>
                            </p:stCondLst>
                            <p:childTnLst>
                              <p:par>
                                <p:cTn id="7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7000"/>
                            </p:stCondLst>
                            <p:childTnLst>
                              <p:par>
                                <p:cTn id="7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7500"/>
                            </p:stCondLst>
                            <p:childTnLst>
                              <p:par>
                                <p:cTn id="80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1.85185E-6 L 0.34701 0.07616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344" y="379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9500"/>
                            </p:stCondLst>
                            <p:childTnLst>
                              <p:par>
                                <p:cTn id="83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7.40741E-7 L 0.34531 0.07431 " pathEditMode="relative" rAng="0" ptsTypes="AA">
                                      <p:cBhvr>
                                        <p:cTn id="84" dur="2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66" y="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1500"/>
                            </p:stCondLst>
                            <p:childTnLst>
                              <p:par>
                                <p:cTn id="86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7.40741E-7 L 0.33268 0.07593 " pathEditMode="relative" rAng="0" ptsTypes="AA">
                                      <p:cBhvr>
                                        <p:cTn id="87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628" y="379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3500"/>
                            </p:stCondLst>
                            <p:childTnLst>
                              <p:par>
                                <p:cTn id="89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7.40741E-7 L 0.33997 0.07199 " pathEditMode="relative" rAng="0" ptsTypes="AA">
                                      <p:cBhvr>
                                        <p:cTn id="9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992" y="358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5500"/>
                            </p:stCondLst>
                            <p:childTnLst>
                              <p:par>
                                <p:cTn id="9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6000"/>
                            </p:stCondLst>
                            <p:childTnLst>
                              <p:par>
                                <p:cTn id="9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6500"/>
                            </p:stCondLst>
                            <p:childTnLst>
                              <p:par>
                                <p:cTn id="10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7000"/>
                            </p:stCondLst>
                            <p:childTnLst>
                              <p:par>
                                <p:cTn id="10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7500"/>
                            </p:stCondLst>
                            <p:childTnLst>
                              <p:par>
                                <p:cTn id="11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8000"/>
                            </p:stCondLst>
                            <p:childTnLst>
                              <p:par>
                                <p:cTn id="1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8500"/>
                            </p:stCondLst>
                            <p:childTnLst>
                              <p:par>
                                <p:cTn id="12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9000"/>
                            </p:stCondLst>
                            <p:childTnLst>
                              <p:par>
                                <p:cTn id="1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9500"/>
                            </p:stCondLst>
                            <p:childTnLst>
                              <p:par>
                                <p:cTn id="13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7" grpId="0"/>
      <p:bldP spid="8" grpId="0"/>
      <p:bldP spid="8" grpId="1"/>
      <p:bldP spid="9" grpId="0" build="allAtOnce"/>
      <p:bldP spid="10" grpId="0"/>
      <p:bldP spid="10" grpId="1"/>
      <p:bldP spid="11" grpId="0"/>
      <p:bldP spid="11" grpId="1"/>
      <p:bldP spid="12" grpId="0"/>
      <p:bldP spid="13" grpId="0"/>
      <p:bldP spid="14" grpId="0"/>
      <p:bldP spid="15" grpId="0" animBg="1"/>
      <p:bldP spid="16" grpId="0" animBg="1"/>
      <p:bldP spid="17" grpId="0" animBg="1"/>
      <p:bldP spid="27" grpId="0"/>
      <p:bldP spid="28" grpId="0"/>
      <p:bldP spid="29" grpId="0"/>
      <p:bldP spid="3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2EA728-0E44-BF18-9FFF-E077B4B3A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Binding e linking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2EC7437-4956-38CC-08D3-E9C0D6714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724" y="1152983"/>
            <a:ext cx="8946541" cy="4195481"/>
          </a:xfrm>
        </p:spPr>
        <p:txBody>
          <a:bodyPr/>
          <a:lstStyle/>
          <a:p>
            <a:r>
              <a:rPr lang="it-IT" dirty="0"/>
              <a:t>Linking</a:t>
            </a:r>
          </a:p>
          <a:p>
            <a:pPr marL="0" indent="0">
              <a:buNone/>
            </a:pPr>
            <a:r>
              <a:rPr lang="it-IT" dirty="0"/>
              <a:t>     Calcolo degli indirizzi logici</a:t>
            </a:r>
          </a:p>
          <a:p>
            <a:r>
              <a:rPr lang="it-IT" dirty="0"/>
              <a:t>Binding</a:t>
            </a:r>
          </a:p>
          <a:p>
            <a:pPr marL="0" indent="0">
              <a:buNone/>
            </a:pPr>
            <a:r>
              <a:rPr lang="it-IT" dirty="0"/>
              <a:t>     Indirizzo logico </a:t>
            </a:r>
            <a:r>
              <a:rPr lang="it-IT" dirty="0">
                <a:sym typeface="Wingdings" panose="05000000000000000000" pitchFamily="2" charset="2"/>
              </a:rPr>
              <a:t> fisico:</a:t>
            </a:r>
          </a:p>
          <a:p>
            <a:pPr marL="0" indent="0">
              <a:buNone/>
            </a:pPr>
            <a:r>
              <a:rPr lang="it-IT" dirty="0">
                <a:sym typeface="Wingdings" panose="05000000000000000000" pitchFamily="2" charset="2"/>
              </a:rPr>
              <a:t>          compile time</a:t>
            </a:r>
          </a:p>
          <a:p>
            <a:pPr marL="0" indent="0">
              <a:buNone/>
            </a:pPr>
            <a:r>
              <a:rPr lang="it-IT" dirty="0">
                <a:sym typeface="Wingdings" panose="05000000000000000000" pitchFamily="2" charset="2"/>
              </a:rPr>
              <a:t>          load time</a:t>
            </a:r>
          </a:p>
          <a:p>
            <a:pPr marL="0" indent="0">
              <a:buNone/>
            </a:pPr>
            <a:r>
              <a:rPr lang="it-IT" dirty="0">
                <a:sym typeface="Wingdings" panose="05000000000000000000" pitchFamily="2" charset="2"/>
              </a:rPr>
              <a:t>          </a:t>
            </a:r>
            <a:r>
              <a:rPr lang="it-IT" dirty="0" err="1">
                <a:sym typeface="Wingdings" panose="05000000000000000000" pitchFamily="2" charset="2"/>
              </a:rPr>
              <a:t>execution</a:t>
            </a:r>
            <a:r>
              <a:rPr lang="it-IT" dirty="0">
                <a:sym typeface="Wingdings" panose="05000000000000000000" pitchFamily="2" charset="2"/>
              </a:rPr>
              <a:t> time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614441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5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6500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8C2C1E-906C-C6D6-94AC-B79A77EAC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5573" y="3045759"/>
            <a:ext cx="6220853" cy="766482"/>
          </a:xfrm>
        </p:spPr>
        <p:txBody>
          <a:bodyPr/>
          <a:lstStyle/>
          <a:p>
            <a:r>
              <a:rPr lang="it-IT" dirty="0"/>
              <a:t>Grazie per l’attenzione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1437985-5371-E1D7-EAB7-99CBEDAEB231}"/>
              </a:ext>
            </a:extLst>
          </p:cNvPr>
          <p:cNvSpPr txBox="1"/>
          <p:nvPr/>
        </p:nvSpPr>
        <p:spPr>
          <a:xfrm>
            <a:off x="451128" y="6180275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Pietro Antonio Caruso 3I</a:t>
            </a:r>
          </a:p>
        </p:txBody>
      </p:sp>
    </p:spTree>
    <p:extLst>
      <p:ext uri="{BB962C8B-B14F-4D97-AF65-F5344CB8AC3E}">
        <p14:creationId xmlns:p14="http://schemas.microsoft.com/office/powerpoint/2010/main" val="42584973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150</TotalTime>
  <Words>246</Words>
  <Application>Microsoft Office PowerPoint</Application>
  <PresentationFormat>Widescreen</PresentationFormat>
  <Paragraphs>116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5" baseType="lpstr">
      <vt:lpstr>Calibri</vt:lpstr>
      <vt:lpstr>Century Gothic</vt:lpstr>
      <vt:lpstr>Wingdings</vt:lpstr>
      <vt:lpstr>Wingdings 3</vt:lpstr>
      <vt:lpstr>Ione</vt:lpstr>
      <vt:lpstr>La gestione della memoria</vt:lpstr>
      <vt:lpstr>Sommario</vt:lpstr>
      <vt:lpstr>Memoria centrale </vt:lpstr>
      <vt:lpstr>Tipi di memoria</vt:lpstr>
      <vt:lpstr>Caricamento del programma </vt:lpstr>
      <vt:lpstr>Indirizzi</vt:lpstr>
      <vt:lpstr>Rilocazione statica</vt:lpstr>
      <vt:lpstr>Rilocazione dinamica</vt:lpstr>
      <vt:lpstr>Binding e linking 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Maria Fortunato</dc:creator>
  <cp:lastModifiedBy>Anna Maria Fortunato</cp:lastModifiedBy>
  <cp:revision>3</cp:revision>
  <dcterms:created xsi:type="dcterms:W3CDTF">2026-02-15T11:45:55Z</dcterms:created>
  <dcterms:modified xsi:type="dcterms:W3CDTF">2026-02-15T16:17:27Z</dcterms:modified>
</cp:coreProperties>
</file>